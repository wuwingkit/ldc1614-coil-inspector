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7" r:id="rId5"/>
    <p:sldId id="281" r:id="rId6"/>
    <p:sldId id="259" r:id="rId7"/>
    <p:sldId id="283" r:id="rId8"/>
    <p:sldId id="268" r:id="rId9"/>
    <p:sldId id="271" r:id="rId10"/>
    <p:sldId id="286" r:id="rId11"/>
    <p:sldId id="269" r:id="rId12"/>
    <p:sldId id="288" r:id="rId13"/>
    <p:sldId id="285" r:id="rId14"/>
    <p:sldId id="287" r:id="rId15"/>
    <p:sldId id="289" r:id="rId16"/>
    <p:sldId id="278" r:id="rId17"/>
    <p:sldId id="290" r:id="rId18"/>
    <p:sldId id="291" r:id="rId19"/>
    <p:sldId id="292" r:id="rId20"/>
    <p:sldId id="294" r:id="rId21"/>
    <p:sldId id="293" r:id="rId22"/>
    <p:sldId id="295" r:id="rId23"/>
    <p:sldId id="296" r:id="rId24"/>
    <p:sldId id="297" r:id="rId25"/>
    <p:sldId id="270" r:id="rId26"/>
    <p:sldId id="277" r:id="rId27"/>
    <p:sldId id="274" r:id="rId28"/>
    <p:sldId id="276" r:id="rId29"/>
    <p:sldId id="282" r:id="rId30"/>
  </p:sldIdLst>
  <p:sldSz cx="12192000" cy="6858000"/>
  <p:notesSz cx="6858000" cy="9144000"/>
  <p:embeddedFontLst>
    <p:embeddedFont>
      <p:font typeface="幼圆" panose="02010509060101010101" charset="-122"/>
      <p:regular r:id="rId34"/>
    </p:embeddedFont>
    <p:embeddedFont>
      <p:font typeface="方正风雅宋简体" panose="02000000000000000000" pitchFamily="2" charset="-122"/>
      <p:regular r:id="rId35"/>
    </p:embeddedFont>
    <p:embeddedFont>
      <p:font typeface="汉仪粗圆简" panose="02010600000101010101" charset="-122"/>
      <p:regular r:id="rId36"/>
    </p:embeddedFont>
    <p:embeddedFont>
      <p:font typeface="华康俪圆 W8" panose="020F0809000000000000" charset="-122"/>
      <p:regular r:id="rId37"/>
    </p:embeddedFont>
    <p:embeddedFont>
      <p:font typeface="胡晓波男神体" panose="02010600030101010101" pitchFamily="2" charset="-122"/>
      <p:regular r:id="rId38"/>
    </p:embeddedFont>
    <p:embeddedFont>
      <p:font typeface="汉仪中圆繁" panose="02010600000101010101" charset="-122"/>
      <p:regular r:id="rId39"/>
    </p:embeddedFont>
    <p:embeddedFont>
      <p:font typeface="汉仪细中圆简" panose="02010600000101010101" charset="-122"/>
      <p:regular r:id="rId40"/>
    </p:embeddedFont>
    <p:embeddedFont>
      <p:font typeface="汉仪中圆简" panose="02010600000101010101" pitchFamily="49" charset="-122"/>
      <p:regular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Calibri Light" panose="020F0302020204030204" charset="0"/>
      <p:regular r:id="rId46"/>
      <p:italic r:id="rId47"/>
    </p:embeddedFont>
    <p:embeddedFont>
      <p:font typeface="MiSans Light" panose="00000400000000000000" charset="-122"/>
      <p:regular r:id="rId48"/>
    </p:embeddedFont>
    <p:embeddedFont>
      <p:font typeface="MiSans Bold" panose="00000800000000000000" charset="-122"/>
      <p:bold r:id="rId49"/>
    </p:embeddedFont>
    <p:embeddedFont>
      <p:font typeface="MiSans Normal" panose="00000500000000000000" charset="-122"/>
      <p:regular r:id="rId50"/>
    </p:embeddedFont>
    <p:embeddedFont>
      <p:font typeface="MiSans Medium" panose="00000600000000000000" charset="-122"/>
      <p:regular r:id="rId51"/>
    </p:embeddedFont>
    <p:embeddedFont>
      <p:font typeface="MiSans Heavy" panose="00000A00000000000000" charset="-122"/>
      <p:bold r:id="rId52"/>
    </p:embeddedFont>
  </p:embeddedFontLst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0E7"/>
    <a:srgbClr val="F8B3C3"/>
    <a:srgbClr val="95748D"/>
    <a:srgbClr val="BEAAB9"/>
    <a:srgbClr val="FCDBCC"/>
    <a:srgbClr val="F7B5C5"/>
    <a:srgbClr val="FBDBD5"/>
    <a:srgbClr val="FDEBE3"/>
    <a:srgbClr val="FDE1D8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8AE76E4-31B6-46FE-83F5-BC15EFD9A9B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F8B3C3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F8B3C3">
              <a:lumMod val="40000"/>
              <a:lumOff val="60000"/>
              <a:alpha val="25000"/>
            </a:srgb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8B3C3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8B3C3"/>
          </a:solidFill>
        </a:fill>
      </a:tcStyle>
    </a:firstCol>
    <a:lastRow>
      <a:tcTxStyle b="on">
        <a:fontRef idx="none">
          <a:srgbClr val="F8B3C3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8B3C3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 w="9525" cmpd="sng">
              <a:solidFill>
                <a:srgbClr val="F8B3C3"/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8B3C3"/>
          </a:solidFill>
        </a:fill>
      </a:tcStyle>
    </a:firstRow>
    <a:nwCell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F8B3C3"/>
              </a:solidFill>
              <a:prstDash val="solid"/>
            </a:ln>
          </a:left>
          <a:right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8B3C3"/>
              </a:solidFill>
              <a:prstDash val="solid"/>
            </a:ln>
          </a:top>
          <a:bottom>
            <a:ln w="9525" cmpd="sng">
              <a:solidFill>
                <a:srgbClr val="F8B3C3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8B3C3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14" y="66"/>
      </p:cViewPr>
      <p:guideLst>
        <p:guide orient="horz" pos="2131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306.xml"/><Relationship Id="rId52" Type="http://schemas.openxmlformats.org/officeDocument/2006/relationships/font" Target="fonts/font19.fntdata"/><Relationship Id="rId51" Type="http://schemas.openxmlformats.org/officeDocument/2006/relationships/font" Target="fonts/font18.fntdata"/><Relationship Id="rId50" Type="http://schemas.openxmlformats.org/officeDocument/2006/relationships/font" Target="fonts/font17.fntdata"/><Relationship Id="rId5" Type="http://schemas.openxmlformats.org/officeDocument/2006/relationships/slide" Target="slides/slide3.xml"/><Relationship Id="rId49" Type="http://schemas.openxmlformats.org/officeDocument/2006/relationships/font" Target="fonts/font16.fntdata"/><Relationship Id="rId48" Type="http://schemas.openxmlformats.org/officeDocument/2006/relationships/font" Target="fonts/font15.fntdata"/><Relationship Id="rId47" Type="http://schemas.openxmlformats.org/officeDocument/2006/relationships/font" Target="fonts/font14.fntdata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slide" Target="slides/slide2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295B8-D8A4-4994-A386-F426AA747B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FA9E5-0EC0-45FC-B34E-882FEAAE44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.png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microsoft.com/office/2007/relationships/hdphoto" Target="../media/image6.wdp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.png"/><Relationship Id="rId25" Type="http://schemas.openxmlformats.org/officeDocument/2006/relationships/image" Target="../media/image7.jpeg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image" Target="../media/image5.png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2.png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6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image" Target="../media/image9.png"/><Relationship Id="rId14" Type="http://schemas.openxmlformats.org/officeDocument/2006/relationships/image" Target="../media/image8.jpeg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9" Type="http://schemas.openxmlformats.org/officeDocument/2006/relationships/image" Target="../media/image2.png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3" Type="http://schemas.openxmlformats.org/officeDocument/2006/relationships/slideLayout" Target="../slideLayouts/slideLayout2.xml"/><Relationship Id="rId42" Type="http://schemas.openxmlformats.org/officeDocument/2006/relationships/image" Target="../media/image2.png"/><Relationship Id="rId41" Type="http://schemas.openxmlformats.org/officeDocument/2006/relationships/image" Target="../media/image14.png"/><Relationship Id="rId40" Type="http://schemas.openxmlformats.org/officeDocument/2006/relationships/image" Target="../media/image13.png"/><Relationship Id="rId4" Type="http://schemas.openxmlformats.org/officeDocument/2006/relationships/tags" Target="../tags/tag112.xml"/><Relationship Id="rId39" Type="http://schemas.openxmlformats.org/officeDocument/2006/relationships/image" Target="../media/image12.png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1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image" Target="../media/image17.png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7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3" Type="http://schemas.openxmlformats.org/officeDocument/2006/relationships/slideLayout" Target="../slideLayouts/slideLayout2.xml"/><Relationship Id="rId52" Type="http://schemas.openxmlformats.org/officeDocument/2006/relationships/image" Target="../media/image23.png"/><Relationship Id="rId51" Type="http://schemas.openxmlformats.org/officeDocument/2006/relationships/image" Target="../media/image22.png"/><Relationship Id="rId50" Type="http://schemas.openxmlformats.org/officeDocument/2006/relationships/image" Target="../media/image21.png"/><Relationship Id="rId5" Type="http://schemas.openxmlformats.org/officeDocument/2006/relationships/tags" Target="../tags/tag170.xml"/><Relationship Id="rId49" Type="http://schemas.openxmlformats.org/officeDocument/2006/relationships/image" Target="../media/image20.png"/><Relationship Id="rId48" Type="http://schemas.openxmlformats.org/officeDocument/2006/relationships/image" Target="../media/image19.png"/><Relationship Id="rId47" Type="http://schemas.openxmlformats.org/officeDocument/2006/relationships/image" Target="../media/image2.png"/><Relationship Id="rId46" Type="http://schemas.openxmlformats.org/officeDocument/2006/relationships/tags" Target="../tags/tag211.xml"/><Relationship Id="rId45" Type="http://schemas.openxmlformats.org/officeDocument/2006/relationships/tags" Target="../tags/tag210.xml"/><Relationship Id="rId44" Type="http://schemas.openxmlformats.org/officeDocument/2006/relationships/tags" Target="../tags/tag209.xml"/><Relationship Id="rId43" Type="http://schemas.openxmlformats.org/officeDocument/2006/relationships/tags" Target="../tags/tag208.xml"/><Relationship Id="rId42" Type="http://schemas.openxmlformats.org/officeDocument/2006/relationships/tags" Target="../tags/tag207.xml"/><Relationship Id="rId41" Type="http://schemas.openxmlformats.org/officeDocument/2006/relationships/tags" Target="../tags/tag206.xml"/><Relationship Id="rId40" Type="http://schemas.openxmlformats.org/officeDocument/2006/relationships/tags" Target="../tags/tag205.xml"/><Relationship Id="rId4" Type="http://schemas.openxmlformats.org/officeDocument/2006/relationships/tags" Target="../tags/tag169.xml"/><Relationship Id="rId39" Type="http://schemas.openxmlformats.org/officeDocument/2006/relationships/tags" Target="../tags/tag204.xml"/><Relationship Id="rId38" Type="http://schemas.openxmlformats.org/officeDocument/2006/relationships/tags" Target="../tags/tag203.xml"/><Relationship Id="rId37" Type="http://schemas.openxmlformats.org/officeDocument/2006/relationships/tags" Target="../tags/tag202.xml"/><Relationship Id="rId36" Type="http://schemas.openxmlformats.org/officeDocument/2006/relationships/tags" Target="../tags/tag201.xml"/><Relationship Id="rId35" Type="http://schemas.openxmlformats.org/officeDocument/2006/relationships/tags" Target="../tags/tag200.xml"/><Relationship Id="rId34" Type="http://schemas.openxmlformats.org/officeDocument/2006/relationships/tags" Target="../tags/tag199.xml"/><Relationship Id="rId33" Type="http://schemas.openxmlformats.org/officeDocument/2006/relationships/tags" Target="../tags/tag198.xml"/><Relationship Id="rId32" Type="http://schemas.openxmlformats.org/officeDocument/2006/relationships/tags" Target="../tags/tag197.xml"/><Relationship Id="rId31" Type="http://schemas.openxmlformats.org/officeDocument/2006/relationships/tags" Target="../tags/tag196.xml"/><Relationship Id="rId30" Type="http://schemas.openxmlformats.org/officeDocument/2006/relationships/tags" Target="../tags/tag195.xml"/><Relationship Id="rId3" Type="http://schemas.openxmlformats.org/officeDocument/2006/relationships/tags" Target="../tags/tag168.xml"/><Relationship Id="rId29" Type="http://schemas.openxmlformats.org/officeDocument/2006/relationships/tags" Target="../tags/tag194.xml"/><Relationship Id="rId28" Type="http://schemas.openxmlformats.org/officeDocument/2006/relationships/tags" Target="../tags/tag193.xml"/><Relationship Id="rId27" Type="http://schemas.openxmlformats.org/officeDocument/2006/relationships/tags" Target="../tags/tag192.xml"/><Relationship Id="rId26" Type="http://schemas.openxmlformats.org/officeDocument/2006/relationships/tags" Target="../tags/tag191.xml"/><Relationship Id="rId25" Type="http://schemas.openxmlformats.org/officeDocument/2006/relationships/tags" Target="../tags/tag190.xml"/><Relationship Id="rId24" Type="http://schemas.openxmlformats.org/officeDocument/2006/relationships/tags" Target="../tags/tag189.xml"/><Relationship Id="rId23" Type="http://schemas.openxmlformats.org/officeDocument/2006/relationships/tags" Target="../tags/tag188.xml"/><Relationship Id="rId22" Type="http://schemas.openxmlformats.org/officeDocument/2006/relationships/tags" Target="../tags/tag187.xml"/><Relationship Id="rId21" Type="http://schemas.openxmlformats.org/officeDocument/2006/relationships/tags" Target="../tags/tag186.xml"/><Relationship Id="rId20" Type="http://schemas.openxmlformats.org/officeDocument/2006/relationships/tags" Target="../tags/tag185.xml"/><Relationship Id="rId2" Type="http://schemas.openxmlformats.org/officeDocument/2006/relationships/tags" Target="../tags/tag167.xml"/><Relationship Id="rId19" Type="http://schemas.openxmlformats.org/officeDocument/2006/relationships/tags" Target="../tags/tag184.xml"/><Relationship Id="rId18" Type="http://schemas.openxmlformats.org/officeDocument/2006/relationships/tags" Target="../tags/tag183.xml"/><Relationship Id="rId17" Type="http://schemas.openxmlformats.org/officeDocument/2006/relationships/tags" Target="../tags/tag182.xml"/><Relationship Id="rId16" Type="http://schemas.openxmlformats.org/officeDocument/2006/relationships/tags" Target="../tags/tag181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png"/><Relationship Id="rId11" Type="http://schemas.openxmlformats.org/officeDocument/2006/relationships/image" Target="../media/image24.png"/><Relationship Id="rId10" Type="http://schemas.openxmlformats.org/officeDocument/2006/relationships/tags" Target="../tags/tag220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11" Type="http://schemas.openxmlformats.org/officeDocument/2006/relationships/image" Target="../media/image2.png"/><Relationship Id="rId10" Type="http://schemas.openxmlformats.org/officeDocument/2006/relationships/tags" Target="../tags/tag229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2.png"/><Relationship Id="rId2" Type="http://schemas.openxmlformats.org/officeDocument/2006/relationships/image" Target="../media/image2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image" Target="../media/image3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2.png"/><Relationship Id="rId21" Type="http://schemas.openxmlformats.org/officeDocument/2006/relationships/image" Target="../media/image36.jpeg"/><Relationship Id="rId20" Type="http://schemas.openxmlformats.org/officeDocument/2006/relationships/tags" Target="../tags/tag277.xml"/><Relationship Id="rId2" Type="http://schemas.openxmlformats.org/officeDocument/2006/relationships/tags" Target="../tags/tag259.xml"/><Relationship Id="rId19" Type="http://schemas.openxmlformats.org/officeDocument/2006/relationships/tags" Target="../tags/tag276.xml"/><Relationship Id="rId18" Type="http://schemas.openxmlformats.org/officeDocument/2006/relationships/tags" Target="../tags/tag275.xml"/><Relationship Id="rId17" Type="http://schemas.openxmlformats.org/officeDocument/2006/relationships/tags" Target="../tags/tag274.xml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image" Target="../media/image37.jpeg"/><Relationship Id="rId16" Type="http://schemas.openxmlformats.org/officeDocument/2006/relationships/tags" Target="../tags/tag292.xml"/><Relationship Id="rId15" Type="http://schemas.openxmlformats.org/officeDocument/2006/relationships/tags" Target="../tags/tag291.xml"/><Relationship Id="rId14" Type="http://schemas.openxmlformats.org/officeDocument/2006/relationships/tags" Target="../tags/tag290.xml"/><Relationship Id="rId13" Type="http://schemas.openxmlformats.org/officeDocument/2006/relationships/tags" Target="../tags/tag289.xml"/><Relationship Id="rId12" Type="http://schemas.openxmlformats.org/officeDocument/2006/relationships/tags" Target="../tags/tag288.xml"/><Relationship Id="rId11" Type="http://schemas.openxmlformats.org/officeDocument/2006/relationships/tags" Target="../tags/tag287.xml"/><Relationship Id="rId10" Type="http://schemas.openxmlformats.org/officeDocument/2006/relationships/tags" Target="../tags/tag286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14.png"/><Relationship Id="rId6" Type="http://schemas.openxmlformats.org/officeDocument/2006/relationships/tags" Target="../tags/tag294.xml"/><Relationship Id="rId5" Type="http://schemas.openxmlformats.org/officeDocument/2006/relationships/image" Target="../media/image13.png"/><Relationship Id="rId4" Type="http://schemas.openxmlformats.org/officeDocument/2006/relationships/tags" Target="../tags/tag293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305.xml"/><Relationship Id="rId3" Type="http://schemas.openxmlformats.org/officeDocument/2006/relationships/image" Target="../media/image17.png"/><Relationship Id="rId29" Type="http://schemas.openxmlformats.org/officeDocument/2006/relationships/image" Target="../media/image46.png"/><Relationship Id="rId28" Type="http://schemas.openxmlformats.org/officeDocument/2006/relationships/tags" Target="../tags/tag304.xml"/><Relationship Id="rId27" Type="http://schemas.openxmlformats.org/officeDocument/2006/relationships/image" Target="../media/image45.png"/><Relationship Id="rId26" Type="http://schemas.openxmlformats.org/officeDocument/2006/relationships/image" Target="../media/image2.png"/><Relationship Id="rId25" Type="http://schemas.openxmlformats.org/officeDocument/2006/relationships/tags" Target="../tags/tag303.xml"/><Relationship Id="rId24" Type="http://schemas.openxmlformats.org/officeDocument/2006/relationships/image" Target="../media/image34.png"/><Relationship Id="rId23" Type="http://schemas.openxmlformats.org/officeDocument/2006/relationships/tags" Target="../tags/tag302.xml"/><Relationship Id="rId22" Type="http://schemas.openxmlformats.org/officeDocument/2006/relationships/image" Target="../media/image44.png"/><Relationship Id="rId21" Type="http://schemas.openxmlformats.org/officeDocument/2006/relationships/tags" Target="../tags/tag301.xml"/><Relationship Id="rId20" Type="http://schemas.openxmlformats.org/officeDocument/2006/relationships/image" Target="../media/image26.png"/><Relationship Id="rId2" Type="http://schemas.openxmlformats.org/officeDocument/2006/relationships/image" Target="../media/image3.png"/><Relationship Id="rId19" Type="http://schemas.openxmlformats.org/officeDocument/2006/relationships/tags" Target="../tags/tag300.xml"/><Relationship Id="rId18" Type="http://schemas.openxmlformats.org/officeDocument/2006/relationships/image" Target="../media/image43.png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image" Target="../media/image42.png"/><Relationship Id="rId14" Type="http://schemas.openxmlformats.org/officeDocument/2006/relationships/tags" Target="../tags/tag297.xml"/><Relationship Id="rId13" Type="http://schemas.openxmlformats.org/officeDocument/2006/relationships/image" Target="../media/image41.png"/><Relationship Id="rId12" Type="http://schemas.openxmlformats.org/officeDocument/2006/relationships/tags" Target="../tags/tag296.xml"/><Relationship Id="rId11" Type="http://schemas.openxmlformats.org/officeDocument/2006/relationships/image" Target="../media/image40.png"/><Relationship Id="rId10" Type="http://schemas.openxmlformats.org/officeDocument/2006/relationships/tags" Target="../tags/tag295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39257" y="1259090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951140" y="1430471"/>
            <a:ext cx="453923" cy="241167"/>
            <a:chOff x="-14468885" y="-125990"/>
            <a:chExt cx="924334" cy="468890"/>
          </a:xfrm>
        </p:grpSpPr>
        <p:sp>
          <p:nvSpPr>
            <p:cNvPr id="14" name="燕尾形 13"/>
            <p:cNvSpPr/>
            <p:nvPr/>
          </p:nvSpPr>
          <p:spPr>
            <a:xfrm>
              <a:off x="-14468885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-14187898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-13906911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267296" y="1486919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技术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路线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71335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改进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方向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23" name="直接连接符 22"/>
          <p:cNvCxnSpPr>
            <a:stCxn id="21" idx="1"/>
            <a:endCxn id="21" idx="1"/>
          </p:cNvCxnSpPr>
          <p:nvPr/>
        </p:nvCxnSpPr>
        <p:spPr>
          <a:xfrm>
            <a:off x="9071335" y="162027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173906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496207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设计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目标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8373806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735064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项目背景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7612663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405380" y="3767455"/>
            <a:ext cx="7200900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Intelligent detection device based on inductance for detecting the conformity of workpieces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SUMMARY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5" t="87722" r="19900" b="8454"/>
          <a:stretch>
            <a:fillRect/>
          </a:stretch>
        </p:blipFill>
        <p:spPr>
          <a:xfrm>
            <a:off x="6551035" y="4458063"/>
            <a:ext cx="1023528" cy="285750"/>
          </a:xfrm>
          <a:custGeom>
            <a:avLst/>
            <a:gdLst>
              <a:gd name="connsiteX0" fmla="*/ 119063 w 1023528"/>
              <a:gd name="connsiteY0" fmla="*/ 0 h 285750"/>
              <a:gd name="connsiteX1" fmla="*/ 904465 w 1023528"/>
              <a:gd name="connsiteY1" fmla="*/ 0 h 285750"/>
              <a:gd name="connsiteX2" fmla="*/ 1023528 w 1023528"/>
              <a:gd name="connsiteY2" fmla="*/ 119063 h 285750"/>
              <a:gd name="connsiteX3" fmla="*/ 1023528 w 1023528"/>
              <a:gd name="connsiteY3" fmla="*/ 166687 h 285750"/>
              <a:gd name="connsiteX4" fmla="*/ 904465 w 1023528"/>
              <a:gd name="connsiteY4" fmla="*/ 285750 h 285750"/>
              <a:gd name="connsiteX5" fmla="*/ 119063 w 1023528"/>
              <a:gd name="connsiteY5" fmla="*/ 285750 h 285750"/>
              <a:gd name="connsiteX6" fmla="*/ 0 w 1023528"/>
              <a:gd name="connsiteY6" fmla="*/ 166687 h 285750"/>
              <a:gd name="connsiteX7" fmla="*/ 0 w 1023528"/>
              <a:gd name="connsiteY7" fmla="*/ 119063 h 285750"/>
              <a:gd name="connsiteX8" fmla="*/ 119063 w 1023528"/>
              <a:gd name="connsiteY8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528" h="285750">
                <a:moveTo>
                  <a:pt x="119063" y="0"/>
                </a:moveTo>
                <a:lnTo>
                  <a:pt x="904465" y="0"/>
                </a:lnTo>
                <a:cubicBezTo>
                  <a:pt x="970222" y="0"/>
                  <a:pt x="1023528" y="53306"/>
                  <a:pt x="1023528" y="119063"/>
                </a:cubicBezTo>
                <a:lnTo>
                  <a:pt x="1023528" y="166687"/>
                </a:lnTo>
                <a:cubicBezTo>
                  <a:pt x="1023528" y="232444"/>
                  <a:pt x="970222" y="285750"/>
                  <a:pt x="904465" y="285750"/>
                </a:cubicBezTo>
                <a:lnTo>
                  <a:pt x="119063" y="285750"/>
                </a:lnTo>
                <a:cubicBezTo>
                  <a:pt x="53306" y="285750"/>
                  <a:pt x="0" y="232444"/>
                  <a:pt x="0" y="166687"/>
                </a:cubicBez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7" name="文本框 46"/>
          <p:cNvSpPr txBox="1"/>
          <p:nvPr/>
        </p:nvSpPr>
        <p:spPr>
          <a:xfrm>
            <a:off x="6551035" y="4480058"/>
            <a:ext cx="98598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2025.12</a:t>
            </a:r>
            <a:endParaRPr lang="en-US" altLang="zh-CN" sz="105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5" t="87722" r="19900" b="8454"/>
          <a:stretch>
            <a:fillRect/>
          </a:stretch>
        </p:blipFill>
        <p:spPr>
          <a:xfrm>
            <a:off x="4678035" y="4458063"/>
            <a:ext cx="1023528" cy="285750"/>
          </a:xfrm>
          <a:custGeom>
            <a:avLst/>
            <a:gdLst>
              <a:gd name="connsiteX0" fmla="*/ 119063 w 1023528"/>
              <a:gd name="connsiteY0" fmla="*/ 0 h 285750"/>
              <a:gd name="connsiteX1" fmla="*/ 904465 w 1023528"/>
              <a:gd name="connsiteY1" fmla="*/ 0 h 285750"/>
              <a:gd name="connsiteX2" fmla="*/ 1023528 w 1023528"/>
              <a:gd name="connsiteY2" fmla="*/ 119063 h 285750"/>
              <a:gd name="connsiteX3" fmla="*/ 1023528 w 1023528"/>
              <a:gd name="connsiteY3" fmla="*/ 166687 h 285750"/>
              <a:gd name="connsiteX4" fmla="*/ 904465 w 1023528"/>
              <a:gd name="connsiteY4" fmla="*/ 285750 h 285750"/>
              <a:gd name="connsiteX5" fmla="*/ 119063 w 1023528"/>
              <a:gd name="connsiteY5" fmla="*/ 285750 h 285750"/>
              <a:gd name="connsiteX6" fmla="*/ 0 w 1023528"/>
              <a:gd name="connsiteY6" fmla="*/ 166687 h 285750"/>
              <a:gd name="connsiteX7" fmla="*/ 0 w 1023528"/>
              <a:gd name="connsiteY7" fmla="*/ 119063 h 285750"/>
              <a:gd name="connsiteX8" fmla="*/ 119063 w 1023528"/>
              <a:gd name="connsiteY8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528" h="285750">
                <a:moveTo>
                  <a:pt x="119063" y="0"/>
                </a:moveTo>
                <a:lnTo>
                  <a:pt x="904465" y="0"/>
                </a:lnTo>
                <a:cubicBezTo>
                  <a:pt x="970222" y="0"/>
                  <a:pt x="1023528" y="53306"/>
                  <a:pt x="1023528" y="119063"/>
                </a:cubicBezTo>
                <a:lnTo>
                  <a:pt x="1023528" y="166687"/>
                </a:lnTo>
                <a:cubicBezTo>
                  <a:pt x="1023528" y="232444"/>
                  <a:pt x="970222" y="285750"/>
                  <a:pt x="904465" y="285750"/>
                </a:cubicBezTo>
                <a:lnTo>
                  <a:pt x="119063" y="285750"/>
                </a:lnTo>
                <a:cubicBezTo>
                  <a:pt x="53306" y="285750"/>
                  <a:pt x="0" y="232444"/>
                  <a:pt x="0" y="166687"/>
                </a:cubicBez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9" name="文本框 48"/>
          <p:cNvSpPr txBox="1"/>
          <p:nvPr/>
        </p:nvSpPr>
        <p:spPr>
          <a:xfrm>
            <a:off x="4715500" y="4488948"/>
            <a:ext cx="9859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汇报组：第三组</a:t>
            </a:r>
            <a:endParaRPr lang="zh-CN" altLang="en-US" sz="8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39265" y="2613025"/>
            <a:ext cx="8770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solidFill>
                  <a:srgbClr val="95748D"/>
                </a:solidFill>
                <a:latin typeface="汉仪粗圆简" panose="02010600000101010101" charset="-122"/>
                <a:ea typeface="汉仪粗圆简" panose="02010600000101010101" charset="-122"/>
              </a:rPr>
              <a:t>基于电感检测工件合格性智能检测</a:t>
            </a:r>
            <a:r>
              <a:rPr lang="zh-CN" altLang="en-US" sz="3600" dirty="0">
                <a:solidFill>
                  <a:srgbClr val="95748D"/>
                </a:solidFill>
                <a:latin typeface="汉仪粗圆简" panose="02010600000101010101" charset="-122"/>
                <a:ea typeface="汉仪粗圆简" panose="02010600000101010101" charset="-122"/>
              </a:rPr>
              <a:t>装置</a:t>
            </a:r>
            <a:endParaRPr lang="zh-CN" altLang="en-US" sz="3600" dirty="0">
              <a:solidFill>
                <a:srgbClr val="95748D"/>
              </a:solidFill>
              <a:latin typeface="汉仪粗圆简" panose="02010600000101010101" charset="-122"/>
              <a:ea typeface="汉仪粗圆简" panose="0201060000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10690" y="2573020"/>
            <a:ext cx="8771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solidFill>
                  <a:srgbClr val="FBD5DE"/>
                </a:solidFill>
                <a:latin typeface="汉仪粗圆简" panose="02010600000101010101" charset="-122"/>
                <a:ea typeface="汉仪粗圆简" panose="02010600000101010101" charset="-122"/>
              </a:rPr>
              <a:t>基于电感检测工件合格性智能检测</a:t>
            </a:r>
            <a:r>
              <a:rPr lang="zh-CN" altLang="en-US" sz="3600" dirty="0">
                <a:solidFill>
                  <a:srgbClr val="FBD5DE"/>
                </a:solidFill>
                <a:latin typeface="汉仪粗圆简" panose="02010600000101010101" charset="-122"/>
                <a:ea typeface="汉仪粗圆简" panose="02010600000101010101" charset="-122"/>
              </a:rPr>
              <a:t>装置</a:t>
            </a:r>
            <a:endParaRPr lang="zh-CN" altLang="en-US" sz="3600" dirty="0">
              <a:solidFill>
                <a:srgbClr val="FBD5DE"/>
              </a:solidFill>
              <a:latin typeface="汉仪粗圆简" panose="02010600000101010101" charset="-122"/>
              <a:ea typeface="汉仪粗圆简" panose="0201060000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600502" y="101001"/>
            <a:ext cx="368490" cy="1822984"/>
            <a:chOff x="-600502" y="-87685"/>
            <a:chExt cx="368490" cy="1822984"/>
          </a:xfrm>
        </p:grpSpPr>
        <p:sp>
          <p:nvSpPr>
            <p:cNvPr id="51" name="椭圆 50"/>
            <p:cNvSpPr/>
            <p:nvPr/>
          </p:nvSpPr>
          <p:spPr>
            <a:xfrm>
              <a:off x="-600502" y="409432"/>
              <a:ext cx="368490" cy="368490"/>
            </a:xfrm>
            <a:prstGeom prst="ellipse">
              <a:avLst/>
            </a:prstGeom>
            <a:solidFill>
              <a:srgbClr val="F8B3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-600502" y="-87685"/>
              <a:ext cx="368490" cy="36849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-600502" y="906549"/>
              <a:ext cx="368490" cy="368490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-600502" y="1366809"/>
              <a:ext cx="368490" cy="368490"/>
            </a:xfrm>
            <a:prstGeom prst="ellipse">
              <a:avLst/>
            </a:prstGeom>
            <a:solidFill>
              <a:srgbClr val="FCE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676529" y="3341856"/>
            <a:ext cx="68586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</a:rPr>
              <a:t>电子电路原理课程项目结题汇报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</a:rPr>
              <a:t>答辩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汉仪粗圆简" panose="02010600000101010101" charset="-122"/>
              <a:ea typeface="汉仪粗圆简" panose="02010600000101010101" charset="-122"/>
            </a:endParaRPr>
          </a:p>
        </p:txBody>
      </p: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5620" y="5102860"/>
            <a:ext cx="359791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95748D"/>
                </a:solidFill>
                <a:latin typeface="华康俪圆 W8" panose="020F0809000000000000" charset="-122"/>
                <a:ea typeface="华康俪圆 W8" panose="020F0809000000000000" charset="-122"/>
              </a:rPr>
              <a:t>小组成员：胡荣杰、唐丽莎、张润涵、石周鹭、</a:t>
            </a:r>
            <a:r>
              <a:rPr lang="zh-CN" altLang="en-US" sz="1100" dirty="0">
                <a:solidFill>
                  <a:srgbClr val="95748D"/>
                </a:solidFill>
                <a:latin typeface="华康俪圆 W8" panose="020F0809000000000000" charset="-122"/>
                <a:ea typeface="华康俪圆 W8" panose="020F0809000000000000" charset="-122"/>
              </a:rPr>
              <a:t>董佳慧</a:t>
            </a:r>
            <a:endParaRPr lang="zh-CN" altLang="en-US" sz="1100" dirty="0">
              <a:solidFill>
                <a:srgbClr val="95748D"/>
              </a:solidFill>
              <a:latin typeface="华康俪圆 W8" panose="020F0809000000000000" charset="-122"/>
              <a:ea typeface="华康俪圆 W8" panose="020F0809000000000000" charset="-122"/>
            </a:endParaRPr>
          </a:p>
        </p:txBody>
      </p:sp>
      <p:pic>
        <p:nvPicPr>
          <p:cNvPr id="8" name="图片 7" descr="44cec8502351bcaf4f2dd7ad7646044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3767455"/>
            <a:ext cx="3816350" cy="3036570"/>
          </a:xfrm>
          <a:prstGeom prst="rect">
            <a:avLst/>
          </a:prstGeom>
          <a:effectLst>
            <a:outerShdw blurRad="50800" dist="520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-107950" y="3581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807716" y="794904"/>
            <a:ext cx="10576568" cy="5339195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44327" y="3194115"/>
            <a:ext cx="683914" cy="473869"/>
            <a:chOff x="465759" y="3317080"/>
            <a:chExt cx="683914" cy="473869"/>
          </a:xfrm>
        </p:grpSpPr>
        <p:sp>
          <p:nvSpPr>
            <p:cNvPr id="2" name="矩形 1"/>
            <p:cNvSpPr/>
            <p:nvPr/>
          </p:nvSpPr>
          <p:spPr>
            <a:xfrm>
              <a:off x="465759" y="3317080"/>
              <a:ext cx="683914" cy="473869"/>
            </a:xfrm>
            <a:prstGeom prst="rect">
              <a:avLst/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17640" y="3401448"/>
              <a:ext cx="177948" cy="305131"/>
            </a:xfrm>
            <a:prstGeom prst="chevron">
              <a:avLst>
                <a:gd name="adj" fmla="val 48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807716" y="3401448"/>
              <a:ext cx="177948" cy="305131"/>
            </a:xfrm>
            <a:prstGeom prst="chevron">
              <a:avLst>
                <a:gd name="adj" fmla="val 48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 flipH="1">
            <a:off x="11074731" y="3194115"/>
            <a:ext cx="683914" cy="473869"/>
            <a:chOff x="465759" y="3317080"/>
            <a:chExt cx="683914" cy="473869"/>
          </a:xfrm>
        </p:grpSpPr>
        <p:sp>
          <p:nvSpPr>
            <p:cNvPr id="21" name="矩形 20"/>
            <p:cNvSpPr/>
            <p:nvPr/>
          </p:nvSpPr>
          <p:spPr>
            <a:xfrm>
              <a:off x="465759" y="3317080"/>
              <a:ext cx="683914" cy="473869"/>
            </a:xfrm>
            <a:prstGeom prst="rect">
              <a:avLst/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燕尾形 21"/>
            <p:cNvSpPr/>
            <p:nvPr/>
          </p:nvSpPr>
          <p:spPr>
            <a:xfrm>
              <a:off x="617640" y="3401448"/>
              <a:ext cx="177948" cy="305131"/>
            </a:xfrm>
            <a:prstGeom prst="chevron">
              <a:avLst>
                <a:gd name="adj" fmla="val 48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燕尾形 22"/>
            <p:cNvSpPr/>
            <p:nvPr/>
          </p:nvSpPr>
          <p:spPr>
            <a:xfrm>
              <a:off x="807716" y="3401448"/>
              <a:ext cx="177948" cy="305131"/>
            </a:xfrm>
            <a:prstGeom prst="chevron">
              <a:avLst>
                <a:gd name="adj" fmla="val 48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842796" y="1414555"/>
            <a:ext cx="25445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95748D"/>
                </a:solidFill>
              </a:rPr>
              <a:t>Contents</a:t>
            </a:r>
            <a:endParaRPr lang="zh-CN" altLang="en-US" sz="4400" dirty="0">
              <a:solidFill>
                <a:srgbClr val="95748D"/>
              </a:solidFill>
            </a:endParaRPr>
          </a:p>
        </p:txBody>
      </p:sp>
      <p:grpSp>
        <p:nvGrpSpPr>
          <p:cNvPr id="50" name="组合 49"/>
          <p:cNvGrpSpPr/>
          <p:nvPr>
            <p:custDataLst>
              <p:tags r:id="rId2"/>
            </p:custDataLst>
          </p:nvPr>
        </p:nvGrpSpPr>
        <p:grpSpPr>
          <a:xfrm>
            <a:off x="2517664" y="2615793"/>
            <a:ext cx="1100804" cy="2892377"/>
            <a:chOff x="2517664" y="2615793"/>
            <a:chExt cx="1100804" cy="2892377"/>
          </a:xfrm>
        </p:grpSpPr>
        <p:sp>
          <p:nvSpPr>
            <p:cNvPr id="29" name="矩形 28"/>
            <p:cNvSpPr/>
            <p:nvPr>
              <p:custDataLst>
                <p:tags r:id="rId3"/>
              </p:custDataLst>
            </p:nvPr>
          </p:nvSpPr>
          <p:spPr>
            <a:xfrm>
              <a:off x="3133725" y="3736014"/>
              <a:ext cx="198660" cy="1772156"/>
            </a:xfrm>
            <a:prstGeom prst="rect">
              <a:avLst/>
            </a:prstGeom>
            <a:solidFill>
              <a:srgbClr val="FEE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>
              <p:custDataLst>
                <p:tags r:id="rId4"/>
              </p:custDataLst>
            </p:nvPr>
          </p:nvSpPr>
          <p:spPr>
            <a:xfrm>
              <a:off x="2842167" y="3581399"/>
              <a:ext cx="490220" cy="192677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项目</a:t>
              </a: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背景</a:t>
              </a:r>
              <a:endParaRPr lang="zh-CN" altLang="en-US" sz="2000" b="1" dirty="0">
                <a:solidFill>
                  <a:schemeClr val="bg2">
                    <a:lumMod val="50000"/>
                  </a:schemeClr>
                </a:solidFill>
                <a:latin typeface="幼圆" panose="02010509060101010101" charset="-122"/>
                <a:ea typeface="幼圆" panose="02010509060101010101" charset="-122"/>
                <a:sym typeface="+mn-ea"/>
              </a:endParaRPr>
            </a:p>
          </p:txBody>
        </p:sp>
        <p:sp>
          <p:nvSpPr>
            <p:cNvPr id="47" name="椭圆 46"/>
            <p:cNvSpPr/>
            <p:nvPr>
              <p:custDataLst>
                <p:tags r:id="rId5"/>
              </p:custDataLst>
            </p:nvPr>
          </p:nvSpPr>
          <p:spPr>
            <a:xfrm>
              <a:off x="2761752" y="2689002"/>
              <a:ext cx="815090" cy="815090"/>
            </a:xfrm>
            <a:prstGeom prst="ellipse">
              <a:avLst/>
            </a:prstGeom>
            <a:solidFill>
              <a:srgbClr val="FDED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2517664" y="2615793"/>
              <a:ext cx="1100804" cy="815090"/>
              <a:chOff x="2517664" y="2615793"/>
              <a:chExt cx="1100804" cy="815090"/>
            </a:xfrm>
          </p:grpSpPr>
          <p:sp>
            <p:nvSpPr>
              <p:cNvPr id="4" name="椭圆 3"/>
              <p:cNvSpPr/>
              <p:nvPr>
                <p:custDataLst>
                  <p:tags r:id="rId6"/>
                </p:custDataLst>
              </p:nvPr>
            </p:nvSpPr>
            <p:spPr>
              <a:xfrm>
                <a:off x="2664099" y="2615793"/>
                <a:ext cx="815090" cy="815090"/>
              </a:xfrm>
              <a:prstGeom prst="ellipse">
                <a:avLst/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517664" y="2680492"/>
                <a:ext cx="11008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</a:rPr>
                  <a:t>01</a:t>
                </a:r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9" name="椭圆 48"/>
          <p:cNvSpPr/>
          <p:nvPr>
            <p:custDataLst>
              <p:tags r:id="rId8"/>
            </p:custDataLst>
          </p:nvPr>
        </p:nvSpPr>
        <p:spPr>
          <a:xfrm>
            <a:off x="4803021" y="2680492"/>
            <a:ext cx="815090" cy="815090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>
            <p:custDataLst>
              <p:tags r:id="rId9"/>
            </p:custDataLst>
          </p:nvPr>
        </p:nvGrpSpPr>
        <p:grpSpPr>
          <a:xfrm>
            <a:off x="4520994" y="2615793"/>
            <a:ext cx="1100804" cy="2892377"/>
            <a:chOff x="4520994" y="2615793"/>
            <a:chExt cx="1100804" cy="2892377"/>
          </a:xfrm>
        </p:grpSpPr>
        <p:sp>
          <p:nvSpPr>
            <p:cNvPr id="33" name="椭圆 32"/>
            <p:cNvSpPr/>
            <p:nvPr>
              <p:custDataLst>
                <p:tags r:id="rId10"/>
              </p:custDataLst>
            </p:nvPr>
          </p:nvSpPr>
          <p:spPr>
            <a:xfrm>
              <a:off x="4667429" y="2615793"/>
              <a:ext cx="815090" cy="815090"/>
            </a:xfrm>
            <a:prstGeom prst="ellipse">
              <a:avLst/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5137055" y="3736014"/>
              <a:ext cx="198660" cy="1772156"/>
            </a:xfrm>
            <a:prstGeom prst="rect">
              <a:avLst/>
            </a:prstGeom>
            <a:solidFill>
              <a:srgbClr val="FEE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4845514" y="3581399"/>
              <a:ext cx="490220" cy="192677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</a:rPr>
                <a:t>需求与设计目标</a:t>
              </a:r>
              <a:endParaRPr lang="zh-CN" altLang="en-US" sz="2000" b="1" dirty="0">
                <a:solidFill>
                  <a:schemeClr val="bg2">
                    <a:lumMod val="50000"/>
                  </a:schemeClr>
                </a:solidFill>
                <a:latin typeface="幼圆" panose="02010509060101010101" charset="-122"/>
                <a:ea typeface="幼圆" panose="02010509060101010101" charset="-122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4520994" y="2680492"/>
              <a:ext cx="1100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</a:rPr>
                <a:t>02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4" name="椭圆 53"/>
          <p:cNvSpPr/>
          <p:nvPr>
            <p:custDataLst>
              <p:tags r:id="rId14"/>
            </p:custDataLst>
          </p:nvPr>
        </p:nvSpPr>
        <p:spPr>
          <a:xfrm>
            <a:off x="6758179" y="2694701"/>
            <a:ext cx="815090" cy="815090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15"/>
            </p:custDataLst>
          </p:nvPr>
        </p:nvSpPr>
        <p:spPr>
          <a:xfrm>
            <a:off x="8743729" y="2693387"/>
            <a:ext cx="815090" cy="815090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>
            <p:custDataLst>
              <p:tags r:id="rId16"/>
            </p:custDataLst>
          </p:nvPr>
        </p:nvGrpSpPr>
        <p:grpSpPr>
          <a:xfrm>
            <a:off x="6524324" y="2615793"/>
            <a:ext cx="1100804" cy="2892377"/>
            <a:chOff x="6524324" y="2615793"/>
            <a:chExt cx="1100804" cy="2892377"/>
          </a:xfrm>
        </p:grpSpPr>
        <p:sp>
          <p:nvSpPr>
            <p:cNvPr id="38" name="椭圆 37"/>
            <p:cNvSpPr/>
            <p:nvPr>
              <p:custDataLst>
                <p:tags r:id="rId17"/>
              </p:custDataLst>
            </p:nvPr>
          </p:nvSpPr>
          <p:spPr>
            <a:xfrm>
              <a:off x="6670759" y="2615793"/>
              <a:ext cx="815090" cy="815090"/>
            </a:xfrm>
            <a:prstGeom prst="ellipse">
              <a:avLst/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18"/>
              </p:custDataLst>
            </p:nvPr>
          </p:nvSpPr>
          <p:spPr>
            <a:xfrm>
              <a:off x="7140385" y="3736014"/>
              <a:ext cx="198660" cy="1772156"/>
            </a:xfrm>
            <a:prstGeom prst="rect">
              <a:avLst/>
            </a:prstGeom>
            <a:solidFill>
              <a:srgbClr val="FEE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>
              <p:custDataLst>
                <p:tags r:id="rId19"/>
              </p:custDataLst>
            </p:nvPr>
          </p:nvSpPr>
          <p:spPr>
            <a:xfrm>
              <a:off x="6848831" y="3581399"/>
              <a:ext cx="490220" cy="192677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技术</a:t>
              </a: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路线</a:t>
              </a:r>
              <a:endParaRPr lang="zh-CN" altLang="en-US" sz="2000" b="1" dirty="0">
                <a:solidFill>
                  <a:schemeClr val="bg2">
                    <a:lumMod val="50000"/>
                  </a:schemeClr>
                </a:solidFill>
                <a:latin typeface="幼圆" panose="02010509060101010101" charset="-122"/>
                <a:ea typeface="幼圆" panose="02010509060101010101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20"/>
              </p:custDataLst>
            </p:nvPr>
          </p:nvSpPr>
          <p:spPr>
            <a:xfrm>
              <a:off x="6524324" y="2680492"/>
              <a:ext cx="1100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</a:rPr>
                <a:t>03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527654" y="2615793"/>
            <a:ext cx="1100804" cy="2892377"/>
            <a:chOff x="8527654" y="2615793"/>
            <a:chExt cx="1100804" cy="2892377"/>
          </a:xfrm>
        </p:grpSpPr>
        <p:sp>
          <p:nvSpPr>
            <p:cNvPr id="43" name="椭圆 42"/>
            <p:cNvSpPr/>
            <p:nvPr>
              <p:custDataLst>
                <p:tags r:id="rId22"/>
              </p:custDataLst>
            </p:nvPr>
          </p:nvSpPr>
          <p:spPr>
            <a:xfrm>
              <a:off x="8674089" y="2615793"/>
              <a:ext cx="815090" cy="815090"/>
            </a:xfrm>
            <a:prstGeom prst="ellipse">
              <a:avLst/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>
              <p:custDataLst>
                <p:tags r:id="rId23"/>
              </p:custDataLst>
            </p:nvPr>
          </p:nvSpPr>
          <p:spPr>
            <a:xfrm>
              <a:off x="9143715" y="3736014"/>
              <a:ext cx="198660" cy="1772156"/>
            </a:xfrm>
            <a:prstGeom prst="rect">
              <a:avLst/>
            </a:prstGeom>
            <a:solidFill>
              <a:srgbClr val="FEE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>
              <p:custDataLst>
                <p:tags r:id="rId24"/>
              </p:custDataLst>
            </p:nvPr>
          </p:nvSpPr>
          <p:spPr>
            <a:xfrm>
              <a:off x="8852161" y="3581399"/>
              <a:ext cx="490220" cy="192677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不足</a:t>
              </a: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与改进</a:t>
              </a:r>
              <a:r>
                <a:rPr lang="zh-CN" altLang="en-US" sz="2000" b="1" dirty="0">
                  <a:solidFill>
                    <a:schemeClr val="bg2">
                      <a:lumMod val="50000"/>
                    </a:schemeClr>
                  </a:solidFill>
                  <a:latin typeface="幼圆" panose="02010509060101010101" charset="-122"/>
                  <a:ea typeface="幼圆" panose="02010509060101010101" charset="-122"/>
                  <a:sym typeface="+mn-ea"/>
                </a:rPr>
                <a:t>方向</a:t>
              </a:r>
              <a:endParaRPr lang="zh-CN" altLang="en-US" sz="2000" b="1" dirty="0">
                <a:solidFill>
                  <a:schemeClr val="bg2">
                    <a:lumMod val="50000"/>
                  </a:schemeClr>
                </a:solidFill>
                <a:latin typeface="幼圆" panose="02010509060101010101" charset="-122"/>
                <a:ea typeface="幼圆" panose="02010509060101010101" charset="-122"/>
                <a:sym typeface="+mn-ea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25"/>
              </p:custDataLst>
            </p:nvPr>
          </p:nvSpPr>
          <p:spPr>
            <a:xfrm>
              <a:off x="8527654" y="2680492"/>
              <a:ext cx="1100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</a:rPr>
                <a:t>04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图片 6" descr="unnamed (1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10682" y="1298789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Part 01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834516" y="1448947"/>
            <a:ext cx="131444" cy="131444"/>
          </a:xfrm>
          <a:prstGeom prst="ellipse">
            <a:avLst/>
          </a:prstGeom>
          <a:solidFill>
            <a:srgbClr val="F8B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1834516" y="1646571"/>
            <a:ext cx="131444" cy="131444"/>
          </a:xfrm>
          <a:prstGeom prst="ellipse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1834516" y="1844195"/>
            <a:ext cx="131444" cy="131444"/>
          </a:xfrm>
          <a:prstGeom prst="ellipse">
            <a:avLst/>
          </a:prstGeom>
          <a:solidFill>
            <a:srgbClr val="FB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1834516" y="2041819"/>
            <a:ext cx="131444" cy="131444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834516" y="2239443"/>
            <a:ext cx="131444" cy="131444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9872757" y="1421706"/>
            <a:ext cx="469805" cy="130682"/>
            <a:chOff x="9936257" y="1383606"/>
            <a:chExt cx="469805" cy="130682"/>
          </a:xfrm>
        </p:grpSpPr>
        <p:grpSp>
          <p:nvGrpSpPr>
            <p:cNvPr id="40" name="组合 39"/>
            <p:cNvGrpSpPr/>
            <p:nvPr/>
          </p:nvGrpSpPr>
          <p:grpSpPr>
            <a:xfrm rot="10800000">
              <a:off x="9936257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41" name="燕尾形 40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燕尾形 41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燕尾形 42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10800000">
              <a:off x="10160094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64" name="燕尾形 63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燕尾形 64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燕尾形 65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7" name="文本框 66"/>
          <p:cNvSpPr txBox="1"/>
          <p:nvPr/>
        </p:nvSpPr>
        <p:spPr>
          <a:xfrm>
            <a:off x="5069139" y="2424161"/>
            <a:ext cx="448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FBD5DE"/>
                </a:solidFill>
              </a:rPr>
              <a:t>PART ONE</a:t>
            </a:r>
            <a:endParaRPr lang="zh-CN" altLang="en-US" sz="7200" dirty="0">
              <a:solidFill>
                <a:srgbClr val="FBD5D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52713" y="2353437"/>
            <a:ext cx="6899046" cy="2051254"/>
            <a:chOff x="2652713" y="2524887"/>
            <a:chExt cx="6899046" cy="2051254"/>
          </a:xfrm>
        </p:grpSpPr>
        <p:sp>
          <p:nvSpPr>
            <p:cNvPr id="2" name="文本框 1"/>
            <p:cNvSpPr txBox="1"/>
            <p:nvPr/>
          </p:nvSpPr>
          <p:spPr>
            <a:xfrm>
              <a:off x="5069139" y="2524887"/>
              <a:ext cx="44826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dirty="0">
                  <a:solidFill>
                    <a:srgbClr val="95748D"/>
                  </a:solidFill>
                </a:rPr>
                <a:t>PART ONE</a:t>
              </a:r>
              <a:endParaRPr lang="zh-CN" altLang="en-US" sz="7200" dirty="0">
                <a:solidFill>
                  <a:srgbClr val="95748D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652713" y="2801096"/>
              <a:ext cx="1636808" cy="1636808"/>
              <a:chOff x="2405063" y="2610596"/>
              <a:chExt cx="1636808" cy="163680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405063" y="2610596"/>
                <a:ext cx="1636808" cy="1636808"/>
                <a:chOff x="2405063" y="2610596"/>
                <a:chExt cx="1636808" cy="1636808"/>
              </a:xfrm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235" t="34499" r="49339" b="43592"/>
                <a:stretch>
                  <a:fillRect/>
                </a:stretch>
              </p:blipFill>
              <p:spPr>
                <a:xfrm>
                  <a:off x="2405063" y="2610596"/>
                  <a:ext cx="1636808" cy="1636808"/>
                </a:xfrm>
                <a:custGeom>
                  <a:avLst/>
                  <a:gdLst>
                    <a:gd name="connsiteX0" fmla="*/ 818404 w 1636808"/>
                    <a:gd name="connsiteY0" fmla="*/ 0 h 1636808"/>
                    <a:gd name="connsiteX1" fmla="*/ 1636808 w 1636808"/>
                    <a:gd name="connsiteY1" fmla="*/ 818404 h 1636808"/>
                    <a:gd name="connsiteX2" fmla="*/ 818404 w 1636808"/>
                    <a:gd name="connsiteY2" fmla="*/ 1636808 h 1636808"/>
                    <a:gd name="connsiteX3" fmla="*/ 0 w 1636808"/>
                    <a:gd name="connsiteY3" fmla="*/ 818404 h 1636808"/>
                    <a:gd name="connsiteX4" fmla="*/ 818404 w 1636808"/>
                    <a:gd name="connsiteY4" fmla="*/ 0 h 163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808" h="1636808">
                      <a:moveTo>
                        <a:pt x="818404" y="0"/>
                      </a:moveTo>
                      <a:cubicBezTo>
                        <a:pt x="1270396" y="0"/>
                        <a:pt x="1636808" y="366412"/>
                        <a:pt x="1636808" y="818404"/>
                      </a:cubicBezTo>
                      <a:cubicBezTo>
                        <a:pt x="1636808" y="1270396"/>
                        <a:pt x="1270396" y="1636808"/>
                        <a:pt x="818404" y="1636808"/>
                      </a:cubicBezTo>
                      <a:cubicBezTo>
                        <a:pt x="366412" y="1636808"/>
                        <a:pt x="0" y="1270396"/>
                        <a:pt x="0" y="818404"/>
                      </a:cubicBezTo>
                      <a:cubicBezTo>
                        <a:pt x="0" y="366412"/>
                        <a:pt x="366412" y="0"/>
                        <a:pt x="818404" y="0"/>
                      </a:cubicBezTo>
                      <a:close/>
                    </a:path>
                  </a:pathLst>
                </a:custGeom>
              </p:spPr>
            </p:pic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5602" t="10129" r="6898" b="77632"/>
                <a:stretch>
                  <a:fillRect/>
                </a:stretch>
              </p:blipFill>
              <p:spPr>
                <a:xfrm>
                  <a:off x="3665061" y="2627664"/>
                  <a:ext cx="376810" cy="376810"/>
                </a:xfrm>
                <a:custGeom>
                  <a:avLst/>
                  <a:gdLst>
                    <a:gd name="connsiteX0" fmla="*/ 457200 w 914400"/>
                    <a:gd name="connsiteY0" fmla="*/ 0 h 914400"/>
                    <a:gd name="connsiteX1" fmla="*/ 914400 w 914400"/>
                    <a:gd name="connsiteY1" fmla="*/ 457200 h 914400"/>
                    <a:gd name="connsiteX2" fmla="*/ 457200 w 914400"/>
                    <a:gd name="connsiteY2" fmla="*/ 914400 h 914400"/>
                    <a:gd name="connsiteX3" fmla="*/ 0 w 914400"/>
                    <a:gd name="connsiteY3" fmla="*/ 457200 h 914400"/>
                    <a:gd name="connsiteX4" fmla="*/ 457200 w 914400"/>
                    <a:gd name="connsiteY4" fmla="*/ 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400" h="914400">
                      <a:moveTo>
                        <a:pt x="457200" y="0"/>
                      </a:moveTo>
                      <a:cubicBezTo>
                        <a:pt x="709705" y="0"/>
                        <a:pt x="914400" y="204695"/>
                        <a:pt x="914400" y="457200"/>
                      </a:cubicBezTo>
                      <a:cubicBezTo>
                        <a:pt x="914400" y="709705"/>
                        <a:pt x="709705" y="914400"/>
                        <a:pt x="457200" y="914400"/>
                      </a:cubicBezTo>
                      <a:cubicBezTo>
                        <a:pt x="204695" y="914400"/>
                        <a:pt x="0" y="709705"/>
                        <a:pt x="0" y="457200"/>
                      </a:cubicBezTo>
                      <a:cubicBezTo>
                        <a:pt x="0" y="204695"/>
                        <a:pt x="204695" y="0"/>
                        <a:pt x="457200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39" name="文本框 38"/>
              <p:cNvSpPr txBox="1"/>
              <p:nvPr/>
            </p:nvSpPr>
            <p:spPr>
              <a:xfrm>
                <a:off x="2557810" y="2981235"/>
                <a:ext cx="13697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solidFill>
                      <a:srgbClr val="FAF7F8"/>
                    </a:solidFill>
                    <a:latin typeface="胡晓波男神体" panose="02010600030101010101" pitchFamily="2" charset="-122"/>
                    <a:ea typeface="胡晓波男神体" panose="02010600030101010101" pitchFamily="2" charset="-122"/>
                    <a:cs typeface="胡晓波男神体" panose="02010600030101010101" pitchFamily="2" charset="-122"/>
                  </a:rPr>
                  <a:t>01</a:t>
                </a:r>
                <a:endParaRPr lang="zh-CN" altLang="en-US" sz="5400" dirty="0">
                  <a:solidFill>
                    <a:srgbClr val="FAF7F8"/>
                  </a:solidFill>
                  <a:latin typeface="胡晓波男神体" panose="02010600030101010101" pitchFamily="2" charset="-122"/>
                  <a:ea typeface="胡晓波男神体" panose="02010600030101010101" pitchFamily="2" charset="-122"/>
                  <a:cs typeface="胡晓波男神体" panose="02010600030101010101" pitchFamily="2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5069139" y="3746196"/>
              <a:ext cx="448262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dirty="0">
                  <a:solidFill>
                    <a:srgbClr val="95748D"/>
                  </a:solidFill>
                  <a:latin typeface="汉仪粗圆简" panose="02010600000101010101" charset="-122"/>
                  <a:ea typeface="汉仪粗圆简" panose="02010600000101010101" charset="-122"/>
                </a:rPr>
                <a:t>项目</a:t>
              </a:r>
              <a:r>
                <a:rPr lang="zh-CN" altLang="en-US" sz="4800" dirty="0">
                  <a:solidFill>
                    <a:srgbClr val="F8B3C3"/>
                  </a:solidFill>
                  <a:latin typeface="汉仪粗圆简" panose="02010600000101010101" charset="-122"/>
                  <a:ea typeface="汉仪粗圆简" panose="02010600000101010101" charset="-122"/>
                </a:rPr>
                <a:t>背景</a:t>
              </a:r>
              <a:endParaRPr lang="zh-CN" altLang="en-US" sz="4800" dirty="0">
                <a:solidFill>
                  <a:srgbClr val="F8B3C3"/>
                </a:solidFill>
                <a:latin typeface="汉仪粗圆简" panose="02010600000101010101" charset="-122"/>
                <a:ea typeface="汉仪粗圆简" panose="02010600000101010101" charset="-122"/>
              </a:endParaRPr>
            </a:p>
          </p:txBody>
        </p:sp>
      </p:grp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中圆繁" panose="02010600000101010101" charset="-122"/>
                  <a:ea typeface="汉仪中圆繁" panose="02010600000101010101" charset="-122"/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中圆繁" panose="02010600000101010101" charset="-122"/>
                  <a:ea typeface="汉仪中圆繁" panose="02010600000101010101" charset="-122"/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中圆繁" panose="02010600000101010101" charset="-122"/>
                  <a:ea typeface="汉仪中圆繁" panose="02010600000101010101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项目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背景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774" t="15681" r="16631" b="6658"/>
          <a:stretch>
            <a:fillRect/>
          </a:stretch>
        </p:blipFill>
        <p:spPr>
          <a:xfrm>
            <a:off x="8517088" y="1792397"/>
            <a:ext cx="2947032" cy="4365179"/>
          </a:xfrm>
          <a:custGeom>
            <a:avLst/>
            <a:gdLst>
              <a:gd name="connsiteX0" fmla="*/ 0 w 3381829"/>
              <a:gd name="connsiteY0" fmla="*/ 0 h 4365179"/>
              <a:gd name="connsiteX1" fmla="*/ 3381829 w 3381829"/>
              <a:gd name="connsiteY1" fmla="*/ 0 h 4365179"/>
              <a:gd name="connsiteX2" fmla="*/ 3381829 w 3381829"/>
              <a:gd name="connsiteY2" fmla="*/ 4365179 h 4365179"/>
              <a:gd name="connsiteX3" fmla="*/ 0 w 3381829"/>
              <a:gd name="connsiteY3" fmla="*/ 4365179 h 436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829" h="4365179">
                <a:moveTo>
                  <a:pt x="0" y="0"/>
                </a:moveTo>
                <a:lnTo>
                  <a:pt x="3381829" y="0"/>
                </a:lnTo>
                <a:lnTo>
                  <a:pt x="3381829" y="4365179"/>
                </a:lnTo>
                <a:lnTo>
                  <a:pt x="0" y="4365179"/>
                </a:lnTo>
                <a:close/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63" name="直接连接符 62"/>
          <p:cNvCxnSpPr/>
          <p:nvPr>
            <p:custDataLst>
              <p:tags r:id="rId4"/>
            </p:custDataLst>
          </p:nvPr>
        </p:nvCxnSpPr>
        <p:spPr>
          <a:xfrm>
            <a:off x="833905" y="1988212"/>
            <a:ext cx="72967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>
            <p:custDataLst>
              <p:tags r:id="rId5"/>
            </p:custDataLst>
          </p:nvPr>
        </p:nvSpPr>
        <p:spPr>
          <a:xfrm>
            <a:off x="1282757" y="1692614"/>
            <a:ext cx="583732" cy="583732"/>
          </a:xfrm>
          <a:prstGeom prst="ellipse">
            <a:avLst/>
          </a:prstGeom>
          <a:solidFill>
            <a:srgbClr val="BE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>
            <p:custDataLst>
              <p:tags r:id="rId6"/>
            </p:custDataLst>
          </p:nvPr>
        </p:nvSpPr>
        <p:spPr>
          <a:xfrm>
            <a:off x="3239211" y="1692614"/>
            <a:ext cx="583732" cy="583732"/>
          </a:xfrm>
          <a:prstGeom prst="ellipse">
            <a:avLst/>
          </a:pr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>
            <p:custDataLst>
              <p:tags r:id="rId7"/>
            </p:custDataLst>
          </p:nvPr>
        </p:nvSpPr>
        <p:spPr>
          <a:xfrm>
            <a:off x="5195665" y="1692614"/>
            <a:ext cx="583732" cy="583732"/>
          </a:xfrm>
          <a:prstGeom prst="ellipse">
            <a:avLst/>
          </a:prstGeom>
          <a:solidFill>
            <a:srgbClr val="FCD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>
            <p:custDataLst>
              <p:tags r:id="rId8"/>
            </p:custDataLst>
          </p:nvPr>
        </p:nvSpPr>
        <p:spPr>
          <a:xfrm>
            <a:off x="7152119" y="1692614"/>
            <a:ext cx="583732" cy="583732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/>
          <p:nvPr>
            <p:custDataLst>
              <p:tags r:id="rId9"/>
            </p:custDataLst>
          </p:nvPr>
        </p:nvCxnSpPr>
        <p:spPr>
          <a:xfrm>
            <a:off x="2565376" y="2492562"/>
            <a:ext cx="0" cy="10425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>
            <p:custDataLst>
              <p:tags r:id="rId10"/>
            </p:custDataLst>
          </p:nvPr>
        </p:nvCxnSpPr>
        <p:spPr>
          <a:xfrm>
            <a:off x="4557419" y="2492562"/>
            <a:ext cx="0" cy="10425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11"/>
            </p:custDataLst>
          </p:nvPr>
        </p:nvCxnSpPr>
        <p:spPr>
          <a:xfrm>
            <a:off x="6473262" y="2492562"/>
            <a:ext cx="0" cy="10425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>
          <a:xfrm>
            <a:off x="725894" y="4288489"/>
            <a:ext cx="7622403" cy="1870718"/>
            <a:chOff x="623179" y="1955788"/>
            <a:chExt cx="7622403" cy="1870718"/>
          </a:xfrm>
        </p:grpSpPr>
        <p:sp>
          <p:nvSpPr>
            <p:cNvPr id="91" name="矩形 90"/>
            <p:cNvSpPr/>
            <p:nvPr/>
          </p:nvSpPr>
          <p:spPr>
            <a:xfrm>
              <a:off x="651466" y="2350131"/>
              <a:ext cx="7594116" cy="1476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在机械装配、设备安装及运维过程中，螺帽是否拧紧是最基础但又极其关键的质量控制环节。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在汽车、轨道交通、工程机械、农业机械及工业设备中，大量关键结构依赖螺纹连接，一旦拧紧不足或过度拧紧，都会对结构安全和设备可靠性产生直接影响。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然而在实际生产与维护场景中，螺帽拧紧状态的检测仍大量依赖人工经验判断，缺乏低成本、可快速部署的检测手段，这正是本项目提出的现实背景。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623179" y="1955788"/>
              <a:ext cx="2136577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项目核心价值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sp>
        <p:nvSpPr>
          <p:cNvPr id="79" name="Freeform 181"/>
          <p:cNvSpPr/>
          <p:nvPr>
            <p:custDataLst>
              <p:tags r:id="rId12"/>
            </p:custDataLst>
          </p:nvPr>
        </p:nvSpPr>
        <p:spPr>
          <a:xfrm>
            <a:off x="1436432" y="1874295"/>
            <a:ext cx="276382" cy="234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1" h="21600" extrusionOk="0">
                <a:moveTo>
                  <a:pt x="21270" y="6800"/>
                </a:moveTo>
                <a:cubicBezTo>
                  <a:pt x="21104" y="3000"/>
                  <a:pt x="18778" y="0"/>
                  <a:pt x="15621" y="0"/>
                </a:cubicBezTo>
                <a:cubicBezTo>
                  <a:pt x="13461" y="0"/>
                  <a:pt x="11633" y="1400"/>
                  <a:pt x="10636" y="3400"/>
                </a:cubicBezTo>
                <a:cubicBezTo>
                  <a:pt x="9639" y="1400"/>
                  <a:pt x="7811" y="0"/>
                  <a:pt x="5651" y="0"/>
                </a:cubicBezTo>
                <a:cubicBezTo>
                  <a:pt x="2494" y="0"/>
                  <a:pt x="168" y="3000"/>
                  <a:pt x="2" y="6800"/>
                </a:cubicBezTo>
                <a:cubicBezTo>
                  <a:pt x="-164" y="15400"/>
                  <a:pt x="10636" y="21600"/>
                  <a:pt x="10636" y="21600"/>
                </a:cubicBezTo>
                <a:cubicBezTo>
                  <a:pt x="10636" y="21600"/>
                  <a:pt x="21436" y="15400"/>
                  <a:pt x="21270" y="68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grpSp>
        <p:nvGrpSpPr>
          <p:cNvPr id="4" name="组合 3"/>
          <p:cNvGrpSpPr/>
          <p:nvPr>
            <p:custDataLst>
              <p:tags r:id="rId13"/>
            </p:custDataLst>
          </p:nvPr>
        </p:nvGrpSpPr>
        <p:grpSpPr>
          <a:xfrm>
            <a:off x="739709" y="2471965"/>
            <a:ext cx="1638935" cy="1603725"/>
            <a:chOff x="739709" y="2701835"/>
            <a:chExt cx="1638935" cy="1603725"/>
          </a:xfrm>
        </p:grpSpPr>
        <p:sp>
          <p:nvSpPr>
            <p:cNvPr id="106" name="文本框 105"/>
            <p:cNvSpPr txBox="1"/>
            <p:nvPr>
              <p:custDataLst>
                <p:tags r:id="rId14"/>
              </p:custDataLst>
            </p:nvPr>
          </p:nvSpPr>
          <p:spPr>
            <a:xfrm>
              <a:off x="808924" y="2701835"/>
              <a:ext cx="1569720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高度依赖人工经验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107" name="文本框 106"/>
            <p:cNvSpPr txBox="1"/>
            <p:nvPr>
              <p:custDataLst>
                <p:tags r:id="rId15"/>
              </p:custDataLst>
            </p:nvPr>
          </p:nvSpPr>
          <p:spPr>
            <a:xfrm>
              <a:off x="739709" y="2967615"/>
              <a:ext cx="1631710" cy="1337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常见方式为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“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目测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 + 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手感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 + 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扭一扭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”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不同工人经验差异大，同一标准难以统一；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无法量化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“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拧紧到什么程度才算合格</a:t>
              </a:r>
              <a:r>
                <a:rPr lang="en-US" altLang="zh-CN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”</a:t>
              </a: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。</a:t>
              </a:r>
              <a:endParaRPr lang="zh-CN" altLang="en-US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</p:txBody>
        </p:sp>
      </p:grpSp>
      <p:grpSp>
        <p:nvGrpSpPr>
          <p:cNvPr id="108" name="组合 107"/>
          <p:cNvGrpSpPr/>
          <p:nvPr>
            <p:custDataLst>
              <p:tags r:id="rId16"/>
            </p:custDataLst>
          </p:nvPr>
        </p:nvGrpSpPr>
        <p:grpSpPr>
          <a:xfrm>
            <a:off x="2715222" y="2471965"/>
            <a:ext cx="1631710" cy="1187800"/>
            <a:chOff x="739709" y="2701835"/>
            <a:chExt cx="1631710" cy="1187800"/>
          </a:xfrm>
        </p:grpSpPr>
        <p:sp>
          <p:nvSpPr>
            <p:cNvPr id="109" name="文本框 108"/>
            <p:cNvSpPr txBox="1"/>
            <p:nvPr>
              <p:custDataLst>
                <p:tags r:id="rId17"/>
              </p:custDataLst>
            </p:nvPr>
          </p:nvSpPr>
          <p:spPr>
            <a:xfrm>
              <a:off x="824799" y="2701835"/>
              <a:ext cx="1449070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无法适应批量作业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18"/>
              </p:custDataLst>
            </p:nvPr>
          </p:nvSpPr>
          <p:spPr>
            <a:xfrm>
              <a:off x="739709" y="2967615"/>
              <a:ext cx="163171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需要逐个检查；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在多螺栓、多工位场景下耗时明显；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人工检测成为生产节拍瓶颈。</a:t>
              </a:r>
              <a:endParaRPr lang="zh-CN" altLang="en-US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</p:grpSp>
      <p:grpSp>
        <p:nvGrpSpPr>
          <p:cNvPr id="111" name="组合 110"/>
          <p:cNvGrpSpPr/>
          <p:nvPr>
            <p:custDataLst>
              <p:tags r:id="rId19"/>
            </p:custDataLst>
          </p:nvPr>
        </p:nvGrpSpPr>
        <p:grpSpPr>
          <a:xfrm>
            <a:off x="4671685" y="2471965"/>
            <a:ext cx="1631710" cy="1187800"/>
            <a:chOff x="739709" y="2701835"/>
            <a:chExt cx="1631710" cy="1187800"/>
          </a:xfrm>
        </p:grpSpPr>
        <p:sp>
          <p:nvSpPr>
            <p:cNvPr id="112" name="文本框 111"/>
            <p:cNvSpPr txBox="1"/>
            <p:nvPr>
              <p:custDataLst>
                <p:tags r:id="rId20"/>
              </p:custDataLst>
            </p:nvPr>
          </p:nvSpPr>
          <p:spPr>
            <a:xfrm>
              <a:off x="828609" y="2701835"/>
              <a:ext cx="1443990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检测结果不可量化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21"/>
              </p:custDataLst>
            </p:nvPr>
          </p:nvSpPr>
          <p:spPr>
            <a:xfrm>
              <a:off x="739709" y="2967615"/>
              <a:ext cx="163171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人工检测通常无数据记录；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无法回溯某一批次、某一工位的装配质量；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出现事故后难以责任界定。</a:t>
              </a:r>
              <a:endParaRPr lang="zh-CN" altLang="en-US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</p:grpSp>
      <p:grpSp>
        <p:nvGrpSpPr>
          <p:cNvPr id="114" name="组合 113"/>
          <p:cNvGrpSpPr/>
          <p:nvPr>
            <p:custDataLst>
              <p:tags r:id="rId22"/>
            </p:custDataLst>
          </p:nvPr>
        </p:nvGrpSpPr>
        <p:grpSpPr>
          <a:xfrm>
            <a:off x="6617988" y="2379890"/>
            <a:ext cx="1632345" cy="1279875"/>
            <a:chOff x="739074" y="2609760"/>
            <a:chExt cx="1632345" cy="1279875"/>
          </a:xfrm>
        </p:grpSpPr>
        <p:sp>
          <p:nvSpPr>
            <p:cNvPr id="115" name="文本框 114"/>
            <p:cNvSpPr txBox="1"/>
            <p:nvPr>
              <p:custDataLst>
                <p:tags r:id="rId23"/>
              </p:custDataLst>
            </p:nvPr>
          </p:nvSpPr>
          <p:spPr>
            <a:xfrm>
              <a:off x="739074" y="2609760"/>
              <a:ext cx="158115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对隐蔽或狭小空间螺帽无能为力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24"/>
              </p:custDataLst>
            </p:nvPr>
          </p:nvSpPr>
          <p:spPr>
            <a:xfrm>
              <a:off x="739709" y="2967615"/>
              <a:ext cx="163171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部分螺帽位于设备内部或遮挡位置；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视觉不可达、工具操作困难；</a:t>
              </a:r>
              <a:endParaRPr lang="en-US" altLang="zh-CN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人工检查存在盲区。</a:t>
              </a:r>
              <a:endParaRPr lang="zh-CN" altLang="en-US" sz="90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</p:grpSp>
      <p:pic>
        <p:nvPicPr>
          <p:cNvPr id="117" name="图片 116" descr="E:/用户/download/电子电路PPT/hUOsw2gjFYdDQy3F5iWAbQ.jpghUOsw2gjFYdDQy3F5iWAbQ"/>
          <p:cNvPicPr>
            <a:picLocks noChangeAspect="1"/>
          </p:cNvPicPr>
          <p:nvPr/>
        </p:nvPicPr>
        <p:blipFill>
          <a:blip r:embed="rId25"/>
          <a:srcRect l="16251" r="16251"/>
          <a:stretch>
            <a:fillRect/>
          </a:stretch>
        </p:blipFill>
        <p:spPr>
          <a:xfrm>
            <a:off x="8517088" y="1792398"/>
            <a:ext cx="2947032" cy="4365179"/>
          </a:xfrm>
          <a:custGeom>
            <a:avLst/>
            <a:gdLst>
              <a:gd name="connsiteX0" fmla="*/ 0 w 2947032"/>
              <a:gd name="connsiteY0" fmla="*/ 0 h 4365179"/>
              <a:gd name="connsiteX1" fmla="*/ 2947032 w 2947032"/>
              <a:gd name="connsiteY1" fmla="*/ 0 h 4365179"/>
              <a:gd name="connsiteX2" fmla="*/ 2947032 w 2947032"/>
              <a:gd name="connsiteY2" fmla="*/ 4365179 h 4365179"/>
              <a:gd name="connsiteX3" fmla="*/ 0 w 2947032"/>
              <a:gd name="connsiteY3" fmla="*/ 4365179 h 436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032" h="4365179">
                <a:moveTo>
                  <a:pt x="0" y="0"/>
                </a:moveTo>
                <a:lnTo>
                  <a:pt x="2947032" y="0"/>
                </a:lnTo>
                <a:lnTo>
                  <a:pt x="2947032" y="4365179"/>
                </a:lnTo>
                <a:lnTo>
                  <a:pt x="0" y="4365179"/>
                </a:lnTo>
                <a:close/>
              </a:path>
            </a:pathLst>
          </a:custGeom>
        </p:spPr>
      </p:pic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404745" y="977265"/>
            <a:ext cx="43053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人工检测螺帽拧紧状态的四大痛点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119" name="Freeform 78"/>
          <p:cNvSpPr/>
          <p:nvPr/>
        </p:nvSpPr>
        <p:spPr>
          <a:xfrm>
            <a:off x="5330748" y="1822027"/>
            <a:ext cx="312166" cy="312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3493"/>
                </a:moveTo>
                <a:lnTo>
                  <a:pt x="18036" y="0"/>
                </a:lnTo>
                <a:lnTo>
                  <a:pt x="16325" y="1640"/>
                </a:lnTo>
                <a:lnTo>
                  <a:pt x="17537" y="2851"/>
                </a:lnTo>
                <a:lnTo>
                  <a:pt x="16824" y="3493"/>
                </a:lnTo>
                <a:lnTo>
                  <a:pt x="15683" y="2352"/>
                </a:lnTo>
                <a:lnTo>
                  <a:pt x="14329" y="3707"/>
                </a:lnTo>
                <a:lnTo>
                  <a:pt x="15469" y="4848"/>
                </a:lnTo>
                <a:lnTo>
                  <a:pt x="14828" y="5560"/>
                </a:lnTo>
                <a:lnTo>
                  <a:pt x="13616" y="4349"/>
                </a:lnTo>
                <a:lnTo>
                  <a:pt x="12333" y="5703"/>
                </a:lnTo>
                <a:lnTo>
                  <a:pt x="13473" y="6915"/>
                </a:lnTo>
                <a:lnTo>
                  <a:pt x="12832" y="7556"/>
                </a:lnTo>
                <a:lnTo>
                  <a:pt x="11620" y="6416"/>
                </a:lnTo>
                <a:lnTo>
                  <a:pt x="10265" y="7770"/>
                </a:lnTo>
                <a:lnTo>
                  <a:pt x="11477" y="8911"/>
                </a:lnTo>
                <a:lnTo>
                  <a:pt x="10764" y="9624"/>
                </a:lnTo>
                <a:lnTo>
                  <a:pt x="9624" y="8412"/>
                </a:lnTo>
                <a:lnTo>
                  <a:pt x="8412" y="9766"/>
                </a:lnTo>
                <a:lnTo>
                  <a:pt x="9624" y="10764"/>
                </a:lnTo>
                <a:lnTo>
                  <a:pt x="8911" y="11477"/>
                </a:lnTo>
                <a:lnTo>
                  <a:pt x="7770" y="10265"/>
                </a:lnTo>
                <a:lnTo>
                  <a:pt x="6416" y="11620"/>
                </a:lnTo>
                <a:lnTo>
                  <a:pt x="7556" y="12832"/>
                </a:lnTo>
                <a:lnTo>
                  <a:pt x="6915" y="13473"/>
                </a:lnTo>
                <a:lnTo>
                  <a:pt x="5703" y="12261"/>
                </a:lnTo>
                <a:lnTo>
                  <a:pt x="4349" y="13616"/>
                </a:lnTo>
                <a:lnTo>
                  <a:pt x="5560" y="14828"/>
                </a:lnTo>
                <a:lnTo>
                  <a:pt x="4848" y="15469"/>
                </a:lnTo>
                <a:lnTo>
                  <a:pt x="3707" y="14329"/>
                </a:lnTo>
                <a:lnTo>
                  <a:pt x="2352" y="15683"/>
                </a:lnTo>
                <a:lnTo>
                  <a:pt x="3564" y="16824"/>
                </a:lnTo>
                <a:lnTo>
                  <a:pt x="2851" y="17537"/>
                </a:lnTo>
                <a:lnTo>
                  <a:pt x="1711" y="16325"/>
                </a:lnTo>
                <a:lnTo>
                  <a:pt x="0" y="18036"/>
                </a:lnTo>
                <a:lnTo>
                  <a:pt x="3564" y="21600"/>
                </a:lnTo>
                <a:lnTo>
                  <a:pt x="21600" y="349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59" name="Freeform 118"/>
          <p:cNvSpPr/>
          <p:nvPr/>
        </p:nvSpPr>
        <p:spPr>
          <a:xfrm>
            <a:off x="3414289" y="1821898"/>
            <a:ext cx="173083" cy="2513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479"/>
                </a:moveTo>
                <a:lnTo>
                  <a:pt x="18000" y="0"/>
                </a:lnTo>
                <a:lnTo>
                  <a:pt x="0" y="0"/>
                </a:lnTo>
                <a:lnTo>
                  <a:pt x="0" y="21600"/>
                </a:lnTo>
                <a:lnTo>
                  <a:pt x="3343" y="21600"/>
                </a:lnTo>
                <a:lnTo>
                  <a:pt x="3343" y="2479"/>
                </a:lnTo>
                <a:lnTo>
                  <a:pt x="21600" y="247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60" name="Freeform 119"/>
          <p:cNvSpPr/>
          <p:nvPr/>
        </p:nvSpPr>
        <p:spPr>
          <a:xfrm>
            <a:off x="3473014" y="1882684"/>
            <a:ext cx="189567" cy="25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17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4161"/>
                </a:lnTo>
                <a:lnTo>
                  <a:pt x="16317" y="0"/>
                </a:lnTo>
                <a:close/>
                <a:moveTo>
                  <a:pt x="18548" y="19298"/>
                </a:moveTo>
                <a:lnTo>
                  <a:pt x="3052" y="19298"/>
                </a:lnTo>
                <a:lnTo>
                  <a:pt x="3052" y="2479"/>
                </a:lnTo>
                <a:lnTo>
                  <a:pt x="13030" y="2479"/>
                </a:lnTo>
                <a:lnTo>
                  <a:pt x="13030" y="6462"/>
                </a:lnTo>
                <a:lnTo>
                  <a:pt x="18548" y="6462"/>
                </a:lnTo>
                <a:lnTo>
                  <a:pt x="18548" y="1929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Freeform 7"/>
          <p:cNvSpPr/>
          <p:nvPr/>
        </p:nvSpPr>
        <p:spPr>
          <a:xfrm>
            <a:off x="7285605" y="1844543"/>
            <a:ext cx="312168" cy="263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12" y="0"/>
                </a:moveTo>
                <a:cubicBezTo>
                  <a:pt x="1688" y="0"/>
                  <a:pt x="1688" y="0"/>
                  <a:pt x="1688" y="0"/>
                </a:cubicBezTo>
                <a:cubicBezTo>
                  <a:pt x="675" y="0"/>
                  <a:pt x="0" y="800"/>
                  <a:pt x="0" y="2000"/>
                </a:cubicBezTo>
                <a:cubicBezTo>
                  <a:pt x="0" y="19600"/>
                  <a:pt x="0" y="19600"/>
                  <a:pt x="0" y="19600"/>
                </a:cubicBezTo>
                <a:cubicBezTo>
                  <a:pt x="0" y="20800"/>
                  <a:pt x="675" y="21600"/>
                  <a:pt x="1688" y="21600"/>
                </a:cubicBezTo>
                <a:cubicBezTo>
                  <a:pt x="19912" y="21600"/>
                  <a:pt x="19912" y="21600"/>
                  <a:pt x="19912" y="21600"/>
                </a:cubicBezTo>
                <a:cubicBezTo>
                  <a:pt x="20925" y="21600"/>
                  <a:pt x="21600" y="20800"/>
                  <a:pt x="21600" y="19600"/>
                </a:cubicBezTo>
                <a:cubicBezTo>
                  <a:pt x="21600" y="2000"/>
                  <a:pt x="21600" y="2000"/>
                  <a:pt x="21600" y="2000"/>
                </a:cubicBezTo>
                <a:cubicBezTo>
                  <a:pt x="21600" y="800"/>
                  <a:pt x="20925" y="0"/>
                  <a:pt x="19912" y="0"/>
                </a:cubicBezTo>
                <a:close/>
                <a:moveTo>
                  <a:pt x="8269" y="19400"/>
                </a:moveTo>
                <a:cubicBezTo>
                  <a:pt x="6581" y="19400"/>
                  <a:pt x="6581" y="19400"/>
                  <a:pt x="6581" y="19400"/>
                </a:cubicBezTo>
                <a:cubicBezTo>
                  <a:pt x="6581" y="17400"/>
                  <a:pt x="6581" y="17400"/>
                  <a:pt x="6581" y="17400"/>
                </a:cubicBezTo>
                <a:cubicBezTo>
                  <a:pt x="8269" y="17400"/>
                  <a:pt x="8269" y="17400"/>
                  <a:pt x="8269" y="17400"/>
                </a:cubicBezTo>
                <a:lnTo>
                  <a:pt x="8269" y="19400"/>
                </a:lnTo>
                <a:close/>
                <a:moveTo>
                  <a:pt x="11644" y="19400"/>
                </a:moveTo>
                <a:cubicBezTo>
                  <a:pt x="9956" y="19400"/>
                  <a:pt x="9956" y="19400"/>
                  <a:pt x="9956" y="19400"/>
                </a:cubicBezTo>
                <a:cubicBezTo>
                  <a:pt x="9956" y="17400"/>
                  <a:pt x="9956" y="17400"/>
                  <a:pt x="9956" y="17400"/>
                </a:cubicBezTo>
                <a:cubicBezTo>
                  <a:pt x="11644" y="17400"/>
                  <a:pt x="11644" y="17400"/>
                  <a:pt x="11644" y="17400"/>
                </a:cubicBezTo>
                <a:lnTo>
                  <a:pt x="11644" y="19400"/>
                </a:lnTo>
                <a:close/>
                <a:moveTo>
                  <a:pt x="15019" y="19400"/>
                </a:moveTo>
                <a:cubicBezTo>
                  <a:pt x="13331" y="19400"/>
                  <a:pt x="13331" y="19400"/>
                  <a:pt x="13331" y="19400"/>
                </a:cubicBezTo>
                <a:cubicBezTo>
                  <a:pt x="13331" y="17400"/>
                  <a:pt x="13331" y="17400"/>
                  <a:pt x="13331" y="17400"/>
                </a:cubicBezTo>
                <a:cubicBezTo>
                  <a:pt x="15019" y="17400"/>
                  <a:pt x="15019" y="17400"/>
                  <a:pt x="15019" y="17400"/>
                </a:cubicBezTo>
                <a:lnTo>
                  <a:pt x="15019" y="19400"/>
                </a:lnTo>
                <a:close/>
                <a:moveTo>
                  <a:pt x="19912" y="15600"/>
                </a:moveTo>
                <a:cubicBezTo>
                  <a:pt x="1688" y="15600"/>
                  <a:pt x="1688" y="15600"/>
                  <a:pt x="1688" y="15600"/>
                </a:cubicBezTo>
                <a:cubicBezTo>
                  <a:pt x="1688" y="10400"/>
                  <a:pt x="1688" y="10400"/>
                  <a:pt x="1688" y="10400"/>
                </a:cubicBezTo>
                <a:cubicBezTo>
                  <a:pt x="9788" y="10400"/>
                  <a:pt x="9788" y="10400"/>
                  <a:pt x="9788" y="10400"/>
                </a:cubicBezTo>
                <a:cubicBezTo>
                  <a:pt x="10294" y="9200"/>
                  <a:pt x="10294" y="9200"/>
                  <a:pt x="10294" y="9200"/>
                </a:cubicBezTo>
                <a:cubicBezTo>
                  <a:pt x="11812" y="13800"/>
                  <a:pt x="11812" y="13800"/>
                  <a:pt x="11812" y="13800"/>
                </a:cubicBezTo>
                <a:cubicBezTo>
                  <a:pt x="12825" y="10400"/>
                  <a:pt x="12825" y="10400"/>
                  <a:pt x="12825" y="10400"/>
                </a:cubicBezTo>
                <a:cubicBezTo>
                  <a:pt x="19912" y="10400"/>
                  <a:pt x="19912" y="10400"/>
                  <a:pt x="19912" y="10400"/>
                </a:cubicBezTo>
                <a:lnTo>
                  <a:pt x="19912" y="15600"/>
                </a:lnTo>
                <a:close/>
                <a:moveTo>
                  <a:pt x="19912" y="8400"/>
                </a:moveTo>
                <a:cubicBezTo>
                  <a:pt x="11812" y="8400"/>
                  <a:pt x="11812" y="8400"/>
                  <a:pt x="11812" y="8400"/>
                </a:cubicBezTo>
                <a:cubicBezTo>
                  <a:pt x="10294" y="3800"/>
                  <a:pt x="10294" y="3800"/>
                  <a:pt x="10294" y="3800"/>
                </a:cubicBezTo>
                <a:cubicBezTo>
                  <a:pt x="8775" y="8400"/>
                  <a:pt x="8775" y="8400"/>
                  <a:pt x="8775" y="8400"/>
                </a:cubicBezTo>
                <a:cubicBezTo>
                  <a:pt x="1688" y="8400"/>
                  <a:pt x="1688" y="8400"/>
                  <a:pt x="1688" y="8400"/>
                </a:cubicBezTo>
                <a:cubicBezTo>
                  <a:pt x="1688" y="2000"/>
                  <a:pt x="1688" y="2000"/>
                  <a:pt x="1688" y="2000"/>
                </a:cubicBezTo>
                <a:cubicBezTo>
                  <a:pt x="19912" y="2000"/>
                  <a:pt x="19912" y="2000"/>
                  <a:pt x="19912" y="2000"/>
                </a:cubicBezTo>
                <a:lnTo>
                  <a:pt x="19912" y="840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0">
            <a:off x="630555" y="640080"/>
            <a:ext cx="454025" cy="241300"/>
            <a:chOff x="-14468885" y="-125990"/>
            <a:chExt cx="924334" cy="468890"/>
          </a:xfrm>
        </p:grpSpPr>
        <p:sp>
          <p:nvSpPr>
            <p:cNvPr id="10" name="燕尾形 9"/>
            <p:cNvSpPr/>
            <p:nvPr/>
          </p:nvSpPr>
          <p:spPr>
            <a:xfrm>
              <a:off x="-14468885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-14187898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燕尾形 11"/>
            <p:cNvSpPr/>
            <p:nvPr/>
          </p:nvSpPr>
          <p:spPr>
            <a:xfrm>
              <a:off x="-13906911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0340" y="4694107"/>
            <a:ext cx="5487134" cy="127343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6557997" y="3954231"/>
            <a:ext cx="667139" cy="667139"/>
            <a:chOff x="7181189" y="3564796"/>
            <a:chExt cx="735436" cy="735436"/>
          </a:xfrm>
        </p:grpSpPr>
        <p:sp>
          <p:nvSpPr>
            <p:cNvPr id="17" name="椭圆 16"/>
            <p:cNvSpPr/>
            <p:nvPr>
              <p:custDataLst>
                <p:tags r:id="rId3"/>
              </p:custDataLst>
            </p:nvPr>
          </p:nvSpPr>
          <p:spPr>
            <a:xfrm>
              <a:off x="7181189" y="3564796"/>
              <a:ext cx="735436" cy="735436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18" name="Freeform 232"/>
            <p:cNvSpPr/>
            <p:nvPr>
              <p:custDataLst>
                <p:tags r:id="rId4"/>
              </p:custDataLst>
            </p:nvPr>
          </p:nvSpPr>
          <p:spPr>
            <a:xfrm>
              <a:off x="7372489" y="3798059"/>
              <a:ext cx="349905" cy="333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5" extrusionOk="0">
                  <a:moveTo>
                    <a:pt x="18573" y="0"/>
                  </a:moveTo>
                  <a:cubicBezTo>
                    <a:pt x="3027" y="0"/>
                    <a:pt x="3027" y="0"/>
                    <a:pt x="3027" y="0"/>
                  </a:cubicBezTo>
                  <a:cubicBezTo>
                    <a:pt x="1391" y="0"/>
                    <a:pt x="0" y="1361"/>
                    <a:pt x="0" y="3061"/>
                  </a:cubicBezTo>
                  <a:cubicBezTo>
                    <a:pt x="0" y="14287"/>
                    <a:pt x="0" y="14287"/>
                    <a:pt x="0" y="14287"/>
                  </a:cubicBezTo>
                  <a:cubicBezTo>
                    <a:pt x="0" y="15987"/>
                    <a:pt x="1064" y="17433"/>
                    <a:pt x="2373" y="17433"/>
                  </a:cubicBezTo>
                  <a:cubicBezTo>
                    <a:pt x="3682" y="17433"/>
                    <a:pt x="5236" y="17433"/>
                    <a:pt x="5727" y="17433"/>
                  </a:cubicBezTo>
                  <a:cubicBezTo>
                    <a:pt x="6218" y="17433"/>
                    <a:pt x="6791" y="17688"/>
                    <a:pt x="7036" y="18028"/>
                  </a:cubicBezTo>
                  <a:cubicBezTo>
                    <a:pt x="7282" y="18369"/>
                    <a:pt x="8182" y="19474"/>
                    <a:pt x="9082" y="20580"/>
                  </a:cubicBezTo>
                  <a:cubicBezTo>
                    <a:pt x="10064" y="21600"/>
                    <a:pt x="11536" y="21600"/>
                    <a:pt x="12436" y="20580"/>
                  </a:cubicBezTo>
                  <a:cubicBezTo>
                    <a:pt x="13418" y="19474"/>
                    <a:pt x="14318" y="18369"/>
                    <a:pt x="14564" y="18028"/>
                  </a:cubicBezTo>
                  <a:cubicBezTo>
                    <a:pt x="14809" y="17688"/>
                    <a:pt x="15300" y="17433"/>
                    <a:pt x="15627" y="17433"/>
                  </a:cubicBezTo>
                  <a:cubicBezTo>
                    <a:pt x="15955" y="17433"/>
                    <a:pt x="17427" y="17433"/>
                    <a:pt x="18900" y="17433"/>
                  </a:cubicBezTo>
                  <a:cubicBezTo>
                    <a:pt x="20373" y="17433"/>
                    <a:pt x="21600" y="15987"/>
                    <a:pt x="21600" y="14287"/>
                  </a:cubicBezTo>
                  <a:cubicBezTo>
                    <a:pt x="21600" y="3061"/>
                    <a:pt x="21600" y="3061"/>
                    <a:pt x="21600" y="3061"/>
                  </a:cubicBezTo>
                  <a:cubicBezTo>
                    <a:pt x="21600" y="1361"/>
                    <a:pt x="20209" y="0"/>
                    <a:pt x="18573" y="0"/>
                  </a:cubicBezTo>
                  <a:close/>
                  <a:moveTo>
                    <a:pt x="15627" y="10545"/>
                  </a:moveTo>
                  <a:cubicBezTo>
                    <a:pt x="5973" y="10545"/>
                    <a:pt x="5973" y="10545"/>
                    <a:pt x="5973" y="10545"/>
                  </a:cubicBezTo>
                  <a:cubicBezTo>
                    <a:pt x="5973" y="9354"/>
                    <a:pt x="5973" y="9354"/>
                    <a:pt x="5973" y="9354"/>
                  </a:cubicBezTo>
                  <a:cubicBezTo>
                    <a:pt x="15627" y="9354"/>
                    <a:pt x="15627" y="9354"/>
                    <a:pt x="15627" y="9354"/>
                  </a:cubicBezTo>
                  <a:lnTo>
                    <a:pt x="15627" y="10545"/>
                  </a:lnTo>
                  <a:close/>
                  <a:moveTo>
                    <a:pt x="15627" y="7483"/>
                  </a:moveTo>
                  <a:cubicBezTo>
                    <a:pt x="5973" y="7483"/>
                    <a:pt x="5973" y="7483"/>
                    <a:pt x="5973" y="7483"/>
                  </a:cubicBezTo>
                  <a:cubicBezTo>
                    <a:pt x="5973" y="6208"/>
                    <a:pt x="5973" y="6208"/>
                    <a:pt x="5973" y="6208"/>
                  </a:cubicBezTo>
                  <a:cubicBezTo>
                    <a:pt x="15627" y="6208"/>
                    <a:pt x="15627" y="6208"/>
                    <a:pt x="15627" y="6208"/>
                  </a:cubicBezTo>
                  <a:lnTo>
                    <a:pt x="15627" y="74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sp>
        <p:nvSpPr>
          <p:cNvPr id="20" name="椭圆 19"/>
          <p:cNvSpPr/>
          <p:nvPr>
            <p:custDataLst>
              <p:tags r:id="rId5"/>
            </p:custDataLst>
          </p:nvPr>
        </p:nvSpPr>
        <p:spPr>
          <a:xfrm>
            <a:off x="6569075" y="5090160"/>
            <a:ext cx="667385" cy="667385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6552116" y="1740831"/>
            <a:ext cx="667139" cy="667139"/>
            <a:chOff x="1324035" y="3564796"/>
            <a:chExt cx="735436" cy="735436"/>
          </a:xfrm>
        </p:grpSpPr>
        <p:sp>
          <p:nvSpPr>
            <p:cNvPr id="23" name="椭圆 22"/>
            <p:cNvSpPr/>
            <p:nvPr>
              <p:custDataLst>
                <p:tags r:id="rId7"/>
              </p:custDataLst>
            </p:nvPr>
          </p:nvSpPr>
          <p:spPr>
            <a:xfrm>
              <a:off x="1324035" y="3564796"/>
              <a:ext cx="735436" cy="735436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24" name="Freeform 247"/>
            <p:cNvSpPr/>
            <p:nvPr>
              <p:custDataLst>
                <p:tags r:id="rId8"/>
              </p:custDataLst>
            </p:nvPr>
          </p:nvSpPr>
          <p:spPr>
            <a:xfrm>
              <a:off x="1502389" y="3741844"/>
              <a:ext cx="373481" cy="373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7" h="20601" extrusionOk="0">
                  <a:moveTo>
                    <a:pt x="19823" y="17953"/>
                  </a:moveTo>
                  <a:cubicBezTo>
                    <a:pt x="14653" y="12784"/>
                    <a:pt x="14653" y="12784"/>
                    <a:pt x="14653" y="12784"/>
                  </a:cubicBezTo>
                  <a:cubicBezTo>
                    <a:pt x="14653" y="12784"/>
                    <a:pt x="14561" y="12692"/>
                    <a:pt x="14561" y="12692"/>
                  </a:cubicBezTo>
                  <a:cubicBezTo>
                    <a:pt x="16776" y="9553"/>
                    <a:pt x="16500" y="5215"/>
                    <a:pt x="13638" y="2353"/>
                  </a:cubicBezTo>
                  <a:cubicBezTo>
                    <a:pt x="10500" y="-785"/>
                    <a:pt x="5423" y="-785"/>
                    <a:pt x="2284" y="2353"/>
                  </a:cubicBezTo>
                  <a:cubicBezTo>
                    <a:pt x="-762" y="5492"/>
                    <a:pt x="-762" y="10569"/>
                    <a:pt x="2284" y="13707"/>
                  </a:cubicBezTo>
                  <a:cubicBezTo>
                    <a:pt x="5146" y="16477"/>
                    <a:pt x="9484" y="16753"/>
                    <a:pt x="12623" y="14538"/>
                  </a:cubicBezTo>
                  <a:cubicBezTo>
                    <a:pt x="12715" y="14630"/>
                    <a:pt x="12715" y="14630"/>
                    <a:pt x="12807" y="14723"/>
                  </a:cubicBezTo>
                  <a:cubicBezTo>
                    <a:pt x="17884" y="19800"/>
                    <a:pt x="17884" y="19800"/>
                    <a:pt x="17884" y="19800"/>
                  </a:cubicBezTo>
                  <a:cubicBezTo>
                    <a:pt x="18715" y="20630"/>
                    <a:pt x="19730" y="20815"/>
                    <a:pt x="20284" y="20353"/>
                  </a:cubicBezTo>
                  <a:cubicBezTo>
                    <a:pt x="20838" y="19800"/>
                    <a:pt x="20561" y="18692"/>
                    <a:pt x="19823" y="17953"/>
                  </a:cubicBezTo>
                  <a:close/>
                  <a:moveTo>
                    <a:pt x="4130" y="11861"/>
                  </a:moveTo>
                  <a:cubicBezTo>
                    <a:pt x="2100" y="9738"/>
                    <a:pt x="2100" y="6323"/>
                    <a:pt x="4130" y="4200"/>
                  </a:cubicBezTo>
                  <a:cubicBezTo>
                    <a:pt x="6253" y="2077"/>
                    <a:pt x="9669" y="2077"/>
                    <a:pt x="11792" y="4200"/>
                  </a:cubicBezTo>
                  <a:cubicBezTo>
                    <a:pt x="13915" y="6323"/>
                    <a:pt x="13915" y="9738"/>
                    <a:pt x="11792" y="11861"/>
                  </a:cubicBezTo>
                  <a:cubicBezTo>
                    <a:pt x="9669" y="13984"/>
                    <a:pt x="6253" y="13984"/>
                    <a:pt x="4130" y="1186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6547466" y="2847531"/>
            <a:ext cx="667139" cy="667139"/>
            <a:chOff x="4252612" y="3564796"/>
            <a:chExt cx="735436" cy="735436"/>
          </a:xfrm>
        </p:grpSpPr>
        <p:sp>
          <p:nvSpPr>
            <p:cNvPr id="26" name="椭圆 25"/>
            <p:cNvSpPr/>
            <p:nvPr>
              <p:custDataLst>
                <p:tags r:id="rId10"/>
              </p:custDataLst>
            </p:nvPr>
          </p:nvSpPr>
          <p:spPr>
            <a:xfrm>
              <a:off x="4252612" y="3564796"/>
              <a:ext cx="735436" cy="735436"/>
            </a:xfrm>
            <a:prstGeom prst="ellipse">
              <a:avLst/>
            </a:prstGeom>
            <a:solidFill>
              <a:srgbClr val="F8B3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434187" y="3798059"/>
              <a:ext cx="367837" cy="289705"/>
              <a:chOff x="9655187" y="904938"/>
              <a:chExt cx="447597" cy="352523"/>
            </a:xfrm>
            <a:solidFill>
              <a:schemeClr val="bg1"/>
            </a:solidFill>
          </p:grpSpPr>
          <p:sp>
            <p:nvSpPr>
              <p:cNvPr id="28" name="Freeform 258"/>
              <p:cNvSpPr/>
              <p:nvPr>
                <p:custDataLst>
                  <p:tags r:id="rId11"/>
                </p:custDataLst>
              </p:nvPr>
            </p:nvSpPr>
            <p:spPr>
              <a:xfrm>
                <a:off x="9666937" y="916689"/>
                <a:ext cx="435847" cy="340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09" y="0"/>
                    </a:moveTo>
                    <a:cubicBezTo>
                      <a:pt x="14455" y="0"/>
                      <a:pt x="14455" y="0"/>
                      <a:pt x="14455" y="0"/>
                    </a:cubicBezTo>
                    <a:cubicBezTo>
                      <a:pt x="14455" y="2341"/>
                      <a:pt x="14455" y="2341"/>
                      <a:pt x="14455" y="2341"/>
                    </a:cubicBezTo>
                    <a:cubicBezTo>
                      <a:pt x="18609" y="2341"/>
                      <a:pt x="18609" y="2341"/>
                      <a:pt x="18609" y="2341"/>
                    </a:cubicBezTo>
                    <a:cubicBezTo>
                      <a:pt x="19274" y="2341"/>
                      <a:pt x="19855" y="2979"/>
                      <a:pt x="19855" y="3831"/>
                    </a:cubicBezTo>
                    <a:cubicBezTo>
                      <a:pt x="19855" y="17663"/>
                      <a:pt x="19855" y="17663"/>
                      <a:pt x="19855" y="17663"/>
                    </a:cubicBezTo>
                    <a:cubicBezTo>
                      <a:pt x="19855" y="18514"/>
                      <a:pt x="19274" y="19259"/>
                      <a:pt x="18609" y="19259"/>
                    </a:cubicBezTo>
                    <a:cubicBezTo>
                      <a:pt x="2991" y="19259"/>
                      <a:pt x="2991" y="19259"/>
                      <a:pt x="2991" y="19259"/>
                    </a:cubicBezTo>
                    <a:cubicBezTo>
                      <a:pt x="2326" y="19259"/>
                      <a:pt x="1828" y="18514"/>
                      <a:pt x="1828" y="17663"/>
                    </a:cubicBezTo>
                    <a:cubicBezTo>
                      <a:pt x="1828" y="13088"/>
                      <a:pt x="1828" y="13088"/>
                      <a:pt x="1828" y="13088"/>
                    </a:cubicBezTo>
                    <a:cubicBezTo>
                      <a:pt x="0" y="13088"/>
                      <a:pt x="0" y="13088"/>
                      <a:pt x="0" y="13088"/>
                    </a:cubicBezTo>
                    <a:cubicBezTo>
                      <a:pt x="0" y="17663"/>
                      <a:pt x="0" y="17663"/>
                      <a:pt x="0" y="17663"/>
                    </a:cubicBezTo>
                    <a:cubicBezTo>
                      <a:pt x="0" y="19791"/>
                      <a:pt x="1329" y="21600"/>
                      <a:pt x="2991" y="21600"/>
                    </a:cubicBezTo>
                    <a:cubicBezTo>
                      <a:pt x="18609" y="21600"/>
                      <a:pt x="18609" y="21600"/>
                      <a:pt x="18609" y="21600"/>
                    </a:cubicBezTo>
                    <a:cubicBezTo>
                      <a:pt x="20271" y="21600"/>
                      <a:pt x="21600" y="19791"/>
                      <a:pt x="21600" y="17663"/>
                    </a:cubicBezTo>
                    <a:cubicBezTo>
                      <a:pt x="21600" y="3831"/>
                      <a:pt x="21600" y="3831"/>
                      <a:pt x="21600" y="3831"/>
                    </a:cubicBezTo>
                    <a:cubicBezTo>
                      <a:pt x="21600" y="1702"/>
                      <a:pt x="20271" y="0"/>
                      <a:pt x="18609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  <p:sp>
            <p:nvSpPr>
              <p:cNvPr id="29" name="Freeform 259"/>
              <p:cNvSpPr/>
              <p:nvPr>
                <p:custDataLst>
                  <p:tags r:id="rId12"/>
                </p:custDataLst>
              </p:nvPr>
            </p:nvSpPr>
            <p:spPr>
              <a:xfrm>
                <a:off x="9655187" y="904938"/>
                <a:ext cx="120713" cy="171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179" extrusionOk="0">
                    <a:moveTo>
                      <a:pt x="0" y="20977"/>
                    </a:moveTo>
                    <a:cubicBezTo>
                      <a:pt x="4500" y="21600"/>
                      <a:pt x="9600" y="20769"/>
                      <a:pt x="13800" y="18692"/>
                    </a:cubicBezTo>
                    <a:cubicBezTo>
                      <a:pt x="15900" y="17654"/>
                      <a:pt x="18000" y="16200"/>
                      <a:pt x="19200" y="14538"/>
                    </a:cubicBezTo>
                    <a:cubicBezTo>
                      <a:pt x="19800" y="13708"/>
                      <a:pt x="20400" y="12669"/>
                      <a:pt x="20700" y="11838"/>
                    </a:cubicBezTo>
                    <a:cubicBezTo>
                      <a:pt x="21000" y="11423"/>
                      <a:pt x="21300" y="10800"/>
                      <a:pt x="21300" y="10385"/>
                    </a:cubicBezTo>
                    <a:cubicBezTo>
                      <a:pt x="21600" y="9554"/>
                      <a:pt x="21600" y="9554"/>
                      <a:pt x="21600" y="9554"/>
                    </a:cubicBezTo>
                    <a:cubicBezTo>
                      <a:pt x="21600" y="8931"/>
                      <a:pt x="21600" y="8931"/>
                      <a:pt x="21600" y="8931"/>
                    </a:cubicBezTo>
                    <a:cubicBezTo>
                      <a:pt x="21300" y="8931"/>
                      <a:pt x="21300" y="8931"/>
                      <a:pt x="21300" y="8931"/>
                    </a:cubicBezTo>
                    <a:cubicBezTo>
                      <a:pt x="21600" y="8515"/>
                      <a:pt x="21600" y="7892"/>
                      <a:pt x="21600" y="7477"/>
                    </a:cubicBezTo>
                    <a:cubicBezTo>
                      <a:pt x="21600" y="3323"/>
                      <a:pt x="16800" y="0"/>
                      <a:pt x="10800" y="0"/>
                    </a:cubicBezTo>
                    <a:cubicBezTo>
                      <a:pt x="4800" y="0"/>
                      <a:pt x="0" y="3323"/>
                      <a:pt x="0" y="7477"/>
                    </a:cubicBezTo>
                    <a:cubicBezTo>
                      <a:pt x="0" y="11631"/>
                      <a:pt x="4800" y="14954"/>
                      <a:pt x="10800" y="14954"/>
                    </a:cubicBezTo>
                    <a:cubicBezTo>
                      <a:pt x="11100" y="14954"/>
                      <a:pt x="11400" y="14954"/>
                      <a:pt x="11400" y="14954"/>
                    </a:cubicBezTo>
                    <a:cubicBezTo>
                      <a:pt x="11100" y="15369"/>
                      <a:pt x="10800" y="15785"/>
                      <a:pt x="10500" y="16200"/>
                    </a:cubicBezTo>
                    <a:cubicBezTo>
                      <a:pt x="8100" y="18485"/>
                      <a:pt x="4500" y="20354"/>
                      <a:pt x="0" y="20977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  <p:sp>
            <p:nvSpPr>
              <p:cNvPr id="30" name="Freeform 26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787650" y="904938"/>
                <a:ext cx="122850" cy="171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179" extrusionOk="0">
                    <a:moveTo>
                      <a:pt x="0" y="20977"/>
                    </a:moveTo>
                    <a:cubicBezTo>
                      <a:pt x="4438" y="21600"/>
                      <a:pt x="9764" y="20769"/>
                      <a:pt x="13907" y="18692"/>
                    </a:cubicBezTo>
                    <a:cubicBezTo>
                      <a:pt x="15978" y="17654"/>
                      <a:pt x="17753" y="16200"/>
                      <a:pt x="19233" y="14538"/>
                    </a:cubicBezTo>
                    <a:cubicBezTo>
                      <a:pt x="19825" y="13708"/>
                      <a:pt x="20416" y="12669"/>
                      <a:pt x="20712" y="11838"/>
                    </a:cubicBezTo>
                    <a:cubicBezTo>
                      <a:pt x="21008" y="11423"/>
                      <a:pt x="21008" y="10800"/>
                      <a:pt x="21304" y="10385"/>
                    </a:cubicBezTo>
                    <a:cubicBezTo>
                      <a:pt x="21304" y="9554"/>
                      <a:pt x="21304" y="9554"/>
                      <a:pt x="21304" y="9554"/>
                    </a:cubicBezTo>
                    <a:cubicBezTo>
                      <a:pt x="21600" y="8931"/>
                      <a:pt x="21600" y="8931"/>
                      <a:pt x="21600" y="8931"/>
                    </a:cubicBezTo>
                    <a:cubicBezTo>
                      <a:pt x="21304" y="8931"/>
                      <a:pt x="21304" y="8931"/>
                      <a:pt x="21304" y="8931"/>
                    </a:cubicBezTo>
                    <a:cubicBezTo>
                      <a:pt x="21304" y="8515"/>
                      <a:pt x="21600" y="7892"/>
                      <a:pt x="21600" y="7477"/>
                    </a:cubicBezTo>
                    <a:cubicBezTo>
                      <a:pt x="21600" y="3323"/>
                      <a:pt x="16570" y="0"/>
                      <a:pt x="10652" y="0"/>
                    </a:cubicBezTo>
                    <a:cubicBezTo>
                      <a:pt x="4734" y="0"/>
                      <a:pt x="0" y="3323"/>
                      <a:pt x="0" y="7477"/>
                    </a:cubicBezTo>
                    <a:cubicBezTo>
                      <a:pt x="0" y="11631"/>
                      <a:pt x="4734" y="14954"/>
                      <a:pt x="10652" y="14954"/>
                    </a:cubicBezTo>
                    <a:cubicBezTo>
                      <a:pt x="10948" y="14954"/>
                      <a:pt x="11244" y="14954"/>
                      <a:pt x="11540" y="14954"/>
                    </a:cubicBezTo>
                    <a:cubicBezTo>
                      <a:pt x="11244" y="15369"/>
                      <a:pt x="10948" y="15785"/>
                      <a:pt x="10356" y="16200"/>
                    </a:cubicBezTo>
                    <a:cubicBezTo>
                      <a:pt x="8285" y="18485"/>
                      <a:pt x="4438" y="20354"/>
                      <a:pt x="0" y="20977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</p:grp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" t="14379" r="519" b="7041"/>
          <a:stretch>
            <a:fillRect/>
          </a:stretch>
        </p:blipFill>
        <p:spPr>
          <a:xfrm>
            <a:off x="630340" y="1667445"/>
            <a:ext cx="5487134" cy="2884247"/>
          </a:xfrm>
          <a:custGeom>
            <a:avLst/>
            <a:gdLst>
              <a:gd name="connsiteX0" fmla="*/ 0 w 5487134"/>
              <a:gd name="connsiteY0" fmla="*/ 0 h 2884247"/>
              <a:gd name="connsiteX1" fmla="*/ 5487134 w 5487134"/>
              <a:gd name="connsiteY1" fmla="*/ 0 h 2884247"/>
              <a:gd name="connsiteX2" fmla="*/ 5487134 w 5487134"/>
              <a:gd name="connsiteY2" fmla="*/ 2884247 h 2884247"/>
              <a:gd name="connsiteX3" fmla="*/ 0 w 5487134"/>
              <a:gd name="connsiteY3" fmla="*/ 2884247 h 288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7134" h="2884247">
                <a:moveTo>
                  <a:pt x="0" y="0"/>
                </a:moveTo>
                <a:lnTo>
                  <a:pt x="5487134" y="0"/>
                </a:lnTo>
                <a:lnTo>
                  <a:pt x="5487134" y="2884247"/>
                </a:lnTo>
                <a:lnTo>
                  <a:pt x="0" y="2884247"/>
                </a:lnTo>
                <a:close/>
              </a:path>
            </a:pathLst>
          </a:cu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9" name="图片 38" descr="E:/用户/download/电子电路PPT/11.png11"/>
          <p:cNvPicPr>
            <a:picLocks noChangeAspect="1"/>
          </p:cNvPicPr>
          <p:nvPr/>
        </p:nvPicPr>
        <p:blipFill>
          <a:blip r:embed="rId15"/>
          <a:srcRect l="3409" r="3409"/>
          <a:stretch>
            <a:fillRect/>
          </a:stretch>
        </p:blipFill>
        <p:spPr>
          <a:xfrm>
            <a:off x="630340" y="1637949"/>
            <a:ext cx="5487134" cy="2916000"/>
          </a:xfrm>
          <a:custGeom>
            <a:avLst/>
            <a:gdLst>
              <a:gd name="connsiteX0" fmla="*/ 0 w 5487134"/>
              <a:gd name="connsiteY0" fmla="*/ 0 h 2916000"/>
              <a:gd name="connsiteX1" fmla="*/ 5487134 w 5487134"/>
              <a:gd name="connsiteY1" fmla="*/ 0 h 2916000"/>
              <a:gd name="connsiteX2" fmla="*/ 5487134 w 5487134"/>
              <a:gd name="connsiteY2" fmla="*/ 2916000 h 2916000"/>
              <a:gd name="connsiteX3" fmla="*/ 0 w 5487134"/>
              <a:gd name="connsiteY3" fmla="*/ 2916000 h 29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7134" h="2916000">
                <a:moveTo>
                  <a:pt x="0" y="0"/>
                </a:moveTo>
                <a:lnTo>
                  <a:pt x="5487134" y="0"/>
                </a:lnTo>
                <a:lnTo>
                  <a:pt x="5487134" y="2916000"/>
                </a:lnTo>
                <a:lnTo>
                  <a:pt x="0" y="2916000"/>
                </a:lnTo>
                <a:close/>
              </a:path>
            </a:pathLst>
          </a:custGeom>
        </p:spPr>
      </p:pic>
      <p:grpSp>
        <p:nvGrpSpPr>
          <p:cNvPr id="40" name="组合 39"/>
          <p:cNvGrpSpPr/>
          <p:nvPr/>
        </p:nvGrpSpPr>
        <p:grpSpPr>
          <a:xfrm>
            <a:off x="624518" y="4695984"/>
            <a:ext cx="5465660" cy="1316363"/>
            <a:chOff x="623179" y="1861173"/>
            <a:chExt cx="5465660" cy="1316363"/>
          </a:xfrm>
        </p:grpSpPr>
        <p:sp>
          <p:nvSpPr>
            <p:cNvPr id="41" name="矩形 40"/>
            <p:cNvSpPr/>
            <p:nvPr/>
          </p:nvSpPr>
          <p:spPr>
            <a:xfrm>
              <a:off x="651466" y="2255516"/>
              <a:ext cx="5437373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95748D"/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螺丝松动是工业设施中一个看似微小却代价高昂的隐患。它始于不易察觉的细微变化，却能引发设备振动加剧、部件位移乃至结构性失效，最终导致非计划停机、生产中断，甚至引发严重安全事故。</a:t>
              </a:r>
              <a:endParaRPr lang="zh-CN" altLang="en-US" sz="1200" dirty="0">
                <a:solidFill>
                  <a:srgbClr val="95748D"/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623179" y="1861173"/>
              <a:ext cx="2099310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螺帽未拧紧的危害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6"/>
            </p:custDataLst>
          </p:nvPr>
        </p:nvGrpSpPr>
        <p:grpSpPr>
          <a:xfrm>
            <a:off x="7393746" y="1630639"/>
            <a:ext cx="4154227" cy="859163"/>
            <a:chOff x="635879" y="2038338"/>
            <a:chExt cx="4154227" cy="859163"/>
          </a:xfrm>
        </p:grpSpPr>
        <p:sp>
          <p:nvSpPr>
            <p:cNvPr id="44" name="矩形 43"/>
            <p:cNvSpPr/>
            <p:nvPr>
              <p:custDataLst>
                <p:tags r:id="rId17"/>
              </p:custDataLst>
            </p:nvPr>
          </p:nvSpPr>
          <p:spPr>
            <a:xfrm>
              <a:off x="651466" y="2321556"/>
              <a:ext cx="4138640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长期振动工况下易逐渐松脱</a:t>
              </a:r>
              <a:endParaRPr lang="en-US" altLang="zh-CN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连接刚度下降，产生位移或异响</a:t>
              </a: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18"/>
              </p:custDataLst>
            </p:nvPr>
          </p:nvSpPr>
          <p:spPr>
            <a:xfrm>
              <a:off x="635879" y="2038338"/>
              <a:ext cx="2846070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结构松动，导致设备失效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60" name="组合 59"/>
          <p:cNvGrpSpPr/>
          <p:nvPr>
            <p:custDataLst>
              <p:tags r:id="rId19"/>
            </p:custDataLst>
          </p:nvPr>
        </p:nvGrpSpPr>
        <p:grpSpPr>
          <a:xfrm>
            <a:off x="7393746" y="2720876"/>
            <a:ext cx="4154227" cy="859163"/>
            <a:chOff x="635879" y="2038338"/>
            <a:chExt cx="4154227" cy="859163"/>
          </a:xfrm>
        </p:grpSpPr>
        <p:sp>
          <p:nvSpPr>
            <p:cNvPr id="61" name="矩形 60"/>
            <p:cNvSpPr/>
            <p:nvPr>
              <p:custDataLst>
                <p:tags r:id="rId20"/>
              </p:custDataLst>
            </p:nvPr>
          </p:nvSpPr>
          <p:spPr>
            <a:xfrm>
              <a:off x="651466" y="2321556"/>
              <a:ext cx="4138640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车辆、机械设备中可能导致：</a:t>
              </a:r>
              <a:endParaRPr lang="en-US" altLang="zh-CN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结构脱落、零部件损坏、人员伤害事故</a:t>
              </a: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21"/>
              </p:custDataLst>
            </p:nvPr>
          </p:nvSpPr>
          <p:spPr>
            <a:xfrm>
              <a:off x="635879" y="2038338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引发连锁安全事故</a:t>
              </a:r>
              <a:endParaRPr lang="zh-CN" altLang="en-US" sz="1400" b="1" dirty="0">
                <a:solidFill>
                  <a:srgbClr val="95748D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grpSp>
        <p:nvGrpSpPr>
          <p:cNvPr id="63" name="组合 62"/>
          <p:cNvGrpSpPr/>
          <p:nvPr>
            <p:custDataLst>
              <p:tags r:id="rId22"/>
            </p:custDataLst>
          </p:nvPr>
        </p:nvGrpSpPr>
        <p:grpSpPr>
          <a:xfrm>
            <a:off x="7393746" y="3840140"/>
            <a:ext cx="4154227" cy="1101733"/>
            <a:chOff x="635879" y="2038338"/>
            <a:chExt cx="4154227" cy="1101733"/>
          </a:xfrm>
        </p:grpSpPr>
        <p:sp>
          <p:nvSpPr>
            <p:cNvPr id="64" name="矩形 63"/>
            <p:cNvSpPr/>
            <p:nvPr>
              <p:custDataLst>
                <p:tags r:id="rId23"/>
              </p:custDataLst>
            </p:nvPr>
          </p:nvSpPr>
          <p:spPr>
            <a:xfrm>
              <a:off x="651466" y="2321556"/>
              <a:ext cx="4138640" cy="818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轻则反复返工</a:t>
              </a:r>
              <a:endParaRPr lang="en-US" altLang="zh-CN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重则整机停产、事故维修</a:t>
              </a:r>
              <a:endParaRPr lang="en-US" altLang="zh-CN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实际成本远高于一次检测投入</a:t>
              </a: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24"/>
              </p:custDataLst>
            </p:nvPr>
          </p:nvSpPr>
          <p:spPr>
            <a:xfrm>
              <a:off x="635879" y="2038338"/>
              <a:ext cx="255460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维护成本和停机损失显著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25"/>
            </p:custDataLst>
          </p:nvPr>
        </p:nvGrpSpPr>
        <p:grpSpPr>
          <a:xfrm>
            <a:off x="7393746" y="4958385"/>
            <a:ext cx="4154227" cy="859163"/>
            <a:chOff x="635879" y="2038338"/>
            <a:chExt cx="4154227" cy="859163"/>
          </a:xfrm>
        </p:grpSpPr>
        <p:sp>
          <p:nvSpPr>
            <p:cNvPr id="67" name="矩形 66"/>
            <p:cNvSpPr/>
            <p:nvPr>
              <p:custDataLst>
                <p:tags r:id="rId26"/>
              </p:custDataLst>
            </p:nvPr>
          </p:nvSpPr>
          <p:spPr>
            <a:xfrm>
              <a:off x="651466" y="2321556"/>
              <a:ext cx="4138640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初期无明显异常</a:t>
              </a:r>
              <a:endParaRPr lang="en-US" altLang="zh-CN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问题暴露时往往已造成严重后果</a:t>
              </a: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27"/>
              </p:custDataLst>
            </p:nvPr>
          </p:nvSpPr>
          <p:spPr>
            <a:xfrm>
              <a:off x="635879" y="2038338"/>
              <a:ext cx="295338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隐蔽性强，事故具有滞后性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151546" y="563081"/>
            <a:ext cx="19412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项目</a:t>
            </a:r>
            <a:r>
              <a: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rPr>
              <a:t>背景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sp>
        <p:nvSpPr>
          <p:cNvPr id="216" name="Freeform 19"/>
          <p:cNvSpPr/>
          <p:nvPr/>
        </p:nvSpPr>
        <p:spPr>
          <a:xfrm>
            <a:off x="6842544" y="5272081"/>
            <a:ext cx="121570" cy="46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320" y="21600"/>
                </a:moveTo>
                <a:cubicBezTo>
                  <a:pt x="4320" y="10232"/>
                  <a:pt x="4320" y="10232"/>
                  <a:pt x="4320" y="10232"/>
                </a:cubicBezTo>
                <a:cubicBezTo>
                  <a:pt x="17280" y="10232"/>
                  <a:pt x="17280" y="10232"/>
                  <a:pt x="17280" y="10232"/>
                </a:cubicBezTo>
                <a:cubicBezTo>
                  <a:pt x="17280" y="21600"/>
                  <a:pt x="17280" y="21600"/>
                  <a:pt x="1728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0232"/>
                  <a:pt x="21600" y="10232"/>
                  <a:pt x="21600" y="10232"/>
                </a:cubicBezTo>
                <a:cubicBezTo>
                  <a:pt x="21600" y="4547"/>
                  <a:pt x="19440" y="0"/>
                  <a:pt x="17280" y="0"/>
                </a:cubicBezTo>
                <a:cubicBezTo>
                  <a:pt x="4320" y="0"/>
                  <a:pt x="4320" y="0"/>
                  <a:pt x="4320" y="0"/>
                </a:cubicBezTo>
                <a:cubicBezTo>
                  <a:pt x="2160" y="0"/>
                  <a:pt x="0" y="4547"/>
                  <a:pt x="0" y="10232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4320" y="21600"/>
                  <a:pt x="4320" y="21600"/>
                  <a:pt x="4320" y="2160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17" name="Freeform 20"/>
          <p:cNvSpPr/>
          <p:nvPr/>
        </p:nvSpPr>
        <p:spPr>
          <a:xfrm>
            <a:off x="6747760" y="5330805"/>
            <a:ext cx="311136" cy="190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13" y="0"/>
                </a:moveTo>
                <a:cubicBezTo>
                  <a:pt x="1687" y="0"/>
                  <a:pt x="1687" y="0"/>
                  <a:pt x="1687" y="0"/>
                </a:cubicBezTo>
                <a:cubicBezTo>
                  <a:pt x="675" y="0"/>
                  <a:pt x="0" y="1108"/>
                  <a:pt x="0" y="2769"/>
                </a:cubicBezTo>
                <a:cubicBezTo>
                  <a:pt x="0" y="19108"/>
                  <a:pt x="0" y="19108"/>
                  <a:pt x="0" y="19108"/>
                </a:cubicBezTo>
                <a:cubicBezTo>
                  <a:pt x="0" y="20492"/>
                  <a:pt x="675" y="21600"/>
                  <a:pt x="1687" y="21600"/>
                </a:cubicBezTo>
                <a:cubicBezTo>
                  <a:pt x="19913" y="21600"/>
                  <a:pt x="19913" y="21600"/>
                  <a:pt x="19913" y="21600"/>
                </a:cubicBezTo>
                <a:cubicBezTo>
                  <a:pt x="20925" y="21600"/>
                  <a:pt x="21600" y="20492"/>
                  <a:pt x="21600" y="19108"/>
                </a:cubicBezTo>
                <a:cubicBezTo>
                  <a:pt x="21600" y="2769"/>
                  <a:pt x="21600" y="2769"/>
                  <a:pt x="21600" y="2769"/>
                </a:cubicBezTo>
                <a:cubicBezTo>
                  <a:pt x="21600" y="1108"/>
                  <a:pt x="20925" y="0"/>
                  <a:pt x="19913" y="0"/>
                </a:cubicBezTo>
                <a:close/>
                <a:moveTo>
                  <a:pt x="10800" y="17446"/>
                </a:moveTo>
                <a:cubicBezTo>
                  <a:pt x="8437" y="17446"/>
                  <a:pt x="6581" y="14400"/>
                  <a:pt x="6581" y="10523"/>
                </a:cubicBezTo>
                <a:cubicBezTo>
                  <a:pt x="6581" y="6923"/>
                  <a:pt x="8437" y="3877"/>
                  <a:pt x="10800" y="3877"/>
                </a:cubicBezTo>
                <a:cubicBezTo>
                  <a:pt x="13163" y="3877"/>
                  <a:pt x="15019" y="6923"/>
                  <a:pt x="15019" y="10523"/>
                </a:cubicBezTo>
                <a:cubicBezTo>
                  <a:pt x="15019" y="14400"/>
                  <a:pt x="13163" y="17446"/>
                  <a:pt x="10800" y="17446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18" name="Freeform 21"/>
          <p:cNvSpPr/>
          <p:nvPr/>
        </p:nvSpPr>
        <p:spPr>
          <a:xfrm>
            <a:off x="6866239" y="5389530"/>
            <a:ext cx="73148" cy="7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03" y="0"/>
                </a:moveTo>
                <a:lnTo>
                  <a:pt x="7301" y="0"/>
                </a:lnTo>
                <a:lnTo>
                  <a:pt x="7301" y="7301"/>
                </a:lnTo>
                <a:lnTo>
                  <a:pt x="0" y="7301"/>
                </a:lnTo>
                <a:lnTo>
                  <a:pt x="0" y="14299"/>
                </a:lnTo>
                <a:lnTo>
                  <a:pt x="7301" y="14299"/>
                </a:lnTo>
                <a:lnTo>
                  <a:pt x="7301" y="21600"/>
                </a:lnTo>
                <a:lnTo>
                  <a:pt x="14603" y="21600"/>
                </a:lnTo>
                <a:lnTo>
                  <a:pt x="14603" y="14299"/>
                </a:lnTo>
                <a:lnTo>
                  <a:pt x="21600" y="14299"/>
                </a:lnTo>
                <a:lnTo>
                  <a:pt x="21600" y="7301"/>
                </a:lnTo>
                <a:lnTo>
                  <a:pt x="14603" y="7301"/>
                </a:lnTo>
                <a:lnTo>
                  <a:pt x="14603" y="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4" name="矩形 33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E:/用户/download/电子电路PPT/1606802236135912.png1606802236135912"/>
          <p:cNvPicPr>
            <a:picLocks noChangeAspect="1"/>
          </p:cNvPicPr>
          <p:nvPr/>
        </p:nvPicPr>
        <p:blipFill>
          <a:blip r:embed="rId2"/>
          <a:srcRect t="39258"/>
          <a:stretch>
            <a:fillRect/>
          </a:stretch>
        </p:blipFill>
        <p:spPr>
          <a:xfrm>
            <a:off x="460204" y="1374578"/>
            <a:ext cx="11283119" cy="2558056"/>
          </a:xfrm>
          <a:custGeom>
            <a:avLst/>
            <a:gdLst>
              <a:gd name="connsiteX0" fmla="*/ 0 w 11283119"/>
              <a:gd name="connsiteY0" fmla="*/ 0 h 2558056"/>
              <a:gd name="connsiteX1" fmla="*/ 11283119 w 11283119"/>
              <a:gd name="connsiteY1" fmla="*/ 0 h 2558056"/>
              <a:gd name="connsiteX2" fmla="*/ 11283119 w 11283119"/>
              <a:gd name="connsiteY2" fmla="*/ 2558056 h 2558056"/>
              <a:gd name="connsiteX3" fmla="*/ 0 w 11283119"/>
              <a:gd name="connsiteY3" fmla="*/ 2558056 h 2558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83119" h="2558056">
                <a:moveTo>
                  <a:pt x="0" y="0"/>
                </a:moveTo>
                <a:lnTo>
                  <a:pt x="11283119" y="0"/>
                </a:lnTo>
                <a:lnTo>
                  <a:pt x="11283119" y="2558056"/>
                </a:lnTo>
                <a:lnTo>
                  <a:pt x="0" y="2558056"/>
                </a:lnTo>
                <a:close/>
              </a:path>
            </a:pathLst>
          </a:custGeom>
        </p:spPr>
      </p:pic>
      <p:grpSp>
        <p:nvGrpSpPr>
          <p:cNvPr id="36" name="组合 35"/>
          <p:cNvGrpSpPr/>
          <p:nvPr/>
        </p:nvGrpSpPr>
        <p:grpSpPr>
          <a:xfrm rot="0">
            <a:off x="630555" y="640080"/>
            <a:ext cx="454025" cy="241300"/>
            <a:chOff x="-14468885" y="-125990"/>
            <a:chExt cx="924334" cy="468890"/>
          </a:xfrm>
        </p:grpSpPr>
        <p:sp>
          <p:nvSpPr>
            <p:cNvPr id="38" name="燕尾形 37"/>
            <p:cNvSpPr/>
            <p:nvPr/>
          </p:nvSpPr>
          <p:spPr>
            <a:xfrm>
              <a:off x="-14468885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燕尾形 38"/>
            <p:cNvSpPr/>
            <p:nvPr/>
          </p:nvSpPr>
          <p:spPr>
            <a:xfrm>
              <a:off x="-14187898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燕尾形 39"/>
            <p:cNvSpPr/>
            <p:nvPr/>
          </p:nvSpPr>
          <p:spPr>
            <a:xfrm>
              <a:off x="-13906911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688803" y="4266320"/>
            <a:ext cx="550595" cy="550595"/>
          </a:xfrm>
          <a:prstGeom prst="ellipse">
            <a:avLst/>
          </a:prstGeom>
          <a:solidFill>
            <a:srgbClr val="BEAAB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688803" y="5447175"/>
            <a:ext cx="550595" cy="550595"/>
          </a:xfrm>
          <a:prstGeom prst="ellipse">
            <a:avLst/>
          </a:prstGeom>
          <a:solidFill>
            <a:srgbClr val="F8B3C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6252967" y="4295348"/>
            <a:ext cx="550595" cy="550595"/>
          </a:xfrm>
          <a:prstGeom prst="ellipse">
            <a:avLst/>
          </a:prstGeom>
          <a:solidFill>
            <a:srgbClr val="FCDB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951359" y="1374578"/>
            <a:ext cx="2791963" cy="2558056"/>
          </a:xfrm>
          <a:prstGeom prst="rect">
            <a:avLst/>
          </a:prstGeom>
          <a:solidFill>
            <a:srgbClr val="95748D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>
            <p:custDataLst>
              <p:tags r:id="rId6"/>
            </p:custDataLst>
          </p:nvPr>
        </p:nvGrpSpPr>
        <p:grpSpPr>
          <a:xfrm>
            <a:off x="1380754" y="4120366"/>
            <a:ext cx="4501885" cy="869707"/>
            <a:chOff x="307636" y="2109612"/>
            <a:chExt cx="4501885" cy="869707"/>
          </a:xfrm>
        </p:grpSpPr>
        <p:sp>
          <p:nvSpPr>
            <p:cNvPr id="51" name="矩形 50"/>
            <p:cNvSpPr/>
            <p:nvPr>
              <p:custDataLst>
                <p:tags r:id="rId7"/>
              </p:custDataLst>
            </p:nvPr>
          </p:nvSpPr>
          <p:spPr>
            <a:xfrm>
              <a:off x="320764" y="2403374"/>
              <a:ext cx="448875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几乎所有机械设备都存在螺纹连接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农机、汽车、工业设备、轨交、建筑设备等行业需求普遍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8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存量市场巨大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9"/>
            </p:custDataLst>
          </p:nvPr>
        </p:nvGrpSpPr>
        <p:grpSpPr>
          <a:xfrm>
            <a:off x="1380754" y="5282297"/>
            <a:ext cx="4501885" cy="1112277"/>
            <a:chOff x="307636" y="2109612"/>
            <a:chExt cx="4501885" cy="1112277"/>
          </a:xfrm>
        </p:grpSpPr>
        <p:sp>
          <p:nvSpPr>
            <p:cNvPr id="54" name="矩形 53"/>
            <p:cNvSpPr/>
            <p:nvPr>
              <p:custDataLst>
                <p:tags r:id="rId10"/>
              </p:custDataLst>
            </p:nvPr>
          </p:nvSpPr>
          <p:spPr>
            <a:xfrm>
              <a:off x="320764" y="2403374"/>
              <a:ext cx="4488757" cy="818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制造业对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“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质量可量化、可追溯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”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要求不断提升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本项目方案可作为：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工装检测模块、产线辅助检测单元、运维巡检工具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11"/>
              </p:custDataLst>
            </p:nvPr>
          </p:nvSpPr>
          <p:spPr>
            <a:xfrm>
              <a:off x="307636" y="2109612"/>
              <a:ext cx="313245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向智能制造、质量数字化转型的刚需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12"/>
            </p:custDataLst>
          </p:nvPr>
        </p:nvGrpSpPr>
        <p:grpSpPr>
          <a:xfrm>
            <a:off x="7017196" y="4120366"/>
            <a:ext cx="4501885" cy="1112277"/>
            <a:chOff x="307636" y="2109612"/>
            <a:chExt cx="4501885" cy="1112277"/>
          </a:xfrm>
        </p:grpSpPr>
        <p:sp>
          <p:nvSpPr>
            <p:cNvPr id="57" name="矩形 56"/>
            <p:cNvSpPr/>
            <p:nvPr>
              <p:custDataLst>
                <p:tags r:id="rId13"/>
              </p:custDataLst>
            </p:nvPr>
          </p:nvSpPr>
          <p:spPr>
            <a:xfrm>
              <a:off x="320764" y="2403374"/>
              <a:ext cx="4488757" cy="818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高端扭矩监测系统价格高、部署复杂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中小企业难以承受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简单可靠的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“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合格性检测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”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设备需求强烈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58" name="矩形 57"/>
            <p:cNvSpPr/>
            <p:nvPr>
              <p:custDataLst>
                <p:tags r:id="rId14"/>
              </p:custDataLst>
            </p:nvPr>
          </p:nvSpPr>
          <p:spPr>
            <a:xfrm>
              <a:off x="307636" y="2109612"/>
              <a:ext cx="253174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中低端检测市场长期空缺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5"/>
            </p:custDataLst>
          </p:nvPr>
        </p:nvGrpSpPr>
        <p:grpSpPr>
          <a:xfrm>
            <a:off x="822998" y="5611473"/>
            <a:ext cx="276994" cy="202947"/>
            <a:chOff x="5403758" y="2773540"/>
            <a:chExt cx="276994" cy="202947"/>
          </a:xfrm>
        </p:grpSpPr>
        <p:sp>
          <p:nvSpPr>
            <p:cNvPr id="43" name="Freeform 144"/>
            <p:cNvSpPr/>
            <p:nvPr>
              <p:custDataLst>
                <p:tags r:id="rId16"/>
              </p:custDataLst>
            </p:nvPr>
          </p:nvSpPr>
          <p:spPr>
            <a:xfrm>
              <a:off x="5466835" y="2829305"/>
              <a:ext cx="213917" cy="147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27" y="6035"/>
                  </a:moveTo>
                  <a:cubicBezTo>
                    <a:pt x="17673" y="2541"/>
                    <a:pt x="15273" y="0"/>
                    <a:pt x="12655" y="0"/>
                  </a:cubicBezTo>
                  <a:cubicBezTo>
                    <a:pt x="10691" y="0"/>
                    <a:pt x="8727" y="1271"/>
                    <a:pt x="7636" y="3812"/>
                  </a:cubicBezTo>
                  <a:cubicBezTo>
                    <a:pt x="7200" y="3176"/>
                    <a:pt x="6545" y="2541"/>
                    <a:pt x="5673" y="2541"/>
                  </a:cubicBezTo>
                  <a:cubicBezTo>
                    <a:pt x="3927" y="2541"/>
                    <a:pt x="2618" y="4765"/>
                    <a:pt x="2618" y="7306"/>
                  </a:cubicBezTo>
                  <a:cubicBezTo>
                    <a:pt x="2618" y="7624"/>
                    <a:pt x="2618" y="8259"/>
                    <a:pt x="2618" y="8576"/>
                  </a:cubicBezTo>
                  <a:cubicBezTo>
                    <a:pt x="1091" y="9529"/>
                    <a:pt x="0" y="12071"/>
                    <a:pt x="0" y="14612"/>
                  </a:cubicBezTo>
                  <a:cubicBezTo>
                    <a:pt x="0" y="18424"/>
                    <a:pt x="1964" y="21600"/>
                    <a:pt x="4582" y="21600"/>
                  </a:cubicBezTo>
                  <a:cubicBezTo>
                    <a:pt x="16145" y="21600"/>
                    <a:pt x="16145" y="21600"/>
                    <a:pt x="16145" y="21600"/>
                  </a:cubicBezTo>
                  <a:cubicBezTo>
                    <a:pt x="19200" y="21600"/>
                    <a:pt x="21600" y="18106"/>
                    <a:pt x="21600" y="13659"/>
                  </a:cubicBezTo>
                  <a:cubicBezTo>
                    <a:pt x="21600" y="10165"/>
                    <a:pt x="20291" y="7306"/>
                    <a:pt x="18327" y="603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45" name="Freeform 145"/>
            <p:cNvSpPr/>
            <p:nvPr>
              <p:custDataLst>
                <p:tags r:id="rId17"/>
              </p:custDataLst>
            </p:nvPr>
          </p:nvSpPr>
          <p:spPr>
            <a:xfrm>
              <a:off x="5403758" y="2773540"/>
              <a:ext cx="202946" cy="177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13" y="6059"/>
                  </a:moveTo>
                  <a:cubicBezTo>
                    <a:pt x="8272" y="6059"/>
                    <a:pt x="8502" y="6322"/>
                    <a:pt x="8732" y="6585"/>
                  </a:cubicBezTo>
                  <a:cubicBezTo>
                    <a:pt x="9651" y="7376"/>
                    <a:pt x="9651" y="7376"/>
                    <a:pt x="9651" y="7376"/>
                  </a:cubicBezTo>
                  <a:cubicBezTo>
                    <a:pt x="9881" y="7376"/>
                    <a:pt x="10340" y="7112"/>
                    <a:pt x="10570" y="6849"/>
                  </a:cubicBezTo>
                  <a:cubicBezTo>
                    <a:pt x="10570" y="6849"/>
                    <a:pt x="10800" y="6849"/>
                    <a:pt x="10800" y="6849"/>
                  </a:cubicBezTo>
                  <a:cubicBezTo>
                    <a:pt x="11260" y="6322"/>
                    <a:pt x="11260" y="6322"/>
                    <a:pt x="11260" y="6322"/>
                  </a:cubicBezTo>
                  <a:cubicBezTo>
                    <a:pt x="11949" y="4741"/>
                    <a:pt x="13557" y="3951"/>
                    <a:pt x="14936" y="3951"/>
                  </a:cubicBezTo>
                  <a:cubicBezTo>
                    <a:pt x="15855" y="3951"/>
                    <a:pt x="16545" y="4215"/>
                    <a:pt x="17234" y="4741"/>
                  </a:cubicBezTo>
                  <a:cubicBezTo>
                    <a:pt x="18153" y="4215"/>
                    <a:pt x="19072" y="4215"/>
                    <a:pt x="19991" y="4215"/>
                  </a:cubicBezTo>
                  <a:cubicBezTo>
                    <a:pt x="20451" y="4215"/>
                    <a:pt x="21140" y="4215"/>
                    <a:pt x="21600" y="4478"/>
                  </a:cubicBezTo>
                  <a:cubicBezTo>
                    <a:pt x="21140" y="3424"/>
                    <a:pt x="20451" y="2634"/>
                    <a:pt x="19762" y="1844"/>
                  </a:cubicBezTo>
                  <a:cubicBezTo>
                    <a:pt x="18383" y="790"/>
                    <a:pt x="16774" y="0"/>
                    <a:pt x="14936" y="0"/>
                  </a:cubicBezTo>
                  <a:cubicBezTo>
                    <a:pt x="12868" y="0"/>
                    <a:pt x="10800" y="1054"/>
                    <a:pt x="9421" y="2634"/>
                  </a:cubicBezTo>
                  <a:cubicBezTo>
                    <a:pt x="8962" y="2371"/>
                    <a:pt x="8272" y="2371"/>
                    <a:pt x="7813" y="2371"/>
                  </a:cubicBezTo>
                  <a:cubicBezTo>
                    <a:pt x="5055" y="2371"/>
                    <a:pt x="2757" y="5005"/>
                    <a:pt x="2757" y="8166"/>
                  </a:cubicBezTo>
                  <a:cubicBezTo>
                    <a:pt x="2757" y="8166"/>
                    <a:pt x="2757" y="8166"/>
                    <a:pt x="2757" y="8166"/>
                  </a:cubicBezTo>
                  <a:cubicBezTo>
                    <a:pt x="1149" y="9483"/>
                    <a:pt x="0" y="11854"/>
                    <a:pt x="0" y="14224"/>
                  </a:cubicBezTo>
                  <a:cubicBezTo>
                    <a:pt x="0" y="17649"/>
                    <a:pt x="2068" y="20810"/>
                    <a:pt x="4826" y="21600"/>
                  </a:cubicBezTo>
                  <a:cubicBezTo>
                    <a:pt x="4596" y="20810"/>
                    <a:pt x="4366" y="20020"/>
                    <a:pt x="4366" y="18966"/>
                  </a:cubicBezTo>
                  <a:cubicBezTo>
                    <a:pt x="4366" y="18439"/>
                    <a:pt x="4366" y="17912"/>
                    <a:pt x="4596" y="17385"/>
                  </a:cubicBezTo>
                  <a:cubicBezTo>
                    <a:pt x="3906" y="16595"/>
                    <a:pt x="3217" y="15541"/>
                    <a:pt x="3217" y="14224"/>
                  </a:cubicBezTo>
                  <a:cubicBezTo>
                    <a:pt x="3217" y="12907"/>
                    <a:pt x="4136" y="11590"/>
                    <a:pt x="5285" y="10800"/>
                  </a:cubicBezTo>
                  <a:cubicBezTo>
                    <a:pt x="6434" y="10273"/>
                    <a:pt x="6434" y="10273"/>
                    <a:pt x="6434" y="10273"/>
                  </a:cubicBezTo>
                  <a:cubicBezTo>
                    <a:pt x="6204" y="8693"/>
                    <a:pt x="6204" y="8693"/>
                    <a:pt x="6204" y="8693"/>
                  </a:cubicBezTo>
                  <a:cubicBezTo>
                    <a:pt x="5974" y="8429"/>
                    <a:pt x="5974" y="8429"/>
                    <a:pt x="5974" y="8166"/>
                  </a:cubicBezTo>
                  <a:cubicBezTo>
                    <a:pt x="5974" y="7112"/>
                    <a:pt x="6894" y="6059"/>
                    <a:pt x="7813" y="605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sp>
        <p:nvSpPr>
          <p:cNvPr id="47" name="Freeform 233"/>
          <p:cNvSpPr/>
          <p:nvPr>
            <p:custDataLst>
              <p:tags r:id="rId18"/>
            </p:custDataLst>
          </p:nvPr>
        </p:nvSpPr>
        <p:spPr>
          <a:xfrm>
            <a:off x="6387574" y="4454940"/>
            <a:ext cx="277981" cy="2335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36" y="8014"/>
                </a:moveTo>
                <a:cubicBezTo>
                  <a:pt x="18315" y="3421"/>
                  <a:pt x="14865" y="0"/>
                  <a:pt x="10759" y="0"/>
                </a:cubicBezTo>
                <a:cubicBezTo>
                  <a:pt x="6735" y="0"/>
                  <a:pt x="3285" y="3421"/>
                  <a:pt x="2464" y="8014"/>
                </a:cubicBezTo>
                <a:cubicBezTo>
                  <a:pt x="1068" y="8308"/>
                  <a:pt x="0" y="9774"/>
                  <a:pt x="0" y="11533"/>
                </a:cubicBezTo>
                <a:cubicBezTo>
                  <a:pt x="0" y="17984"/>
                  <a:pt x="0" y="17984"/>
                  <a:pt x="0" y="17984"/>
                </a:cubicBezTo>
                <a:cubicBezTo>
                  <a:pt x="0" y="19938"/>
                  <a:pt x="1314" y="21600"/>
                  <a:pt x="2957" y="21600"/>
                </a:cubicBezTo>
                <a:cubicBezTo>
                  <a:pt x="4189" y="21600"/>
                  <a:pt x="4189" y="21600"/>
                  <a:pt x="4189" y="21600"/>
                </a:cubicBezTo>
                <a:cubicBezTo>
                  <a:pt x="5831" y="21600"/>
                  <a:pt x="7145" y="19938"/>
                  <a:pt x="7145" y="17984"/>
                </a:cubicBezTo>
                <a:cubicBezTo>
                  <a:pt x="7145" y="11533"/>
                  <a:pt x="7145" y="11533"/>
                  <a:pt x="7145" y="11533"/>
                </a:cubicBezTo>
                <a:cubicBezTo>
                  <a:pt x="7145" y="9871"/>
                  <a:pt x="6242" y="8503"/>
                  <a:pt x="4928" y="8112"/>
                </a:cubicBezTo>
                <a:cubicBezTo>
                  <a:pt x="5667" y="4985"/>
                  <a:pt x="7967" y="2932"/>
                  <a:pt x="10759" y="2932"/>
                </a:cubicBezTo>
                <a:cubicBezTo>
                  <a:pt x="13551" y="2932"/>
                  <a:pt x="15933" y="4985"/>
                  <a:pt x="16672" y="8112"/>
                </a:cubicBezTo>
                <a:cubicBezTo>
                  <a:pt x="15358" y="8503"/>
                  <a:pt x="14373" y="9871"/>
                  <a:pt x="14373" y="11533"/>
                </a:cubicBezTo>
                <a:cubicBezTo>
                  <a:pt x="14373" y="17984"/>
                  <a:pt x="14373" y="17984"/>
                  <a:pt x="14373" y="17984"/>
                </a:cubicBezTo>
                <a:cubicBezTo>
                  <a:pt x="14373" y="19938"/>
                  <a:pt x="15769" y="21600"/>
                  <a:pt x="17411" y="21600"/>
                </a:cubicBezTo>
                <a:cubicBezTo>
                  <a:pt x="18643" y="21600"/>
                  <a:pt x="18643" y="21600"/>
                  <a:pt x="18643" y="21600"/>
                </a:cubicBezTo>
                <a:cubicBezTo>
                  <a:pt x="20286" y="21600"/>
                  <a:pt x="21600" y="19938"/>
                  <a:pt x="21600" y="17984"/>
                </a:cubicBezTo>
                <a:cubicBezTo>
                  <a:pt x="21600" y="11533"/>
                  <a:pt x="21600" y="11533"/>
                  <a:pt x="21600" y="11533"/>
                </a:cubicBezTo>
                <a:cubicBezTo>
                  <a:pt x="21600" y="9774"/>
                  <a:pt x="20532" y="8308"/>
                  <a:pt x="19136" y="8014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sp>
        <p:nvSpPr>
          <p:cNvPr id="2" name="文本框 1"/>
          <p:cNvSpPr txBox="1"/>
          <p:nvPr/>
        </p:nvSpPr>
        <p:spPr>
          <a:xfrm>
            <a:off x="1151255" y="563245"/>
            <a:ext cx="2542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市场需求与应用前景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22325" y="4446270"/>
            <a:ext cx="311150" cy="238760"/>
            <a:chOff x="1976" y="4460"/>
            <a:chExt cx="490" cy="376"/>
          </a:xfrm>
          <a:solidFill>
            <a:schemeClr val="bg1"/>
          </a:solidFill>
        </p:grpSpPr>
        <p:sp>
          <p:nvSpPr>
            <p:cNvPr id="188" name="Freeform 147"/>
            <p:cNvSpPr/>
            <p:nvPr/>
          </p:nvSpPr>
          <p:spPr>
            <a:xfrm>
              <a:off x="1976" y="4460"/>
              <a:ext cx="490" cy="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0"/>
                    <a:pt x="3375" y="0"/>
                    <a:pt x="3375" y="0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955"/>
                    <a:pt x="2869" y="19396"/>
                    <a:pt x="2531" y="19396"/>
                  </a:cubicBezTo>
                  <a:cubicBezTo>
                    <a:pt x="2025" y="19396"/>
                    <a:pt x="1687" y="18955"/>
                    <a:pt x="1687" y="18294"/>
                  </a:cubicBezTo>
                  <a:cubicBezTo>
                    <a:pt x="1687" y="18294"/>
                    <a:pt x="1687" y="18294"/>
                    <a:pt x="1687" y="18294"/>
                  </a:cubicBezTo>
                  <a:cubicBezTo>
                    <a:pt x="1687" y="18294"/>
                    <a:pt x="1687" y="18294"/>
                    <a:pt x="1687" y="18294"/>
                  </a:cubicBezTo>
                  <a:cubicBezTo>
                    <a:pt x="1687" y="2204"/>
                    <a:pt x="1687" y="2204"/>
                    <a:pt x="1687" y="2204"/>
                  </a:cubicBezTo>
                  <a:cubicBezTo>
                    <a:pt x="0" y="2204"/>
                    <a:pt x="0" y="2204"/>
                    <a:pt x="0" y="2204"/>
                  </a:cubicBezTo>
                  <a:cubicBezTo>
                    <a:pt x="0" y="18294"/>
                    <a:pt x="0" y="18294"/>
                    <a:pt x="0" y="18294"/>
                  </a:cubicBezTo>
                  <a:cubicBezTo>
                    <a:pt x="0" y="18294"/>
                    <a:pt x="0" y="18294"/>
                    <a:pt x="0" y="18294"/>
                  </a:cubicBezTo>
                  <a:cubicBezTo>
                    <a:pt x="0" y="20057"/>
                    <a:pt x="1181" y="21600"/>
                    <a:pt x="2531" y="21600"/>
                  </a:cubicBezTo>
                  <a:cubicBezTo>
                    <a:pt x="19069" y="21600"/>
                    <a:pt x="19069" y="21600"/>
                    <a:pt x="19069" y="21600"/>
                  </a:cubicBezTo>
                  <a:cubicBezTo>
                    <a:pt x="20419" y="21600"/>
                    <a:pt x="21600" y="20057"/>
                    <a:pt x="21600" y="18294"/>
                  </a:cubicBezTo>
                  <a:cubicBezTo>
                    <a:pt x="21600" y="18294"/>
                    <a:pt x="21600" y="18294"/>
                    <a:pt x="21600" y="18294"/>
                  </a:cubicBezTo>
                  <a:cubicBezTo>
                    <a:pt x="21600" y="0"/>
                    <a:pt x="21600" y="0"/>
                    <a:pt x="21600" y="0"/>
                  </a:cubicBezTo>
                  <a:close/>
                  <a:moveTo>
                    <a:pt x="19913" y="18294"/>
                  </a:moveTo>
                  <a:cubicBezTo>
                    <a:pt x="19913" y="18294"/>
                    <a:pt x="19913" y="18294"/>
                    <a:pt x="19913" y="18294"/>
                  </a:cubicBezTo>
                  <a:cubicBezTo>
                    <a:pt x="19913" y="18294"/>
                    <a:pt x="19913" y="18294"/>
                    <a:pt x="19913" y="18294"/>
                  </a:cubicBezTo>
                  <a:cubicBezTo>
                    <a:pt x="19913" y="18955"/>
                    <a:pt x="19575" y="19396"/>
                    <a:pt x="19069" y="19396"/>
                  </a:cubicBezTo>
                  <a:cubicBezTo>
                    <a:pt x="4894" y="19396"/>
                    <a:pt x="4894" y="19396"/>
                    <a:pt x="4894" y="19396"/>
                  </a:cubicBezTo>
                  <a:cubicBezTo>
                    <a:pt x="4894" y="19176"/>
                    <a:pt x="4894" y="18735"/>
                    <a:pt x="4894" y="18294"/>
                  </a:cubicBezTo>
                  <a:cubicBezTo>
                    <a:pt x="4894" y="18294"/>
                    <a:pt x="4894" y="18294"/>
                    <a:pt x="4894" y="18294"/>
                  </a:cubicBezTo>
                  <a:cubicBezTo>
                    <a:pt x="4894" y="2204"/>
                    <a:pt x="4894" y="2204"/>
                    <a:pt x="4894" y="2204"/>
                  </a:cubicBezTo>
                  <a:cubicBezTo>
                    <a:pt x="19913" y="2204"/>
                    <a:pt x="19913" y="2204"/>
                    <a:pt x="19913" y="2204"/>
                  </a:cubicBezTo>
                  <a:lnTo>
                    <a:pt x="19913" y="18294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  <p:sp>
          <p:nvSpPr>
            <p:cNvPr id="189" name="Rectangle 148"/>
            <p:cNvSpPr/>
            <p:nvPr/>
          </p:nvSpPr>
          <p:spPr>
            <a:xfrm>
              <a:off x="2128" y="4628"/>
              <a:ext cx="112" cy="11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  <p:sp>
          <p:nvSpPr>
            <p:cNvPr id="190" name="Rectangle 149"/>
            <p:cNvSpPr/>
            <p:nvPr/>
          </p:nvSpPr>
          <p:spPr>
            <a:xfrm>
              <a:off x="2128" y="4555"/>
              <a:ext cx="261" cy="39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  <p:sp>
          <p:nvSpPr>
            <p:cNvPr id="191" name="Rectangle 150"/>
            <p:cNvSpPr/>
            <p:nvPr/>
          </p:nvSpPr>
          <p:spPr>
            <a:xfrm>
              <a:off x="2277" y="4628"/>
              <a:ext cx="112" cy="39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  <p:sp>
          <p:nvSpPr>
            <p:cNvPr id="192" name="Rectangle 151"/>
            <p:cNvSpPr/>
            <p:nvPr/>
          </p:nvSpPr>
          <p:spPr>
            <a:xfrm>
              <a:off x="2277" y="4706"/>
              <a:ext cx="112" cy="3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0033000" y="2367280"/>
            <a:ext cx="628015" cy="582295"/>
            <a:chOff x="1976" y="7398"/>
            <a:chExt cx="490" cy="398"/>
          </a:xfrm>
          <a:solidFill>
            <a:schemeClr val="bg1"/>
          </a:solidFill>
        </p:grpSpPr>
        <p:sp>
          <p:nvSpPr>
            <p:cNvPr id="112" name="Freeform 71"/>
            <p:cNvSpPr/>
            <p:nvPr/>
          </p:nvSpPr>
          <p:spPr>
            <a:xfrm>
              <a:off x="2125" y="7398"/>
              <a:ext cx="191" cy="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20" y="10800"/>
                  </a:moveTo>
                  <a:cubicBezTo>
                    <a:pt x="17280" y="10800"/>
                    <a:pt x="17280" y="10800"/>
                    <a:pt x="17280" y="10800"/>
                  </a:cubicBezTo>
                  <a:cubicBezTo>
                    <a:pt x="17280" y="21600"/>
                    <a:pt x="17280" y="21600"/>
                    <a:pt x="1728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10800"/>
                    <a:pt x="21600" y="10800"/>
                    <a:pt x="21600" y="10800"/>
                  </a:cubicBezTo>
                  <a:cubicBezTo>
                    <a:pt x="21600" y="5400"/>
                    <a:pt x="19440" y="0"/>
                    <a:pt x="17280" y="0"/>
                  </a:cubicBezTo>
                  <a:cubicBezTo>
                    <a:pt x="4320" y="0"/>
                    <a:pt x="4320" y="0"/>
                    <a:pt x="4320" y="0"/>
                  </a:cubicBezTo>
                  <a:cubicBezTo>
                    <a:pt x="2160" y="0"/>
                    <a:pt x="0" y="5400"/>
                    <a:pt x="0" y="108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4320" y="21600"/>
                    <a:pt x="4320" y="21600"/>
                    <a:pt x="4320" y="21600"/>
                  </a:cubicBezTo>
                  <a:lnTo>
                    <a:pt x="4320" y="108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>
                <a:solidFill>
                  <a:schemeClr val="bg1"/>
                </a:solidFill>
              </a:endParaRPr>
            </a:p>
          </p:txBody>
        </p:sp>
        <p:sp>
          <p:nvSpPr>
            <p:cNvPr id="113" name="Freeform 72"/>
            <p:cNvSpPr/>
            <p:nvPr/>
          </p:nvSpPr>
          <p:spPr>
            <a:xfrm>
              <a:off x="1976" y="7494"/>
              <a:ext cx="490" cy="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13" y="0"/>
                  </a:moveTo>
                  <a:cubicBezTo>
                    <a:pt x="1687" y="0"/>
                    <a:pt x="1687" y="0"/>
                    <a:pt x="1687" y="0"/>
                  </a:cubicBezTo>
                  <a:cubicBezTo>
                    <a:pt x="675" y="0"/>
                    <a:pt x="0" y="1367"/>
                    <a:pt x="0" y="2734"/>
                  </a:cubicBezTo>
                  <a:cubicBezTo>
                    <a:pt x="0" y="18866"/>
                    <a:pt x="0" y="18866"/>
                    <a:pt x="0" y="18866"/>
                  </a:cubicBezTo>
                  <a:cubicBezTo>
                    <a:pt x="0" y="20233"/>
                    <a:pt x="675" y="21600"/>
                    <a:pt x="1687" y="21600"/>
                  </a:cubicBezTo>
                  <a:cubicBezTo>
                    <a:pt x="19913" y="21600"/>
                    <a:pt x="19913" y="21600"/>
                    <a:pt x="19913" y="21600"/>
                  </a:cubicBezTo>
                  <a:cubicBezTo>
                    <a:pt x="20925" y="21600"/>
                    <a:pt x="21600" y="20233"/>
                    <a:pt x="21600" y="18866"/>
                  </a:cubicBezTo>
                  <a:cubicBezTo>
                    <a:pt x="21600" y="2734"/>
                    <a:pt x="21600" y="2734"/>
                    <a:pt x="21600" y="2734"/>
                  </a:cubicBezTo>
                  <a:cubicBezTo>
                    <a:pt x="21600" y="1367"/>
                    <a:pt x="20925" y="0"/>
                    <a:pt x="19913" y="0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10682" y="1298789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Part 02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834516" y="1448947"/>
            <a:ext cx="131444" cy="131444"/>
          </a:xfrm>
          <a:prstGeom prst="ellipse">
            <a:avLst/>
          </a:prstGeom>
          <a:solidFill>
            <a:srgbClr val="F8B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1834516" y="1646571"/>
            <a:ext cx="131444" cy="131444"/>
          </a:xfrm>
          <a:prstGeom prst="ellipse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1834516" y="1844195"/>
            <a:ext cx="131444" cy="131444"/>
          </a:xfrm>
          <a:prstGeom prst="ellipse">
            <a:avLst/>
          </a:prstGeom>
          <a:solidFill>
            <a:srgbClr val="FB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1834516" y="2041819"/>
            <a:ext cx="131444" cy="131444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834516" y="2239443"/>
            <a:ext cx="131444" cy="131444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9872757" y="1421706"/>
            <a:ext cx="469805" cy="130682"/>
            <a:chOff x="9936257" y="1383606"/>
            <a:chExt cx="469805" cy="130682"/>
          </a:xfrm>
        </p:grpSpPr>
        <p:grpSp>
          <p:nvGrpSpPr>
            <p:cNvPr id="40" name="组合 39"/>
            <p:cNvGrpSpPr/>
            <p:nvPr/>
          </p:nvGrpSpPr>
          <p:grpSpPr>
            <a:xfrm rot="10800000">
              <a:off x="9936257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41" name="燕尾形 40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燕尾形 41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燕尾形 42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10800000">
              <a:off x="10160094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64" name="燕尾形 63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燕尾形 64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燕尾形 65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7" name="文本框 66"/>
          <p:cNvSpPr txBox="1"/>
          <p:nvPr/>
        </p:nvSpPr>
        <p:spPr>
          <a:xfrm>
            <a:off x="5069139" y="2424161"/>
            <a:ext cx="448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FBD5DE"/>
                </a:solidFill>
              </a:rPr>
              <a:t>PART TWO</a:t>
            </a:r>
            <a:endParaRPr lang="zh-CN" altLang="en-US" sz="7200" dirty="0">
              <a:solidFill>
                <a:srgbClr val="FBD5D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52713" y="2353437"/>
            <a:ext cx="6943462" cy="2051254"/>
            <a:chOff x="2652713" y="2524887"/>
            <a:chExt cx="6943462" cy="2051254"/>
          </a:xfrm>
        </p:grpSpPr>
        <p:sp>
          <p:nvSpPr>
            <p:cNvPr id="2" name="文本框 1"/>
            <p:cNvSpPr txBox="1"/>
            <p:nvPr/>
          </p:nvSpPr>
          <p:spPr>
            <a:xfrm>
              <a:off x="5069138" y="2524887"/>
              <a:ext cx="45270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dirty="0">
                  <a:solidFill>
                    <a:srgbClr val="95748D"/>
                  </a:solidFill>
                </a:rPr>
                <a:t>PART TWO</a:t>
              </a:r>
              <a:endParaRPr lang="zh-CN" altLang="en-US" sz="7200" dirty="0">
                <a:solidFill>
                  <a:srgbClr val="95748D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652713" y="2801096"/>
              <a:ext cx="1636808" cy="1636808"/>
              <a:chOff x="2405063" y="2610596"/>
              <a:chExt cx="1636808" cy="163680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405063" y="2610596"/>
                <a:ext cx="1636808" cy="1636808"/>
                <a:chOff x="2405063" y="2610596"/>
                <a:chExt cx="1636808" cy="1636808"/>
              </a:xfrm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235" t="34499" r="49339" b="43592"/>
                <a:stretch>
                  <a:fillRect/>
                </a:stretch>
              </p:blipFill>
              <p:spPr>
                <a:xfrm>
                  <a:off x="2405063" y="2610596"/>
                  <a:ext cx="1636808" cy="1636808"/>
                </a:xfrm>
                <a:custGeom>
                  <a:avLst/>
                  <a:gdLst>
                    <a:gd name="connsiteX0" fmla="*/ 818404 w 1636808"/>
                    <a:gd name="connsiteY0" fmla="*/ 0 h 1636808"/>
                    <a:gd name="connsiteX1" fmla="*/ 1636808 w 1636808"/>
                    <a:gd name="connsiteY1" fmla="*/ 818404 h 1636808"/>
                    <a:gd name="connsiteX2" fmla="*/ 818404 w 1636808"/>
                    <a:gd name="connsiteY2" fmla="*/ 1636808 h 1636808"/>
                    <a:gd name="connsiteX3" fmla="*/ 0 w 1636808"/>
                    <a:gd name="connsiteY3" fmla="*/ 818404 h 1636808"/>
                    <a:gd name="connsiteX4" fmla="*/ 818404 w 1636808"/>
                    <a:gd name="connsiteY4" fmla="*/ 0 h 163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808" h="1636808">
                      <a:moveTo>
                        <a:pt x="818404" y="0"/>
                      </a:moveTo>
                      <a:cubicBezTo>
                        <a:pt x="1270396" y="0"/>
                        <a:pt x="1636808" y="366412"/>
                        <a:pt x="1636808" y="818404"/>
                      </a:cubicBezTo>
                      <a:cubicBezTo>
                        <a:pt x="1636808" y="1270396"/>
                        <a:pt x="1270396" y="1636808"/>
                        <a:pt x="818404" y="1636808"/>
                      </a:cubicBezTo>
                      <a:cubicBezTo>
                        <a:pt x="366412" y="1636808"/>
                        <a:pt x="0" y="1270396"/>
                        <a:pt x="0" y="818404"/>
                      </a:cubicBezTo>
                      <a:cubicBezTo>
                        <a:pt x="0" y="366412"/>
                        <a:pt x="366412" y="0"/>
                        <a:pt x="818404" y="0"/>
                      </a:cubicBezTo>
                      <a:close/>
                    </a:path>
                  </a:pathLst>
                </a:custGeom>
              </p:spPr>
            </p:pic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5602" t="10129" r="6898" b="77632"/>
                <a:stretch>
                  <a:fillRect/>
                </a:stretch>
              </p:blipFill>
              <p:spPr>
                <a:xfrm>
                  <a:off x="3665061" y="2627664"/>
                  <a:ext cx="376810" cy="376810"/>
                </a:xfrm>
                <a:custGeom>
                  <a:avLst/>
                  <a:gdLst>
                    <a:gd name="connsiteX0" fmla="*/ 457200 w 914400"/>
                    <a:gd name="connsiteY0" fmla="*/ 0 h 914400"/>
                    <a:gd name="connsiteX1" fmla="*/ 914400 w 914400"/>
                    <a:gd name="connsiteY1" fmla="*/ 457200 h 914400"/>
                    <a:gd name="connsiteX2" fmla="*/ 457200 w 914400"/>
                    <a:gd name="connsiteY2" fmla="*/ 914400 h 914400"/>
                    <a:gd name="connsiteX3" fmla="*/ 0 w 914400"/>
                    <a:gd name="connsiteY3" fmla="*/ 457200 h 914400"/>
                    <a:gd name="connsiteX4" fmla="*/ 457200 w 914400"/>
                    <a:gd name="connsiteY4" fmla="*/ 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400" h="914400">
                      <a:moveTo>
                        <a:pt x="457200" y="0"/>
                      </a:moveTo>
                      <a:cubicBezTo>
                        <a:pt x="709705" y="0"/>
                        <a:pt x="914400" y="204695"/>
                        <a:pt x="914400" y="457200"/>
                      </a:cubicBezTo>
                      <a:cubicBezTo>
                        <a:pt x="914400" y="709705"/>
                        <a:pt x="709705" y="914400"/>
                        <a:pt x="457200" y="914400"/>
                      </a:cubicBezTo>
                      <a:cubicBezTo>
                        <a:pt x="204695" y="914400"/>
                        <a:pt x="0" y="709705"/>
                        <a:pt x="0" y="457200"/>
                      </a:cubicBezTo>
                      <a:cubicBezTo>
                        <a:pt x="0" y="204695"/>
                        <a:pt x="204695" y="0"/>
                        <a:pt x="457200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39" name="文本框 38"/>
              <p:cNvSpPr txBox="1"/>
              <p:nvPr/>
            </p:nvSpPr>
            <p:spPr>
              <a:xfrm>
                <a:off x="2557810" y="2981235"/>
                <a:ext cx="13697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solidFill>
                      <a:srgbClr val="FAF7F8"/>
                    </a:solidFill>
                    <a:latin typeface="胡晓波男神体" panose="02010600030101010101" pitchFamily="2" charset="-122"/>
                    <a:ea typeface="胡晓波男神体" panose="02010600030101010101" pitchFamily="2" charset="-122"/>
                    <a:cs typeface="胡晓波男神体" panose="02010600030101010101" pitchFamily="2" charset="-122"/>
                  </a:rPr>
                  <a:t>02</a:t>
                </a:r>
                <a:endParaRPr lang="zh-CN" altLang="en-US" sz="5400" dirty="0">
                  <a:solidFill>
                    <a:srgbClr val="FAF7F8"/>
                  </a:solidFill>
                  <a:latin typeface="胡晓波男神体" panose="02010600030101010101" pitchFamily="2" charset="-122"/>
                  <a:ea typeface="胡晓波男神体" panose="02010600030101010101" pitchFamily="2" charset="-122"/>
                  <a:cs typeface="胡晓波男神体" panose="02010600030101010101" pitchFamily="2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5069139" y="3746196"/>
              <a:ext cx="448262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4800" dirty="0">
                  <a:solidFill>
                    <a:srgbClr val="95748D"/>
                  </a:solidFill>
                  <a:latin typeface="汉仪粗圆简" panose="02010600000101010101" charset="-122"/>
                  <a:ea typeface="汉仪粗圆简" panose="02010600000101010101" charset="-122"/>
                  <a:sym typeface="+mn-ea"/>
                </a:rPr>
                <a:t>需求与</a:t>
              </a:r>
              <a:r>
                <a:rPr lang="zh-CN" altLang="en-US" sz="4800" dirty="0">
                  <a:solidFill>
                    <a:srgbClr val="F8B3C3"/>
                  </a:solidFill>
                  <a:latin typeface="汉仪粗圆简" panose="02010600000101010101" charset="-122"/>
                  <a:ea typeface="汉仪粗圆简" panose="02010600000101010101" charset="-122"/>
                  <a:sym typeface="+mn-ea"/>
                </a:rPr>
                <a:t>设计目标</a:t>
              </a:r>
              <a:endParaRPr lang="zh-CN" altLang="en-US" sz="4800" dirty="0">
                <a:solidFill>
                  <a:srgbClr val="F8B3C3"/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endParaRPr>
            </a:p>
          </p:txBody>
        </p:sp>
      </p:grp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需求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分析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sp>
        <p:nvSpPr>
          <p:cNvPr id="16" name="Freeform 3"/>
          <p:cNvSpPr/>
          <p:nvPr>
            <p:custDataLst>
              <p:tags r:id="rId2"/>
            </p:custDataLst>
          </p:nvPr>
        </p:nvSpPr>
        <p:spPr>
          <a:xfrm>
            <a:off x="4633281" y="288514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7" name="Freeform 4"/>
          <p:cNvSpPr/>
          <p:nvPr>
            <p:custDataLst>
              <p:tags r:id="rId3"/>
            </p:custDataLst>
          </p:nvPr>
        </p:nvSpPr>
        <p:spPr>
          <a:xfrm rot="2700000">
            <a:off x="5399212" y="2204857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8" name="Freeform 5"/>
          <p:cNvSpPr/>
          <p:nvPr>
            <p:custDataLst>
              <p:tags r:id="rId4"/>
            </p:custDataLst>
          </p:nvPr>
        </p:nvSpPr>
        <p:spPr>
          <a:xfrm flipH="1">
            <a:off x="7095883" y="2898266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9" name="Freeform 6"/>
          <p:cNvSpPr/>
          <p:nvPr>
            <p:custDataLst>
              <p:tags r:id="rId5"/>
            </p:custDataLst>
          </p:nvPr>
        </p:nvSpPr>
        <p:spPr>
          <a:xfrm rot="18900000" flipH="1">
            <a:off x="6328048" y="2209718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0" name="Freeform 7"/>
          <p:cNvSpPr/>
          <p:nvPr>
            <p:custDataLst>
              <p:tags r:id="rId6"/>
            </p:custDataLst>
          </p:nvPr>
        </p:nvSpPr>
        <p:spPr>
          <a:xfrm flipH="1" flipV="1">
            <a:off x="7089751" y="3990041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1" name="Freeform 8"/>
          <p:cNvSpPr/>
          <p:nvPr>
            <p:custDataLst>
              <p:tags r:id="rId7"/>
            </p:custDataLst>
          </p:nvPr>
        </p:nvSpPr>
        <p:spPr>
          <a:xfrm rot="2700000" flipH="1" flipV="1">
            <a:off x="6338664" y="469465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2" name="Freeform 9"/>
          <p:cNvSpPr/>
          <p:nvPr>
            <p:custDataLst>
              <p:tags r:id="rId8"/>
            </p:custDataLst>
          </p:nvPr>
        </p:nvSpPr>
        <p:spPr>
          <a:xfrm flipV="1">
            <a:off x="4664177" y="3986647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3" name="Freeform 10"/>
          <p:cNvSpPr/>
          <p:nvPr>
            <p:custDataLst>
              <p:tags r:id="rId9"/>
            </p:custDataLst>
          </p:nvPr>
        </p:nvSpPr>
        <p:spPr>
          <a:xfrm rot="18900000" flipV="1">
            <a:off x="5378672" y="467582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grpSp>
        <p:nvGrpSpPr>
          <p:cNvPr id="25" name="Group 13"/>
          <p:cNvGrpSpPr/>
          <p:nvPr>
            <p:custDataLst>
              <p:tags r:id="rId10"/>
            </p:custDataLst>
          </p:nvPr>
        </p:nvGrpSpPr>
        <p:grpSpPr>
          <a:xfrm>
            <a:off x="4274327" y="2538293"/>
            <a:ext cx="669024" cy="618000"/>
            <a:chOff x="4228147" y="2074893"/>
            <a:chExt cx="692928" cy="640080"/>
          </a:xfrm>
        </p:grpSpPr>
        <p:cxnSp>
          <p:nvCxnSpPr>
            <p:cNvPr id="60" name="Straight Connector 14"/>
            <p:cNvCxnSpPr/>
            <p:nvPr>
              <p:custDataLst>
                <p:tags r:id="rId11"/>
              </p:custDataLst>
            </p:nvPr>
          </p:nvCxnSpPr>
          <p:spPr>
            <a:xfrm rot="2700000" flipH="1">
              <a:off x="4601035" y="2394933"/>
              <a:ext cx="640080" cy="0"/>
            </a:xfrm>
            <a:prstGeom prst="line">
              <a:avLst/>
            </a:prstGeom>
            <a:ln w="19050" cap="sq">
              <a:solidFill>
                <a:srgbClr val="FBDBD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5"/>
            <p:cNvCxnSpPr/>
            <p:nvPr>
              <p:custDataLst>
                <p:tags r:id="rId12"/>
              </p:custDataLst>
            </p:nvPr>
          </p:nvCxnSpPr>
          <p:spPr>
            <a:xfrm flipH="1">
              <a:off x="4228147" y="2166249"/>
              <a:ext cx="466625" cy="0"/>
            </a:xfrm>
            <a:prstGeom prst="line">
              <a:avLst/>
            </a:prstGeom>
            <a:ln w="19050">
              <a:solidFill>
                <a:srgbClr val="FBDBD5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0"/>
          <p:cNvGrpSpPr/>
          <p:nvPr>
            <p:custDataLst>
              <p:tags r:id="rId13"/>
            </p:custDataLst>
          </p:nvPr>
        </p:nvGrpSpPr>
        <p:grpSpPr>
          <a:xfrm flipH="1">
            <a:off x="7114981" y="2373631"/>
            <a:ext cx="829599" cy="618000"/>
            <a:chOff x="4061835" y="2074893"/>
            <a:chExt cx="859240" cy="640080"/>
          </a:xfrm>
        </p:grpSpPr>
        <p:cxnSp>
          <p:nvCxnSpPr>
            <p:cNvPr id="56" name="Straight Connector 21"/>
            <p:cNvCxnSpPr/>
            <p:nvPr>
              <p:custDataLst>
                <p:tags r:id="rId14"/>
              </p:custDataLst>
            </p:nvPr>
          </p:nvCxnSpPr>
          <p:spPr>
            <a:xfrm rot="2700000" flipH="1">
              <a:off x="4601035" y="2394933"/>
              <a:ext cx="640080" cy="0"/>
            </a:xfrm>
            <a:prstGeom prst="line">
              <a:avLst/>
            </a:prstGeom>
            <a:ln w="19050" cap="sq">
              <a:solidFill>
                <a:srgbClr val="F8B3C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22"/>
            <p:cNvCxnSpPr/>
            <p:nvPr>
              <p:custDataLst>
                <p:tags r:id="rId15"/>
              </p:custDataLst>
            </p:nvPr>
          </p:nvCxnSpPr>
          <p:spPr>
            <a:xfrm flipH="1">
              <a:off x="4061835" y="2166249"/>
              <a:ext cx="632937" cy="0"/>
            </a:xfrm>
            <a:prstGeom prst="line">
              <a:avLst/>
            </a:prstGeom>
            <a:ln w="19050">
              <a:solidFill>
                <a:srgbClr val="F8B3C3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/>
          <p:cNvGrpSpPr/>
          <p:nvPr>
            <p:custDataLst>
              <p:tags r:id="rId16"/>
            </p:custDataLst>
          </p:nvPr>
        </p:nvGrpSpPr>
        <p:grpSpPr>
          <a:xfrm>
            <a:off x="8085890" y="1923985"/>
            <a:ext cx="3545595" cy="1354212"/>
            <a:chOff x="307636" y="2109612"/>
            <a:chExt cx="3545595" cy="1354212"/>
          </a:xfrm>
        </p:grpSpPr>
        <p:sp>
          <p:nvSpPr>
            <p:cNvPr id="71" name="矩形 70"/>
            <p:cNvSpPr/>
            <p:nvPr>
              <p:custDataLst>
                <p:tags r:id="rId17"/>
              </p:custDataLst>
            </p:nvPr>
          </p:nvSpPr>
          <p:spPr>
            <a:xfrm>
              <a:off x="320764" y="2403374"/>
              <a:ext cx="3532467" cy="1060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稳定性高（抗抖动、抗瞬态噪声）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操作简单（少按键、明确流程）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实时性满足人工操作节奏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界面信息直观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</p:txBody>
        </p:sp>
        <p:sp>
          <p:nvSpPr>
            <p:cNvPr id="72" name="矩形 71"/>
            <p:cNvSpPr/>
            <p:nvPr>
              <p:custDataLst>
                <p:tags r:id="rId18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工程性需求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19"/>
            </p:custDataLst>
          </p:nvPr>
        </p:nvGrpSpPr>
        <p:grpSpPr>
          <a:xfrm>
            <a:off x="582332" y="1855266"/>
            <a:ext cx="3532467" cy="1839352"/>
            <a:chOff x="320764" y="2109612"/>
            <a:chExt cx="3532467" cy="1839352"/>
          </a:xfrm>
        </p:grpSpPr>
        <p:sp>
          <p:nvSpPr>
            <p:cNvPr id="83" name="矩形 82"/>
            <p:cNvSpPr/>
            <p:nvPr>
              <p:custDataLst>
                <p:tags r:id="rId20"/>
              </p:custDataLst>
            </p:nvPr>
          </p:nvSpPr>
          <p:spPr>
            <a:xfrm>
              <a:off x="320764" y="2403374"/>
              <a:ext cx="3532467" cy="154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支持空载校准（建立远端基准）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algn="r"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支持合格件校准（建立工程标准点）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algn="r"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能实时显示：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相对距离百分比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偏差方向（偏近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 / 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偏远）</a:t>
              </a:r>
              <a:endParaRPr lang="en-US" altLang="zh-CN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合格性状态（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PASS / FAR / NEAR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）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</p:txBody>
        </p:sp>
        <p:sp>
          <p:nvSpPr>
            <p:cNvPr id="84" name="矩形 83"/>
            <p:cNvSpPr/>
            <p:nvPr>
              <p:custDataLst>
                <p:tags r:id="rId21"/>
              </p:custDataLst>
            </p:nvPr>
          </p:nvSpPr>
          <p:spPr>
            <a:xfrm>
              <a:off x="169828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功能性需求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2"/>
            </p:custDataLst>
          </p:nvPr>
        </p:nvGrpSpPr>
        <p:grpSpPr>
          <a:xfrm>
            <a:off x="5695307" y="3440245"/>
            <a:ext cx="961380" cy="960301"/>
            <a:chOff x="6306986" y="3181380"/>
            <a:chExt cx="392005" cy="391565"/>
          </a:xfrm>
          <a:solidFill>
            <a:srgbClr val="BEAAB9"/>
          </a:solidFill>
        </p:grpSpPr>
        <p:sp>
          <p:nvSpPr>
            <p:cNvPr id="89" name="Freeform 228"/>
            <p:cNvSpPr/>
            <p:nvPr>
              <p:custDataLst>
                <p:tags r:id="rId23"/>
              </p:custDataLst>
            </p:nvPr>
          </p:nvSpPr>
          <p:spPr>
            <a:xfrm>
              <a:off x="6306986" y="3181380"/>
              <a:ext cx="392005" cy="391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341" extrusionOk="0">
                  <a:moveTo>
                    <a:pt x="20593" y="18671"/>
                  </a:moveTo>
                  <a:cubicBezTo>
                    <a:pt x="15834" y="13820"/>
                    <a:pt x="15834" y="13820"/>
                    <a:pt x="15834" y="13820"/>
                  </a:cubicBezTo>
                  <a:cubicBezTo>
                    <a:pt x="16841" y="12447"/>
                    <a:pt x="17481" y="10617"/>
                    <a:pt x="17481" y="8695"/>
                  </a:cubicBezTo>
                  <a:cubicBezTo>
                    <a:pt x="17481" y="3936"/>
                    <a:pt x="13546" y="0"/>
                    <a:pt x="8786" y="0"/>
                  </a:cubicBezTo>
                  <a:cubicBezTo>
                    <a:pt x="3936" y="0"/>
                    <a:pt x="0" y="3936"/>
                    <a:pt x="0" y="8695"/>
                  </a:cubicBezTo>
                  <a:cubicBezTo>
                    <a:pt x="0" y="13546"/>
                    <a:pt x="3936" y="17390"/>
                    <a:pt x="8786" y="17390"/>
                  </a:cubicBezTo>
                  <a:cubicBezTo>
                    <a:pt x="10708" y="17390"/>
                    <a:pt x="12447" y="16841"/>
                    <a:pt x="13912" y="15742"/>
                  </a:cubicBezTo>
                  <a:cubicBezTo>
                    <a:pt x="18763" y="20593"/>
                    <a:pt x="18763" y="20593"/>
                    <a:pt x="18763" y="20593"/>
                  </a:cubicBezTo>
                  <a:cubicBezTo>
                    <a:pt x="19495" y="21325"/>
                    <a:pt x="20593" y="21600"/>
                    <a:pt x="21051" y="21051"/>
                  </a:cubicBezTo>
                  <a:cubicBezTo>
                    <a:pt x="21600" y="20502"/>
                    <a:pt x="21417" y="19495"/>
                    <a:pt x="20593" y="18671"/>
                  </a:cubicBezTo>
                  <a:close/>
                  <a:moveTo>
                    <a:pt x="8695" y="15376"/>
                  </a:moveTo>
                  <a:cubicBezTo>
                    <a:pt x="7780" y="15376"/>
                    <a:pt x="6864" y="15193"/>
                    <a:pt x="6132" y="14827"/>
                  </a:cubicBezTo>
                  <a:cubicBezTo>
                    <a:pt x="5308" y="14461"/>
                    <a:pt x="4576" y="13912"/>
                    <a:pt x="3936" y="13363"/>
                  </a:cubicBezTo>
                  <a:cubicBezTo>
                    <a:pt x="2654" y="12081"/>
                    <a:pt x="1922" y="10342"/>
                    <a:pt x="1922" y="8512"/>
                  </a:cubicBezTo>
                  <a:cubicBezTo>
                    <a:pt x="1922" y="4851"/>
                    <a:pt x="4942" y="1831"/>
                    <a:pt x="8695" y="1831"/>
                  </a:cubicBezTo>
                  <a:cubicBezTo>
                    <a:pt x="10434" y="1831"/>
                    <a:pt x="12173" y="2471"/>
                    <a:pt x="13363" y="3753"/>
                  </a:cubicBezTo>
                  <a:cubicBezTo>
                    <a:pt x="14644" y="5034"/>
                    <a:pt x="15376" y="6681"/>
                    <a:pt x="15376" y="8512"/>
                  </a:cubicBezTo>
                  <a:cubicBezTo>
                    <a:pt x="15376" y="9976"/>
                    <a:pt x="14827" y="11532"/>
                    <a:pt x="13912" y="12722"/>
                  </a:cubicBezTo>
                  <a:cubicBezTo>
                    <a:pt x="13729" y="12997"/>
                    <a:pt x="13546" y="13180"/>
                    <a:pt x="13363" y="13363"/>
                  </a:cubicBezTo>
                  <a:cubicBezTo>
                    <a:pt x="13180" y="13546"/>
                    <a:pt x="12997" y="13729"/>
                    <a:pt x="12814" y="13820"/>
                  </a:cubicBezTo>
                  <a:cubicBezTo>
                    <a:pt x="11624" y="14827"/>
                    <a:pt x="10159" y="15376"/>
                    <a:pt x="8695" y="15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90" name="Freeform 229"/>
            <p:cNvSpPr/>
            <p:nvPr>
              <p:custDataLst>
                <p:tags r:id="rId24"/>
              </p:custDataLst>
            </p:nvPr>
          </p:nvSpPr>
          <p:spPr>
            <a:xfrm>
              <a:off x="6367876" y="3237997"/>
              <a:ext cx="196559" cy="196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2" y="3138"/>
                  </a:moveTo>
                  <a:cubicBezTo>
                    <a:pt x="16431" y="1108"/>
                    <a:pt x="13662" y="0"/>
                    <a:pt x="10892" y="0"/>
                  </a:cubicBezTo>
                  <a:cubicBezTo>
                    <a:pt x="4800" y="0"/>
                    <a:pt x="0" y="4800"/>
                    <a:pt x="0" y="10892"/>
                  </a:cubicBezTo>
                  <a:cubicBezTo>
                    <a:pt x="0" y="13662"/>
                    <a:pt x="1108" y="16431"/>
                    <a:pt x="3138" y="18462"/>
                  </a:cubicBezTo>
                  <a:cubicBezTo>
                    <a:pt x="5169" y="20492"/>
                    <a:pt x="7938" y="21600"/>
                    <a:pt x="10892" y="21600"/>
                  </a:cubicBezTo>
                  <a:cubicBezTo>
                    <a:pt x="13662" y="21600"/>
                    <a:pt x="16431" y="20492"/>
                    <a:pt x="18462" y="18462"/>
                  </a:cubicBezTo>
                  <a:cubicBezTo>
                    <a:pt x="20492" y="16431"/>
                    <a:pt x="21600" y="13662"/>
                    <a:pt x="21600" y="10892"/>
                  </a:cubicBezTo>
                  <a:cubicBezTo>
                    <a:pt x="21600" y="7938"/>
                    <a:pt x="20492" y="5169"/>
                    <a:pt x="18462" y="3138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目标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493520" y="1104900"/>
          <a:ext cx="8681720" cy="4648835"/>
        </p:xfrm>
        <a:graphic>
          <a:graphicData uri="http://schemas.openxmlformats.org/drawingml/2006/table">
            <a:tbl>
              <a:tblPr firstRow="1" firstCol="1" bandRow="1">
                <a:tableStyleId>{C8AE76E4-31B6-46FE-83F5-BC15EFD9A9B7}</a:tableStyleId>
              </a:tblPr>
              <a:tblGrid>
                <a:gridCol w="1619885"/>
                <a:gridCol w="2532380"/>
                <a:gridCol w="2301240"/>
                <a:gridCol w="222821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目标类别</a:t>
                      </a:r>
                      <a:endParaRPr lang="zh-CN" altLang="en-US" sz="1400" b="1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设计目标</a:t>
                      </a:r>
                      <a:endParaRPr lang="zh-CN" altLang="en-US" sz="1400" b="1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定量指标 </a:t>
                      </a:r>
                      <a:r>
                        <a:rPr lang="en-US" altLang="zh-CN" sz="1400" b="1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/ </a:t>
                      </a:r>
                      <a:r>
                        <a:rPr lang="zh-CN" altLang="en-US" sz="1400" b="1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判定标准</a:t>
                      </a:r>
                      <a:endParaRPr lang="zh-CN" altLang="en-US" sz="1400" b="1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工程说明</a:t>
                      </a:r>
                      <a:endParaRPr lang="zh-CN" altLang="en-US" sz="1400" b="1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50228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总体目标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实现螺帽拧紧状态的非接触检测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可输出明确的合格性判定结果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用于替代人工经验判断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50165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校准功能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支持两点校准机制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空载校准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+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合格件校准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建立工程基准，适配不同工件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测量输出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相对拧紧程度量化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输出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0–100%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相对距离指标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将原始电感值工程化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146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判定功能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合格性自动判断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合格区间：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45%–55%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超出区间判为偏松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/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偏紧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50228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判定结果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状态分类显示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PASS / FAR / NEAR 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三种状态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判定结果直观、无歧义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测量刷新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实时性要求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刷新周期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≤ 300 ms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满足人工检测节奏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146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显示分辨率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拧紧偏差显示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偏差分辨率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≤ 1%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可直观看出偏差大小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稳定性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静态测量稳定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波动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≤ ±2%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防止数值抖动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146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重复性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多次测量一致性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重复误差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≤ ±3%</a:t>
                      </a:r>
                      <a:endParaRPr lang="en-US" altLang="zh-CN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保证结果可靠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抗干扰性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抑制瞬态噪声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单次异常不影响判定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滤波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+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阈值抑制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146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操作复杂度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人机交互简化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校准流程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≤ 5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步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适合非专业人员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状态可读性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结果快速理解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1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秒内可判断合格性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颜色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+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文本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+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图形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146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工程适配性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可嵌入工装使用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非接触、无需视觉条件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适合狭小、遮挡空间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扩展预期</a:t>
                      </a:r>
                      <a:endParaRPr lang="zh-CN" altLang="en-US" sz="14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面向后续应用扩展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支持多点校准 </a:t>
                      </a:r>
                      <a:r>
                        <a:rPr lang="en-US" altLang="zh-CN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/ </a:t>
                      </a:r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  <a:cs typeface="汉仪细中圆简" panose="02010600000101010101" charset="-122"/>
                        </a:rPr>
                        <a:t>接口扩展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  <a:cs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latin typeface="汉仪细中圆简" panose="02010600000101010101" charset="-122"/>
                          <a:ea typeface="汉仪细中圆简" panose="02010600000101010101" charset="-122"/>
                        </a:rPr>
                        <a:t>为产品化预留空间</a:t>
                      </a:r>
                      <a:endParaRPr lang="zh-CN" altLang="en-US" sz="1200">
                        <a:latin typeface="汉仪细中圆简" panose="02010600000101010101" charset="-122"/>
                        <a:ea typeface="汉仪细中圆简" panose="0201060000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10682" y="1298789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Part 03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834516" y="1448947"/>
            <a:ext cx="131444" cy="131444"/>
          </a:xfrm>
          <a:prstGeom prst="ellipse">
            <a:avLst/>
          </a:prstGeom>
          <a:solidFill>
            <a:srgbClr val="F8B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1834516" y="1646571"/>
            <a:ext cx="131444" cy="131444"/>
          </a:xfrm>
          <a:prstGeom prst="ellipse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1834516" y="1844195"/>
            <a:ext cx="131444" cy="131444"/>
          </a:xfrm>
          <a:prstGeom prst="ellipse">
            <a:avLst/>
          </a:prstGeom>
          <a:solidFill>
            <a:srgbClr val="FB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1834516" y="2041819"/>
            <a:ext cx="131444" cy="131444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834516" y="2239443"/>
            <a:ext cx="131444" cy="131444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9872757" y="1421706"/>
            <a:ext cx="469805" cy="130682"/>
            <a:chOff x="9936257" y="1383606"/>
            <a:chExt cx="469805" cy="130682"/>
          </a:xfrm>
        </p:grpSpPr>
        <p:grpSp>
          <p:nvGrpSpPr>
            <p:cNvPr id="40" name="组合 39"/>
            <p:cNvGrpSpPr/>
            <p:nvPr/>
          </p:nvGrpSpPr>
          <p:grpSpPr>
            <a:xfrm rot="10800000">
              <a:off x="9936257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41" name="燕尾形 40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燕尾形 41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燕尾形 42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10800000">
              <a:off x="10160094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64" name="燕尾形 63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燕尾形 64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燕尾形 65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7" name="文本框 66"/>
          <p:cNvSpPr txBox="1"/>
          <p:nvPr/>
        </p:nvSpPr>
        <p:spPr>
          <a:xfrm>
            <a:off x="5069139" y="2424161"/>
            <a:ext cx="480361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900" dirty="0">
                <a:solidFill>
                  <a:srgbClr val="FBD5DE"/>
                </a:solidFill>
              </a:rPr>
              <a:t>PART THREE</a:t>
            </a:r>
            <a:endParaRPr lang="zh-CN" altLang="en-US" sz="6900" dirty="0">
              <a:solidFill>
                <a:srgbClr val="FBD5D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52713" y="2382465"/>
            <a:ext cx="6899046" cy="2022226"/>
            <a:chOff x="2652713" y="2553915"/>
            <a:chExt cx="6899046" cy="2022226"/>
          </a:xfrm>
        </p:grpSpPr>
        <p:sp>
          <p:nvSpPr>
            <p:cNvPr id="2" name="文本框 1"/>
            <p:cNvSpPr txBox="1"/>
            <p:nvPr/>
          </p:nvSpPr>
          <p:spPr>
            <a:xfrm>
              <a:off x="5069139" y="2553915"/>
              <a:ext cx="448262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900" dirty="0">
                  <a:solidFill>
                    <a:srgbClr val="95748D"/>
                  </a:solidFill>
                </a:rPr>
                <a:t>PART THREE</a:t>
              </a:r>
              <a:endParaRPr lang="zh-CN" altLang="en-US" sz="6900" dirty="0">
                <a:solidFill>
                  <a:srgbClr val="95748D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652713" y="2801096"/>
              <a:ext cx="1636808" cy="1636808"/>
              <a:chOff x="2405063" y="2610596"/>
              <a:chExt cx="1636808" cy="163680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405063" y="2610596"/>
                <a:ext cx="1636808" cy="1636808"/>
                <a:chOff x="2405063" y="2610596"/>
                <a:chExt cx="1636808" cy="1636808"/>
              </a:xfrm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235" t="34499" r="49339" b="43592"/>
                <a:stretch>
                  <a:fillRect/>
                </a:stretch>
              </p:blipFill>
              <p:spPr>
                <a:xfrm>
                  <a:off x="2405063" y="2610596"/>
                  <a:ext cx="1636808" cy="1636808"/>
                </a:xfrm>
                <a:custGeom>
                  <a:avLst/>
                  <a:gdLst>
                    <a:gd name="connsiteX0" fmla="*/ 818404 w 1636808"/>
                    <a:gd name="connsiteY0" fmla="*/ 0 h 1636808"/>
                    <a:gd name="connsiteX1" fmla="*/ 1636808 w 1636808"/>
                    <a:gd name="connsiteY1" fmla="*/ 818404 h 1636808"/>
                    <a:gd name="connsiteX2" fmla="*/ 818404 w 1636808"/>
                    <a:gd name="connsiteY2" fmla="*/ 1636808 h 1636808"/>
                    <a:gd name="connsiteX3" fmla="*/ 0 w 1636808"/>
                    <a:gd name="connsiteY3" fmla="*/ 818404 h 1636808"/>
                    <a:gd name="connsiteX4" fmla="*/ 818404 w 1636808"/>
                    <a:gd name="connsiteY4" fmla="*/ 0 h 163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808" h="1636808">
                      <a:moveTo>
                        <a:pt x="818404" y="0"/>
                      </a:moveTo>
                      <a:cubicBezTo>
                        <a:pt x="1270396" y="0"/>
                        <a:pt x="1636808" y="366412"/>
                        <a:pt x="1636808" y="818404"/>
                      </a:cubicBezTo>
                      <a:cubicBezTo>
                        <a:pt x="1636808" y="1270396"/>
                        <a:pt x="1270396" y="1636808"/>
                        <a:pt x="818404" y="1636808"/>
                      </a:cubicBezTo>
                      <a:cubicBezTo>
                        <a:pt x="366412" y="1636808"/>
                        <a:pt x="0" y="1270396"/>
                        <a:pt x="0" y="818404"/>
                      </a:cubicBezTo>
                      <a:cubicBezTo>
                        <a:pt x="0" y="366412"/>
                        <a:pt x="366412" y="0"/>
                        <a:pt x="818404" y="0"/>
                      </a:cubicBezTo>
                      <a:close/>
                    </a:path>
                  </a:pathLst>
                </a:custGeom>
              </p:spPr>
            </p:pic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5602" t="10129" r="6898" b="77632"/>
                <a:stretch>
                  <a:fillRect/>
                </a:stretch>
              </p:blipFill>
              <p:spPr>
                <a:xfrm>
                  <a:off x="3665061" y="2627664"/>
                  <a:ext cx="376810" cy="376810"/>
                </a:xfrm>
                <a:custGeom>
                  <a:avLst/>
                  <a:gdLst>
                    <a:gd name="connsiteX0" fmla="*/ 457200 w 914400"/>
                    <a:gd name="connsiteY0" fmla="*/ 0 h 914400"/>
                    <a:gd name="connsiteX1" fmla="*/ 914400 w 914400"/>
                    <a:gd name="connsiteY1" fmla="*/ 457200 h 914400"/>
                    <a:gd name="connsiteX2" fmla="*/ 457200 w 914400"/>
                    <a:gd name="connsiteY2" fmla="*/ 914400 h 914400"/>
                    <a:gd name="connsiteX3" fmla="*/ 0 w 914400"/>
                    <a:gd name="connsiteY3" fmla="*/ 457200 h 914400"/>
                    <a:gd name="connsiteX4" fmla="*/ 457200 w 914400"/>
                    <a:gd name="connsiteY4" fmla="*/ 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400" h="914400">
                      <a:moveTo>
                        <a:pt x="457200" y="0"/>
                      </a:moveTo>
                      <a:cubicBezTo>
                        <a:pt x="709705" y="0"/>
                        <a:pt x="914400" y="204695"/>
                        <a:pt x="914400" y="457200"/>
                      </a:cubicBezTo>
                      <a:cubicBezTo>
                        <a:pt x="914400" y="709705"/>
                        <a:pt x="709705" y="914400"/>
                        <a:pt x="457200" y="914400"/>
                      </a:cubicBezTo>
                      <a:cubicBezTo>
                        <a:pt x="204695" y="914400"/>
                        <a:pt x="0" y="709705"/>
                        <a:pt x="0" y="457200"/>
                      </a:cubicBezTo>
                      <a:cubicBezTo>
                        <a:pt x="0" y="204695"/>
                        <a:pt x="204695" y="0"/>
                        <a:pt x="457200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39" name="文本框 38"/>
              <p:cNvSpPr txBox="1"/>
              <p:nvPr/>
            </p:nvSpPr>
            <p:spPr>
              <a:xfrm>
                <a:off x="2557810" y="2981235"/>
                <a:ext cx="13697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solidFill>
                      <a:srgbClr val="FAF7F8"/>
                    </a:solidFill>
                    <a:latin typeface="胡晓波男神体" panose="02010600030101010101" pitchFamily="2" charset="-122"/>
                    <a:ea typeface="胡晓波男神体" panose="02010600030101010101" pitchFamily="2" charset="-122"/>
                    <a:cs typeface="胡晓波男神体" panose="02010600030101010101" pitchFamily="2" charset="-122"/>
                  </a:rPr>
                  <a:t>03</a:t>
                </a:r>
                <a:endParaRPr lang="zh-CN" altLang="en-US" sz="5400" dirty="0">
                  <a:solidFill>
                    <a:srgbClr val="FAF7F8"/>
                  </a:solidFill>
                  <a:latin typeface="胡晓波男神体" panose="02010600030101010101" pitchFamily="2" charset="-122"/>
                  <a:ea typeface="胡晓波男神体" panose="02010600030101010101" pitchFamily="2" charset="-122"/>
                  <a:cs typeface="胡晓波男神体" panose="02010600030101010101" pitchFamily="2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5069139" y="3746196"/>
              <a:ext cx="448262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dirty="0">
                  <a:solidFill>
                    <a:srgbClr val="F8B3C3"/>
                  </a:solidFill>
                  <a:latin typeface="汉仪粗圆简" panose="02010600000101010101" charset="-122"/>
                  <a:ea typeface="汉仪粗圆简" panose="02010600000101010101" charset="-122"/>
                </a:rPr>
                <a:t>技术</a:t>
              </a:r>
              <a:r>
                <a:rPr lang="zh-CN" altLang="en-US" sz="4800" dirty="0">
                  <a:solidFill>
                    <a:srgbClr val="95748D"/>
                  </a:solidFill>
                  <a:latin typeface="汉仪粗圆简" panose="02010600000101010101" charset="-122"/>
                  <a:ea typeface="汉仪粗圆简" panose="02010600000101010101" charset="-122"/>
                </a:rPr>
                <a:t>路线</a:t>
              </a:r>
              <a:endParaRPr lang="zh-CN" altLang="en-US" sz="4800" dirty="0">
                <a:solidFill>
                  <a:srgbClr val="95748D"/>
                </a:solidFill>
                <a:latin typeface="汉仪粗圆简" panose="02010600000101010101" charset="-122"/>
                <a:ea typeface="汉仪粗圆简" panose="02010600000101010101" charset="-122"/>
              </a:endParaRPr>
            </a:p>
          </p:txBody>
        </p:sp>
      </p:grp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系统总体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架构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方案结构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10" y="996950"/>
            <a:ext cx="8094345" cy="5353050"/>
          </a:xfrm>
          <a:prstGeom prst="rect">
            <a:avLst/>
          </a:prstGeom>
          <a:effectLst/>
        </p:spPr>
      </p:pic>
      <p:pic>
        <p:nvPicPr>
          <p:cNvPr id="6" name="图片 5" descr="unnamed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系统总体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架构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sp>
        <p:nvSpPr>
          <p:cNvPr id="16" name="Freeform 3"/>
          <p:cNvSpPr/>
          <p:nvPr>
            <p:custDataLst>
              <p:tags r:id="rId2"/>
            </p:custDataLst>
          </p:nvPr>
        </p:nvSpPr>
        <p:spPr>
          <a:xfrm>
            <a:off x="4633281" y="288514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7" name="Freeform 4"/>
          <p:cNvSpPr/>
          <p:nvPr>
            <p:custDataLst>
              <p:tags r:id="rId3"/>
            </p:custDataLst>
          </p:nvPr>
        </p:nvSpPr>
        <p:spPr>
          <a:xfrm rot="2700000">
            <a:off x="5399212" y="2204857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8" name="Freeform 5"/>
          <p:cNvSpPr/>
          <p:nvPr>
            <p:custDataLst>
              <p:tags r:id="rId4"/>
            </p:custDataLst>
          </p:nvPr>
        </p:nvSpPr>
        <p:spPr>
          <a:xfrm flipH="1">
            <a:off x="7095883" y="2898266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19" name="Freeform 6"/>
          <p:cNvSpPr/>
          <p:nvPr>
            <p:custDataLst>
              <p:tags r:id="rId5"/>
            </p:custDataLst>
          </p:nvPr>
        </p:nvSpPr>
        <p:spPr>
          <a:xfrm rot="18900000" flipH="1">
            <a:off x="6328048" y="2209718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0" name="Freeform 7"/>
          <p:cNvSpPr/>
          <p:nvPr>
            <p:custDataLst>
              <p:tags r:id="rId6"/>
            </p:custDataLst>
          </p:nvPr>
        </p:nvSpPr>
        <p:spPr>
          <a:xfrm flipH="1" flipV="1">
            <a:off x="7089751" y="3990041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1" name="Freeform 8"/>
          <p:cNvSpPr/>
          <p:nvPr>
            <p:custDataLst>
              <p:tags r:id="rId7"/>
            </p:custDataLst>
          </p:nvPr>
        </p:nvSpPr>
        <p:spPr>
          <a:xfrm rot="2700000" flipH="1" flipV="1">
            <a:off x="6338664" y="469465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2" name="Freeform 9"/>
          <p:cNvSpPr/>
          <p:nvPr>
            <p:custDataLst>
              <p:tags r:id="rId8"/>
            </p:custDataLst>
          </p:nvPr>
        </p:nvSpPr>
        <p:spPr>
          <a:xfrm flipV="1">
            <a:off x="4664177" y="3986647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sp>
        <p:nvSpPr>
          <p:cNvPr id="23" name="Freeform 10"/>
          <p:cNvSpPr/>
          <p:nvPr>
            <p:custDataLst>
              <p:tags r:id="rId9"/>
            </p:custDataLst>
          </p:nvPr>
        </p:nvSpPr>
        <p:spPr>
          <a:xfrm rot="18900000" flipV="1">
            <a:off x="5378672" y="4675829"/>
            <a:ext cx="529415" cy="828658"/>
          </a:xfrm>
          <a:custGeom>
            <a:avLst/>
            <a:gdLst>
              <a:gd name="connsiteX0" fmla="*/ 357737 w 548331"/>
              <a:gd name="connsiteY0" fmla="*/ 0 h 858265"/>
              <a:gd name="connsiteX1" fmla="*/ 548331 w 548331"/>
              <a:gd name="connsiteY1" fmla="*/ 190594 h 858265"/>
              <a:gd name="connsiteX2" fmla="*/ 499314 w 548331"/>
              <a:gd name="connsiteY2" fmla="*/ 248749 h 858265"/>
              <a:gd name="connsiteX3" fmla="*/ 276391 w 548331"/>
              <a:gd name="connsiteY3" fmla="*/ 772587 h 858265"/>
              <a:gd name="connsiteX4" fmla="*/ 264963 w 548331"/>
              <a:gd name="connsiteY4" fmla="*/ 858265 h 858265"/>
              <a:gd name="connsiteX5" fmla="*/ 0 w 548331"/>
              <a:gd name="connsiteY5" fmla="*/ 858265 h 858265"/>
              <a:gd name="connsiteX6" fmla="*/ 515 w 548331"/>
              <a:gd name="connsiteY6" fmla="*/ 847392 h 858265"/>
              <a:gd name="connsiteX7" fmla="*/ 354383 w 548331"/>
              <a:gd name="connsiteY7" fmla="*/ 3669 h 85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331" h="858265">
                <a:moveTo>
                  <a:pt x="357737" y="0"/>
                </a:moveTo>
                <a:lnTo>
                  <a:pt x="548331" y="190594"/>
                </a:lnTo>
                <a:lnTo>
                  <a:pt x="499314" y="248749"/>
                </a:lnTo>
                <a:cubicBezTo>
                  <a:pt x="388652" y="401435"/>
                  <a:pt x="310879" y="579514"/>
                  <a:pt x="276391" y="772587"/>
                </a:cubicBezTo>
                <a:lnTo>
                  <a:pt x="264963" y="858265"/>
                </a:lnTo>
                <a:lnTo>
                  <a:pt x="0" y="858265"/>
                </a:lnTo>
                <a:lnTo>
                  <a:pt x="515" y="847392"/>
                </a:lnTo>
                <a:cubicBezTo>
                  <a:pt x="30947" y="527672"/>
                  <a:pt x="158938" y="236396"/>
                  <a:pt x="354383" y="3669"/>
                </a:cubicBezTo>
                <a:close/>
              </a:path>
            </a:pathLst>
          </a:custGeom>
          <a:solidFill>
            <a:srgbClr val="FBD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cxnSp>
        <p:nvCxnSpPr>
          <p:cNvPr id="24" name="Straight Connector 11"/>
          <p:cNvCxnSpPr/>
          <p:nvPr>
            <p:custDataLst>
              <p:tags r:id="rId10"/>
            </p:custDataLst>
          </p:nvPr>
        </p:nvCxnSpPr>
        <p:spPr>
          <a:xfrm flipH="1">
            <a:off x="4298215" y="3984741"/>
            <a:ext cx="618000" cy="0"/>
          </a:xfrm>
          <a:prstGeom prst="line">
            <a:avLst/>
          </a:prstGeom>
          <a:ln w="19050">
            <a:solidFill>
              <a:srgbClr val="FBD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13"/>
          <p:cNvGrpSpPr/>
          <p:nvPr>
            <p:custDataLst>
              <p:tags r:id="rId11"/>
            </p:custDataLst>
          </p:nvPr>
        </p:nvGrpSpPr>
        <p:grpSpPr>
          <a:xfrm>
            <a:off x="4274327" y="2538293"/>
            <a:ext cx="669024" cy="618000"/>
            <a:chOff x="4228147" y="2074893"/>
            <a:chExt cx="692928" cy="640080"/>
          </a:xfrm>
        </p:grpSpPr>
        <p:cxnSp>
          <p:nvCxnSpPr>
            <p:cNvPr id="60" name="Straight Connector 14"/>
            <p:cNvCxnSpPr/>
            <p:nvPr>
              <p:custDataLst>
                <p:tags r:id="rId12"/>
              </p:custDataLst>
            </p:nvPr>
          </p:nvCxnSpPr>
          <p:spPr>
            <a:xfrm rot="2700000" flipH="1">
              <a:off x="4601035" y="2394933"/>
              <a:ext cx="640080" cy="0"/>
            </a:xfrm>
            <a:prstGeom prst="line">
              <a:avLst/>
            </a:prstGeom>
            <a:ln w="19050" cap="sq">
              <a:solidFill>
                <a:srgbClr val="FBDBD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5"/>
            <p:cNvCxnSpPr/>
            <p:nvPr>
              <p:custDataLst>
                <p:tags r:id="rId13"/>
              </p:custDataLst>
            </p:nvPr>
          </p:nvCxnSpPr>
          <p:spPr>
            <a:xfrm flipH="1">
              <a:off x="4228147" y="2166249"/>
              <a:ext cx="466625" cy="0"/>
            </a:xfrm>
            <a:prstGeom prst="line">
              <a:avLst/>
            </a:prstGeom>
            <a:ln w="19050">
              <a:solidFill>
                <a:srgbClr val="FBDBD5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16"/>
          <p:cNvGrpSpPr/>
          <p:nvPr>
            <p:custDataLst>
              <p:tags r:id="rId14"/>
            </p:custDataLst>
          </p:nvPr>
        </p:nvGrpSpPr>
        <p:grpSpPr>
          <a:xfrm flipV="1">
            <a:off x="4276626" y="4726913"/>
            <a:ext cx="834570" cy="618000"/>
            <a:chOff x="4056686" y="2074893"/>
            <a:chExt cx="864389" cy="640080"/>
          </a:xfrm>
        </p:grpSpPr>
        <p:cxnSp>
          <p:nvCxnSpPr>
            <p:cNvPr id="58" name="Straight Connector 17"/>
            <p:cNvCxnSpPr/>
            <p:nvPr>
              <p:custDataLst>
                <p:tags r:id="rId15"/>
              </p:custDataLst>
            </p:nvPr>
          </p:nvCxnSpPr>
          <p:spPr>
            <a:xfrm rot="2700000" flipH="1">
              <a:off x="4601035" y="2394933"/>
              <a:ext cx="640080" cy="0"/>
            </a:xfrm>
            <a:prstGeom prst="line">
              <a:avLst/>
            </a:prstGeom>
            <a:ln w="19050" cap="sq">
              <a:solidFill>
                <a:srgbClr val="FBDBD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8"/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4056686" y="2166249"/>
              <a:ext cx="638087" cy="0"/>
            </a:xfrm>
            <a:prstGeom prst="line">
              <a:avLst/>
            </a:prstGeom>
            <a:ln w="19050">
              <a:solidFill>
                <a:srgbClr val="FBDBD5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0"/>
          <p:cNvGrpSpPr/>
          <p:nvPr>
            <p:custDataLst>
              <p:tags r:id="rId17"/>
            </p:custDataLst>
          </p:nvPr>
        </p:nvGrpSpPr>
        <p:grpSpPr>
          <a:xfrm flipH="1">
            <a:off x="7114981" y="2373631"/>
            <a:ext cx="829599" cy="618000"/>
            <a:chOff x="4061835" y="2074893"/>
            <a:chExt cx="859240" cy="640080"/>
          </a:xfrm>
        </p:grpSpPr>
        <p:cxnSp>
          <p:nvCxnSpPr>
            <p:cNvPr id="56" name="Straight Connector 21"/>
            <p:cNvCxnSpPr/>
            <p:nvPr>
              <p:custDataLst>
                <p:tags r:id="rId18"/>
              </p:custDataLst>
            </p:nvPr>
          </p:nvCxnSpPr>
          <p:spPr>
            <a:xfrm rot="2700000" flipH="1">
              <a:off x="4601035" y="2394933"/>
              <a:ext cx="640080" cy="0"/>
            </a:xfrm>
            <a:prstGeom prst="line">
              <a:avLst/>
            </a:prstGeom>
            <a:ln w="19050" cap="sq">
              <a:solidFill>
                <a:srgbClr val="F8B3C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22"/>
            <p:cNvCxnSpPr/>
            <p:nvPr>
              <p:custDataLst>
                <p:tags r:id="rId19"/>
              </p:custDataLst>
            </p:nvPr>
          </p:nvCxnSpPr>
          <p:spPr>
            <a:xfrm flipH="1">
              <a:off x="4061835" y="2166249"/>
              <a:ext cx="632937" cy="0"/>
            </a:xfrm>
            <a:prstGeom prst="line">
              <a:avLst/>
            </a:prstGeom>
            <a:ln w="19050">
              <a:solidFill>
                <a:srgbClr val="F8B3C3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3"/>
          <p:cNvCxnSpPr/>
          <p:nvPr>
            <p:custDataLst>
              <p:tags r:id="rId20"/>
            </p:custDataLst>
          </p:nvPr>
        </p:nvCxnSpPr>
        <p:spPr>
          <a:xfrm rot="5400000" flipV="1">
            <a:off x="7683553" y="3422395"/>
            <a:ext cx="0" cy="618000"/>
          </a:xfrm>
          <a:prstGeom prst="line">
            <a:avLst/>
          </a:prstGeom>
          <a:ln w="19050">
            <a:solidFill>
              <a:srgbClr val="F8B3C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>
            <p:custDataLst>
              <p:tags r:id="rId21"/>
            </p:custDataLst>
          </p:nvPr>
        </p:nvGrpSpPr>
        <p:grpSpPr>
          <a:xfrm>
            <a:off x="8085890" y="1923985"/>
            <a:ext cx="3545595" cy="869707"/>
            <a:chOff x="307636" y="2109612"/>
            <a:chExt cx="3545595" cy="869707"/>
          </a:xfrm>
        </p:grpSpPr>
        <p:sp>
          <p:nvSpPr>
            <p:cNvPr id="71" name="矩形 70"/>
            <p:cNvSpPr/>
            <p:nvPr>
              <p:custDataLst>
                <p:tags r:id="rId22"/>
              </p:custDataLst>
            </p:nvPr>
          </p:nvSpPr>
          <p:spPr>
            <a:xfrm>
              <a:off x="320764" y="2403374"/>
              <a:ext cx="353246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作为系统核心控制单元，负责传感器数据采集、算法运算及显示与按键逻辑控制。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72" name="矩形 71"/>
            <p:cNvSpPr/>
            <p:nvPr>
              <p:custDataLst>
                <p:tags r:id="rId23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控制器：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STM32F103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24"/>
            </p:custDataLst>
          </p:nvPr>
        </p:nvGrpSpPr>
        <p:grpSpPr>
          <a:xfrm>
            <a:off x="8085890" y="3157198"/>
            <a:ext cx="3545595" cy="869707"/>
            <a:chOff x="307636" y="2109612"/>
            <a:chExt cx="3545595" cy="869707"/>
          </a:xfrm>
        </p:grpSpPr>
        <p:sp>
          <p:nvSpPr>
            <p:cNvPr id="74" name="矩形 73"/>
            <p:cNvSpPr/>
            <p:nvPr>
              <p:custDataLst>
                <p:tags r:id="rId25"/>
              </p:custDataLst>
            </p:nvPr>
          </p:nvSpPr>
          <p:spPr>
            <a:xfrm>
              <a:off x="320764" y="2403374"/>
              <a:ext cx="353246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采用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 LCD 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实时显示检测结果，配合三按键完成校准、确认与模式切换操作。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75" name="矩形 74"/>
            <p:cNvSpPr/>
            <p:nvPr>
              <p:custDataLst>
                <p:tags r:id="rId26"/>
              </p:custDataLst>
            </p:nvPr>
          </p:nvSpPr>
          <p:spPr>
            <a:xfrm>
              <a:off x="307636" y="2109612"/>
              <a:ext cx="2802890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显示与交互：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LCD + 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三按键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27"/>
            </p:custDataLst>
          </p:nvPr>
        </p:nvGrpSpPr>
        <p:grpSpPr>
          <a:xfrm>
            <a:off x="582332" y="4485661"/>
            <a:ext cx="3532467" cy="869707"/>
            <a:chOff x="320764" y="2109612"/>
            <a:chExt cx="3532467" cy="869707"/>
          </a:xfrm>
        </p:grpSpPr>
        <p:sp>
          <p:nvSpPr>
            <p:cNvPr id="80" name="矩形 79"/>
            <p:cNvSpPr/>
            <p:nvPr>
              <p:custDataLst>
                <p:tags r:id="rId28"/>
              </p:custDataLst>
            </p:nvPr>
          </p:nvSpPr>
          <p:spPr>
            <a:xfrm>
              <a:off x="320764" y="2403374"/>
              <a:ext cx="353246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对电路与传感器进行功能性封装，固定相对位置，提高测量稳定性与工程完整度。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81" name="矩形 80"/>
            <p:cNvSpPr/>
            <p:nvPr>
              <p:custDataLst>
                <p:tags r:id="rId29"/>
              </p:custDataLst>
            </p:nvPr>
          </p:nvSpPr>
          <p:spPr>
            <a:xfrm>
              <a:off x="708114" y="2109612"/>
              <a:ext cx="3126740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结构：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3D 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打印外壳（功能性封装）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30"/>
            </p:custDataLst>
          </p:nvPr>
        </p:nvGrpSpPr>
        <p:grpSpPr>
          <a:xfrm>
            <a:off x="582332" y="1855266"/>
            <a:ext cx="3532467" cy="869707"/>
            <a:chOff x="320764" y="2109612"/>
            <a:chExt cx="3532467" cy="869707"/>
          </a:xfrm>
        </p:grpSpPr>
        <p:sp>
          <p:nvSpPr>
            <p:cNvPr id="83" name="矩形 82"/>
            <p:cNvSpPr/>
            <p:nvPr>
              <p:custDataLst>
                <p:tags r:id="rId31"/>
              </p:custDataLst>
            </p:nvPr>
          </p:nvSpPr>
          <p:spPr>
            <a:xfrm>
              <a:off x="320764" y="2403374"/>
              <a:ext cx="353246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利用金属靠近引起电感变化，实现对螺帽位置的高精度非接触检测，抗环境干扰能力强。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84" name="矩形 83"/>
            <p:cNvSpPr/>
            <p:nvPr>
              <p:custDataLst>
                <p:tags r:id="rId32"/>
              </p:custDataLst>
            </p:nvPr>
          </p:nvSpPr>
          <p:spPr>
            <a:xfrm>
              <a:off x="169828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</a:rPr>
                <a:t>传感器：</a:t>
              </a:r>
              <a:r>
                <a:rPr lang="en-US" altLang="zh-CN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</a:rPr>
                <a:t>LDC1614</a:t>
              </a:r>
              <a:endPara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33"/>
            </p:custDataLst>
          </p:nvPr>
        </p:nvGrpSpPr>
        <p:grpSpPr>
          <a:xfrm>
            <a:off x="582332" y="3150783"/>
            <a:ext cx="3532467" cy="869707"/>
            <a:chOff x="320764" y="2109612"/>
            <a:chExt cx="3532467" cy="869707"/>
          </a:xfrm>
        </p:grpSpPr>
        <p:sp>
          <p:nvSpPr>
            <p:cNvPr id="86" name="矩形 85"/>
            <p:cNvSpPr/>
            <p:nvPr>
              <p:custDataLst>
                <p:tags r:id="rId34"/>
              </p:custDataLst>
            </p:nvPr>
          </p:nvSpPr>
          <p:spPr>
            <a:xfrm>
              <a:off x="320764" y="2403374"/>
              <a:ext cx="3532467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通过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 I</a:t>
              </a:r>
              <a:r>
                <a:rPr lang="en-US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²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C 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总线与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 LDC1614 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通信，硬件连接简单，占用资源少，稳定性高。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35"/>
              </p:custDataLst>
            </p:nvPr>
          </p:nvSpPr>
          <p:spPr>
            <a:xfrm>
              <a:off x="169828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通信方式：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I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²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rPr>
                <a:t>C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36"/>
            </p:custDataLst>
          </p:nvPr>
        </p:nvGrpSpPr>
        <p:grpSpPr>
          <a:xfrm>
            <a:off x="5695307" y="3440245"/>
            <a:ext cx="961380" cy="960301"/>
            <a:chOff x="6306986" y="3181380"/>
            <a:chExt cx="392005" cy="391565"/>
          </a:xfrm>
          <a:solidFill>
            <a:srgbClr val="BEAAB9"/>
          </a:solidFill>
        </p:grpSpPr>
        <p:sp>
          <p:nvSpPr>
            <p:cNvPr id="89" name="Freeform 228"/>
            <p:cNvSpPr/>
            <p:nvPr>
              <p:custDataLst>
                <p:tags r:id="rId37"/>
              </p:custDataLst>
            </p:nvPr>
          </p:nvSpPr>
          <p:spPr>
            <a:xfrm>
              <a:off x="6306986" y="3181380"/>
              <a:ext cx="392005" cy="391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341" extrusionOk="0">
                  <a:moveTo>
                    <a:pt x="20593" y="18671"/>
                  </a:moveTo>
                  <a:cubicBezTo>
                    <a:pt x="15834" y="13820"/>
                    <a:pt x="15834" y="13820"/>
                    <a:pt x="15834" y="13820"/>
                  </a:cubicBezTo>
                  <a:cubicBezTo>
                    <a:pt x="16841" y="12447"/>
                    <a:pt x="17481" y="10617"/>
                    <a:pt x="17481" y="8695"/>
                  </a:cubicBezTo>
                  <a:cubicBezTo>
                    <a:pt x="17481" y="3936"/>
                    <a:pt x="13546" y="0"/>
                    <a:pt x="8786" y="0"/>
                  </a:cubicBezTo>
                  <a:cubicBezTo>
                    <a:pt x="3936" y="0"/>
                    <a:pt x="0" y="3936"/>
                    <a:pt x="0" y="8695"/>
                  </a:cubicBezTo>
                  <a:cubicBezTo>
                    <a:pt x="0" y="13546"/>
                    <a:pt x="3936" y="17390"/>
                    <a:pt x="8786" y="17390"/>
                  </a:cubicBezTo>
                  <a:cubicBezTo>
                    <a:pt x="10708" y="17390"/>
                    <a:pt x="12447" y="16841"/>
                    <a:pt x="13912" y="15742"/>
                  </a:cubicBezTo>
                  <a:cubicBezTo>
                    <a:pt x="18763" y="20593"/>
                    <a:pt x="18763" y="20593"/>
                    <a:pt x="18763" y="20593"/>
                  </a:cubicBezTo>
                  <a:cubicBezTo>
                    <a:pt x="19495" y="21325"/>
                    <a:pt x="20593" y="21600"/>
                    <a:pt x="21051" y="21051"/>
                  </a:cubicBezTo>
                  <a:cubicBezTo>
                    <a:pt x="21600" y="20502"/>
                    <a:pt x="21417" y="19495"/>
                    <a:pt x="20593" y="18671"/>
                  </a:cubicBezTo>
                  <a:close/>
                  <a:moveTo>
                    <a:pt x="8695" y="15376"/>
                  </a:moveTo>
                  <a:cubicBezTo>
                    <a:pt x="7780" y="15376"/>
                    <a:pt x="6864" y="15193"/>
                    <a:pt x="6132" y="14827"/>
                  </a:cubicBezTo>
                  <a:cubicBezTo>
                    <a:pt x="5308" y="14461"/>
                    <a:pt x="4576" y="13912"/>
                    <a:pt x="3936" y="13363"/>
                  </a:cubicBezTo>
                  <a:cubicBezTo>
                    <a:pt x="2654" y="12081"/>
                    <a:pt x="1922" y="10342"/>
                    <a:pt x="1922" y="8512"/>
                  </a:cubicBezTo>
                  <a:cubicBezTo>
                    <a:pt x="1922" y="4851"/>
                    <a:pt x="4942" y="1831"/>
                    <a:pt x="8695" y="1831"/>
                  </a:cubicBezTo>
                  <a:cubicBezTo>
                    <a:pt x="10434" y="1831"/>
                    <a:pt x="12173" y="2471"/>
                    <a:pt x="13363" y="3753"/>
                  </a:cubicBezTo>
                  <a:cubicBezTo>
                    <a:pt x="14644" y="5034"/>
                    <a:pt x="15376" y="6681"/>
                    <a:pt x="15376" y="8512"/>
                  </a:cubicBezTo>
                  <a:cubicBezTo>
                    <a:pt x="15376" y="9976"/>
                    <a:pt x="14827" y="11532"/>
                    <a:pt x="13912" y="12722"/>
                  </a:cubicBezTo>
                  <a:cubicBezTo>
                    <a:pt x="13729" y="12997"/>
                    <a:pt x="13546" y="13180"/>
                    <a:pt x="13363" y="13363"/>
                  </a:cubicBezTo>
                  <a:cubicBezTo>
                    <a:pt x="13180" y="13546"/>
                    <a:pt x="12997" y="13729"/>
                    <a:pt x="12814" y="13820"/>
                  </a:cubicBezTo>
                  <a:cubicBezTo>
                    <a:pt x="11624" y="14827"/>
                    <a:pt x="10159" y="15376"/>
                    <a:pt x="8695" y="15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90" name="Freeform 229"/>
            <p:cNvSpPr/>
            <p:nvPr>
              <p:custDataLst>
                <p:tags r:id="rId38"/>
              </p:custDataLst>
            </p:nvPr>
          </p:nvSpPr>
          <p:spPr>
            <a:xfrm>
              <a:off x="6367876" y="3237997"/>
              <a:ext cx="196559" cy="196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2" y="3138"/>
                  </a:moveTo>
                  <a:cubicBezTo>
                    <a:pt x="16431" y="1108"/>
                    <a:pt x="13662" y="0"/>
                    <a:pt x="10892" y="0"/>
                  </a:cubicBezTo>
                  <a:cubicBezTo>
                    <a:pt x="4800" y="0"/>
                    <a:pt x="0" y="4800"/>
                    <a:pt x="0" y="10892"/>
                  </a:cubicBezTo>
                  <a:cubicBezTo>
                    <a:pt x="0" y="13662"/>
                    <a:pt x="1108" y="16431"/>
                    <a:pt x="3138" y="18462"/>
                  </a:cubicBezTo>
                  <a:cubicBezTo>
                    <a:pt x="5169" y="20492"/>
                    <a:pt x="7938" y="21600"/>
                    <a:pt x="10892" y="21600"/>
                  </a:cubicBezTo>
                  <a:cubicBezTo>
                    <a:pt x="13662" y="21600"/>
                    <a:pt x="16431" y="20492"/>
                    <a:pt x="18462" y="18462"/>
                  </a:cubicBezTo>
                  <a:cubicBezTo>
                    <a:pt x="20492" y="16431"/>
                    <a:pt x="21600" y="13662"/>
                    <a:pt x="21600" y="10892"/>
                  </a:cubicBezTo>
                  <a:cubicBezTo>
                    <a:pt x="21600" y="7938"/>
                    <a:pt x="20492" y="5169"/>
                    <a:pt x="18462" y="3138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9110" y="1048385"/>
            <a:ext cx="1939925" cy="10909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14510" y="739775"/>
            <a:ext cx="2216785" cy="14782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011285" y="3338830"/>
            <a:ext cx="2456815" cy="24568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硬件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设计方案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1145954" y="4050780"/>
            <a:ext cx="667139" cy="667139"/>
            <a:chOff x="7181189" y="3564796"/>
            <a:chExt cx="735436" cy="735436"/>
          </a:xfrm>
        </p:grpSpPr>
        <p:sp>
          <p:nvSpPr>
            <p:cNvPr id="19" name="椭圆 18"/>
            <p:cNvSpPr/>
            <p:nvPr>
              <p:custDataLst>
                <p:tags r:id="rId3"/>
              </p:custDataLst>
            </p:nvPr>
          </p:nvSpPr>
          <p:spPr>
            <a:xfrm>
              <a:off x="7181189" y="3564796"/>
              <a:ext cx="735436" cy="735436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Freeform 232"/>
            <p:cNvSpPr/>
            <p:nvPr>
              <p:custDataLst>
                <p:tags r:id="rId4"/>
              </p:custDataLst>
            </p:nvPr>
          </p:nvSpPr>
          <p:spPr>
            <a:xfrm>
              <a:off x="7372489" y="3798059"/>
              <a:ext cx="349905" cy="333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5" extrusionOk="0">
                  <a:moveTo>
                    <a:pt x="18573" y="0"/>
                  </a:moveTo>
                  <a:cubicBezTo>
                    <a:pt x="3027" y="0"/>
                    <a:pt x="3027" y="0"/>
                    <a:pt x="3027" y="0"/>
                  </a:cubicBezTo>
                  <a:cubicBezTo>
                    <a:pt x="1391" y="0"/>
                    <a:pt x="0" y="1361"/>
                    <a:pt x="0" y="3061"/>
                  </a:cubicBezTo>
                  <a:cubicBezTo>
                    <a:pt x="0" y="14287"/>
                    <a:pt x="0" y="14287"/>
                    <a:pt x="0" y="14287"/>
                  </a:cubicBezTo>
                  <a:cubicBezTo>
                    <a:pt x="0" y="15987"/>
                    <a:pt x="1064" y="17433"/>
                    <a:pt x="2373" y="17433"/>
                  </a:cubicBezTo>
                  <a:cubicBezTo>
                    <a:pt x="3682" y="17433"/>
                    <a:pt x="5236" y="17433"/>
                    <a:pt x="5727" y="17433"/>
                  </a:cubicBezTo>
                  <a:cubicBezTo>
                    <a:pt x="6218" y="17433"/>
                    <a:pt x="6791" y="17688"/>
                    <a:pt x="7036" y="18028"/>
                  </a:cubicBezTo>
                  <a:cubicBezTo>
                    <a:pt x="7282" y="18369"/>
                    <a:pt x="8182" y="19474"/>
                    <a:pt x="9082" y="20580"/>
                  </a:cubicBezTo>
                  <a:cubicBezTo>
                    <a:pt x="10064" y="21600"/>
                    <a:pt x="11536" y="21600"/>
                    <a:pt x="12436" y="20580"/>
                  </a:cubicBezTo>
                  <a:cubicBezTo>
                    <a:pt x="13418" y="19474"/>
                    <a:pt x="14318" y="18369"/>
                    <a:pt x="14564" y="18028"/>
                  </a:cubicBezTo>
                  <a:cubicBezTo>
                    <a:pt x="14809" y="17688"/>
                    <a:pt x="15300" y="17433"/>
                    <a:pt x="15627" y="17433"/>
                  </a:cubicBezTo>
                  <a:cubicBezTo>
                    <a:pt x="15955" y="17433"/>
                    <a:pt x="17427" y="17433"/>
                    <a:pt x="18900" y="17433"/>
                  </a:cubicBezTo>
                  <a:cubicBezTo>
                    <a:pt x="20373" y="17433"/>
                    <a:pt x="21600" y="15987"/>
                    <a:pt x="21600" y="14287"/>
                  </a:cubicBezTo>
                  <a:cubicBezTo>
                    <a:pt x="21600" y="3061"/>
                    <a:pt x="21600" y="3061"/>
                    <a:pt x="21600" y="3061"/>
                  </a:cubicBezTo>
                  <a:cubicBezTo>
                    <a:pt x="21600" y="1361"/>
                    <a:pt x="20209" y="0"/>
                    <a:pt x="18573" y="0"/>
                  </a:cubicBezTo>
                  <a:close/>
                  <a:moveTo>
                    <a:pt x="15627" y="10545"/>
                  </a:moveTo>
                  <a:cubicBezTo>
                    <a:pt x="5973" y="10545"/>
                    <a:pt x="5973" y="10545"/>
                    <a:pt x="5973" y="10545"/>
                  </a:cubicBezTo>
                  <a:cubicBezTo>
                    <a:pt x="5973" y="9354"/>
                    <a:pt x="5973" y="9354"/>
                    <a:pt x="5973" y="9354"/>
                  </a:cubicBezTo>
                  <a:cubicBezTo>
                    <a:pt x="15627" y="9354"/>
                    <a:pt x="15627" y="9354"/>
                    <a:pt x="15627" y="9354"/>
                  </a:cubicBezTo>
                  <a:lnTo>
                    <a:pt x="15627" y="10545"/>
                  </a:lnTo>
                  <a:close/>
                  <a:moveTo>
                    <a:pt x="15627" y="7483"/>
                  </a:moveTo>
                  <a:cubicBezTo>
                    <a:pt x="5973" y="7483"/>
                    <a:pt x="5973" y="7483"/>
                    <a:pt x="5973" y="7483"/>
                  </a:cubicBezTo>
                  <a:cubicBezTo>
                    <a:pt x="5973" y="6208"/>
                    <a:pt x="5973" y="6208"/>
                    <a:pt x="5973" y="6208"/>
                  </a:cubicBezTo>
                  <a:cubicBezTo>
                    <a:pt x="15627" y="6208"/>
                    <a:pt x="15627" y="6208"/>
                    <a:pt x="15627" y="6208"/>
                  </a:cubicBezTo>
                  <a:lnTo>
                    <a:pt x="15627" y="74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24" name="组合 23"/>
          <p:cNvGrpSpPr/>
          <p:nvPr>
            <p:custDataLst>
              <p:tags r:id="rId5"/>
            </p:custDataLst>
          </p:nvPr>
        </p:nvGrpSpPr>
        <p:grpSpPr>
          <a:xfrm>
            <a:off x="1140073" y="1837380"/>
            <a:ext cx="667139" cy="667139"/>
            <a:chOff x="1324035" y="3564796"/>
            <a:chExt cx="735436" cy="735436"/>
          </a:xfrm>
        </p:grpSpPr>
        <p:sp>
          <p:nvSpPr>
            <p:cNvPr id="25" name="椭圆 24"/>
            <p:cNvSpPr/>
            <p:nvPr>
              <p:custDataLst>
                <p:tags r:id="rId6"/>
              </p:custDataLst>
            </p:nvPr>
          </p:nvSpPr>
          <p:spPr>
            <a:xfrm>
              <a:off x="1324035" y="3564796"/>
              <a:ext cx="735436" cy="735436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Freeform 247"/>
            <p:cNvSpPr/>
            <p:nvPr>
              <p:custDataLst>
                <p:tags r:id="rId7"/>
              </p:custDataLst>
            </p:nvPr>
          </p:nvSpPr>
          <p:spPr>
            <a:xfrm>
              <a:off x="1502389" y="3741844"/>
              <a:ext cx="373481" cy="373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7" h="20601" extrusionOk="0">
                  <a:moveTo>
                    <a:pt x="19823" y="17953"/>
                  </a:moveTo>
                  <a:cubicBezTo>
                    <a:pt x="14653" y="12784"/>
                    <a:pt x="14653" y="12784"/>
                    <a:pt x="14653" y="12784"/>
                  </a:cubicBezTo>
                  <a:cubicBezTo>
                    <a:pt x="14653" y="12784"/>
                    <a:pt x="14561" y="12692"/>
                    <a:pt x="14561" y="12692"/>
                  </a:cubicBezTo>
                  <a:cubicBezTo>
                    <a:pt x="16776" y="9553"/>
                    <a:pt x="16500" y="5215"/>
                    <a:pt x="13638" y="2353"/>
                  </a:cubicBezTo>
                  <a:cubicBezTo>
                    <a:pt x="10500" y="-785"/>
                    <a:pt x="5423" y="-785"/>
                    <a:pt x="2284" y="2353"/>
                  </a:cubicBezTo>
                  <a:cubicBezTo>
                    <a:pt x="-762" y="5492"/>
                    <a:pt x="-762" y="10569"/>
                    <a:pt x="2284" y="13707"/>
                  </a:cubicBezTo>
                  <a:cubicBezTo>
                    <a:pt x="5146" y="16477"/>
                    <a:pt x="9484" y="16753"/>
                    <a:pt x="12623" y="14538"/>
                  </a:cubicBezTo>
                  <a:cubicBezTo>
                    <a:pt x="12715" y="14630"/>
                    <a:pt x="12715" y="14630"/>
                    <a:pt x="12807" y="14723"/>
                  </a:cubicBezTo>
                  <a:cubicBezTo>
                    <a:pt x="17884" y="19800"/>
                    <a:pt x="17884" y="19800"/>
                    <a:pt x="17884" y="19800"/>
                  </a:cubicBezTo>
                  <a:cubicBezTo>
                    <a:pt x="18715" y="20630"/>
                    <a:pt x="19730" y="20815"/>
                    <a:pt x="20284" y="20353"/>
                  </a:cubicBezTo>
                  <a:cubicBezTo>
                    <a:pt x="20838" y="19800"/>
                    <a:pt x="20561" y="18692"/>
                    <a:pt x="19823" y="17953"/>
                  </a:cubicBezTo>
                  <a:close/>
                  <a:moveTo>
                    <a:pt x="4130" y="11861"/>
                  </a:moveTo>
                  <a:cubicBezTo>
                    <a:pt x="2100" y="9738"/>
                    <a:pt x="2100" y="6323"/>
                    <a:pt x="4130" y="4200"/>
                  </a:cubicBezTo>
                  <a:cubicBezTo>
                    <a:pt x="6253" y="2077"/>
                    <a:pt x="9669" y="2077"/>
                    <a:pt x="11792" y="4200"/>
                  </a:cubicBezTo>
                  <a:cubicBezTo>
                    <a:pt x="13915" y="6323"/>
                    <a:pt x="13915" y="9738"/>
                    <a:pt x="11792" y="11861"/>
                  </a:cubicBezTo>
                  <a:cubicBezTo>
                    <a:pt x="9669" y="13984"/>
                    <a:pt x="6253" y="13984"/>
                    <a:pt x="4130" y="1186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45" name="组合 44"/>
          <p:cNvGrpSpPr/>
          <p:nvPr>
            <p:custDataLst>
              <p:tags r:id="rId8"/>
            </p:custDataLst>
          </p:nvPr>
        </p:nvGrpSpPr>
        <p:grpSpPr>
          <a:xfrm>
            <a:off x="1947186" y="1698105"/>
            <a:ext cx="4816471" cy="964322"/>
            <a:chOff x="307636" y="2109612"/>
            <a:chExt cx="4816471" cy="964322"/>
          </a:xfrm>
        </p:grpSpPr>
        <p:sp>
          <p:nvSpPr>
            <p:cNvPr id="46" name="矩形 45"/>
            <p:cNvSpPr/>
            <p:nvPr>
              <p:custDataLst>
                <p:tags r:id="rId9"/>
              </p:custDataLst>
            </p:nvPr>
          </p:nvSpPr>
          <p:spPr>
            <a:xfrm>
              <a:off x="320764" y="2428774"/>
              <a:ext cx="480334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通过自行绘板，能够直接集成</a:t>
              </a:r>
              <a:r>
                <a:rPr lang="en-US" altLang="zh-CN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STM32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与</a:t>
              </a:r>
              <a:r>
                <a:rPr lang="en-US" altLang="zh-CN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LDC1614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测量单元，使产品更加完善，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</a:rPr>
                <a:t>易于调试。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0"/>
              </p:custDataLst>
            </p:nvPr>
          </p:nvSpPr>
          <p:spPr>
            <a:xfrm>
              <a:off x="307636" y="2109612"/>
              <a:ext cx="407479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原计划：依据原理图由嘉立创制版并自行焊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元件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1"/>
            </p:custDataLst>
          </p:nvPr>
        </p:nvGrpSpPr>
        <p:grpSpPr>
          <a:xfrm>
            <a:off x="1947186" y="3880537"/>
            <a:ext cx="4816471" cy="964322"/>
            <a:chOff x="307636" y="2109612"/>
            <a:chExt cx="4816471" cy="964322"/>
          </a:xfrm>
        </p:grpSpPr>
        <p:sp>
          <p:nvSpPr>
            <p:cNvPr id="52" name="矩形 51"/>
            <p:cNvSpPr/>
            <p:nvPr>
              <p:custDataLst>
                <p:tags r:id="rId12"/>
              </p:custDataLst>
            </p:nvPr>
          </p:nvSpPr>
          <p:spPr>
            <a:xfrm>
              <a:off x="320764" y="2428774"/>
              <a:ext cx="480334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网络上由现场的</a:t>
              </a:r>
              <a:r>
                <a:rPr lang="en-US" altLang="zh-CN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LDC1614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传感器模块，价格较为经济，同时避免了由于绘板与焊接出现问题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而带来的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风险。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53" name="矩形 52"/>
            <p:cNvSpPr/>
            <p:nvPr>
              <p:custDataLst>
                <p:tags r:id="rId13"/>
              </p:custDataLst>
            </p:nvPr>
          </p:nvSpPr>
          <p:spPr>
            <a:xfrm>
              <a:off x="307636" y="2109612"/>
              <a:ext cx="361886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最终方案：采购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现成开发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模块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695" y="1258570"/>
            <a:ext cx="5053330" cy="1524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12940" y="2970530"/>
            <a:ext cx="4288155" cy="2827020"/>
          </a:xfrm>
          <a:prstGeom prst="rect">
            <a:avLst/>
          </a:prstGeom>
        </p:spPr>
      </p:pic>
      <p:grpSp>
        <p:nvGrpSpPr>
          <p:cNvPr id="5" name="组合 4"/>
          <p:cNvGrpSpPr/>
          <p:nvPr>
            <p:custDataLst>
              <p:tags r:id="rId16"/>
            </p:custDataLst>
          </p:nvPr>
        </p:nvGrpSpPr>
        <p:grpSpPr>
          <a:xfrm>
            <a:off x="1135423" y="2944080"/>
            <a:ext cx="667139" cy="667139"/>
            <a:chOff x="4252612" y="3564796"/>
            <a:chExt cx="735436" cy="735436"/>
          </a:xfrm>
        </p:grpSpPr>
        <p:sp>
          <p:nvSpPr>
            <p:cNvPr id="6" name="椭圆 5"/>
            <p:cNvSpPr/>
            <p:nvPr>
              <p:custDataLst>
                <p:tags r:id="rId17"/>
              </p:custDataLst>
            </p:nvPr>
          </p:nvSpPr>
          <p:spPr>
            <a:xfrm>
              <a:off x="4252612" y="3564796"/>
              <a:ext cx="735436" cy="735436"/>
            </a:xfrm>
            <a:prstGeom prst="ellipse">
              <a:avLst/>
            </a:prstGeom>
            <a:solidFill>
              <a:srgbClr val="F7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434187" y="3798059"/>
              <a:ext cx="367837" cy="289705"/>
              <a:chOff x="9655187" y="904938"/>
              <a:chExt cx="447597" cy="352523"/>
            </a:xfrm>
            <a:solidFill>
              <a:schemeClr val="bg1"/>
            </a:solidFill>
          </p:grpSpPr>
          <p:sp>
            <p:nvSpPr>
              <p:cNvPr id="34" name="Freeform 2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9666937" y="916689"/>
                <a:ext cx="435847" cy="340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09" y="0"/>
                    </a:moveTo>
                    <a:cubicBezTo>
                      <a:pt x="14455" y="0"/>
                      <a:pt x="14455" y="0"/>
                      <a:pt x="14455" y="0"/>
                    </a:cubicBezTo>
                    <a:cubicBezTo>
                      <a:pt x="14455" y="2341"/>
                      <a:pt x="14455" y="2341"/>
                      <a:pt x="14455" y="2341"/>
                    </a:cubicBezTo>
                    <a:cubicBezTo>
                      <a:pt x="18609" y="2341"/>
                      <a:pt x="18609" y="2341"/>
                      <a:pt x="18609" y="2341"/>
                    </a:cubicBezTo>
                    <a:cubicBezTo>
                      <a:pt x="19274" y="2341"/>
                      <a:pt x="19855" y="2979"/>
                      <a:pt x="19855" y="3831"/>
                    </a:cubicBezTo>
                    <a:cubicBezTo>
                      <a:pt x="19855" y="17663"/>
                      <a:pt x="19855" y="17663"/>
                      <a:pt x="19855" y="17663"/>
                    </a:cubicBezTo>
                    <a:cubicBezTo>
                      <a:pt x="19855" y="18514"/>
                      <a:pt x="19274" y="19259"/>
                      <a:pt x="18609" y="19259"/>
                    </a:cubicBezTo>
                    <a:cubicBezTo>
                      <a:pt x="2991" y="19259"/>
                      <a:pt x="2991" y="19259"/>
                      <a:pt x="2991" y="19259"/>
                    </a:cubicBezTo>
                    <a:cubicBezTo>
                      <a:pt x="2326" y="19259"/>
                      <a:pt x="1828" y="18514"/>
                      <a:pt x="1828" y="17663"/>
                    </a:cubicBezTo>
                    <a:cubicBezTo>
                      <a:pt x="1828" y="13088"/>
                      <a:pt x="1828" y="13088"/>
                      <a:pt x="1828" y="13088"/>
                    </a:cubicBezTo>
                    <a:cubicBezTo>
                      <a:pt x="0" y="13088"/>
                      <a:pt x="0" y="13088"/>
                      <a:pt x="0" y="13088"/>
                    </a:cubicBezTo>
                    <a:cubicBezTo>
                      <a:pt x="0" y="17663"/>
                      <a:pt x="0" y="17663"/>
                      <a:pt x="0" y="17663"/>
                    </a:cubicBezTo>
                    <a:cubicBezTo>
                      <a:pt x="0" y="19791"/>
                      <a:pt x="1329" y="21600"/>
                      <a:pt x="2991" y="21600"/>
                    </a:cubicBezTo>
                    <a:cubicBezTo>
                      <a:pt x="18609" y="21600"/>
                      <a:pt x="18609" y="21600"/>
                      <a:pt x="18609" y="21600"/>
                    </a:cubicBezTo>
                    <a:cubicBezTo>
                      <a:pt x="20271" y="21600"/>
                      <a:pt x="21600" y="19791"/>
                      <a:pt x="21600" y="17663"/>
                    </a:cubicBezTo>
                    <a:cubicBezTo>
                      <a:pt x="21600" y="3831"/>
                      <a:pt x="21600" y="3831"/>
                      <a:pt x="21600" y="3831"/>
                    </a:cubicBezTo>
                    <a:cubicBezTo>
                      <a:pt x="21600" y="1702"/>
                      <a:pt x="20271" y="0"/>
                      <a:pt x="18609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/>
              </a:p>
            </p:txBody>
          </p:sp>
          <p:sp>
            <p:nvSpPr>
              <p:cNvPr id="35" name="Freeform 2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9655187" y="904938"/>
                <a:ext cx="120713" cy="171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179" extrusionOk="0">
                    <a:moveTo>
                      <a:pt x="0" y="20977"/>
                    </a:moveTo>
                    <a:cubicBezTo>
                      <a:pt x="4500" y="21600"/>
                      <a:pt x="9600" y="20769"/>
                      <a:pt x="13800" y="18692"/>
                    </a:cubicBezTo>
                    <a:cubicBezTo>
                      <a:pt x="15900" y="17654"/>
                      <a:pt x="18000" y="16200"/>
                      <a:pt x="19200" y="14538"/>
                    </a:cubicBezTo>
                    <a:cubicBezTo>
                      <a:pt x="19800" y="13708"/>
                      <a:pt x="20400" y="12669"/>
                      <a:pt x="20700" y="11838"/>
                    </a:cubicBezTo>
                    <a:cubicBezTo>
                      <a:pt x="21000" y="11423"/>
                      <a:pt x="21300" y="10800"/>
                      <a:pt x="21300" y="10385"/>
                    </a:cubicBezTo>
                    <a:cubicBezTo>
                      <a:pt x="21600" y="9554"/>
                      <a:pt x="21600" y="9554"/>
                      <a:pt x="21600" y="9554"/>
                    </a:cubicBezTo>
                    <a:cubicBezTo>
                      <a:pt x="21600" y="8931"/>
                      <a:pt x="21600" y="8931"/>
                      <a:pt x="21600" y="8931"/>
                    </a:cubicBezTo>
                    <a:cubicBezTo>
                      <a:pt x="21300" y="8931"/>
                      <a:pt x="21300" y="8931"/>
                      <a:pt x="21300" y="8931"/>
                    </a:cubicBezTo>
                    <a:cubicBezTo>
                      <a:pt x="21600" y="8515"/>
                      <a:pt x="21600" y="7892"/>
                      <a:pt x="21600" y="7477"/>
                    </a:cubicBezTo>
                    <a:cubicBezTo>
                      <a:pt x="21600" y="3323"/>
                      <a:pt x="16800" y="0"/>
                      <a:pt x="10800" y="0"/>
                    </a:cubicBezTo>
                    <a:cubicBezTo>
                      <a:pt x="4800" y="0"/>
                      <a:pt x="0" y="3323"/>
                      <a:pt x="0" y="7477"/>
                    </a:cubicBezTo>
                    <a:cubicBezTo>
                      <a:pt x="0" y="11631"/>
                      <a:pt x="4800" y="14954"/>
                      <a:pt x="10800" y="14954"/>
                    </a:cubicBezTo>
                    <a:cubicBezTo>
                      <a:pt x="11100" y="14954"/>
                      <a:pt x="11400" y="14954"/>
                      <a:pt x="11400" y="14954"/>
                    </a:cubicBezTo>
                    <a:cubicBezTo>
                      <a:pt x="11100" y="15369"/>
                      <a:pt x="10800" y="15785"/>
                      <a:pt x="10500" y="16200"/>
                    </a:cubicBezTo>
                    <a:cubicBezTo>
                      <a:pt x="8100" y="18485"/>
                      <a:pt x="4500" y="20354"/>
                      <a:pt x="0" y="20977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/>
              </a:p>
            </p:txBody>
          </p:sp>
          <p:sp>
            <p:nvSpPr>
              <p:cNvPr id="36" name="Freeform 2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9787650" y="904938"/>
                <a:ext cx="122850" cy="171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179" extrusionOk="0">
                    <a:moveTo>
                      <a:pt x="0" y="20977"/>
                    </a:moveTo>
                    <a:cubicBezTo>
                      <a:pt x="4438" y="21600"/>
                      <a:pt x="9764" y="20769"/>
                      <a:pt x="13907" y="18692"/>
                    </a:cubicBezTo>
                    <a:cubicBezTo>
                      <a:pt x="15978" y="17654"/>
                      <a:pt x="17753" y="16200"/>
                      <a:pt x="19233" y="14538"/>
                    </a:cubicBezTo>
                    <a:cubicBezTo>
                      <a:pt x="19825" y="13708"/>
                      <a:pt x="20416" y="12669"/>
                      <a:pt x="20712" y="11838"/>
                    </a:cubicBezTo>
                    <a:cubicBezTo>
                      <a:pt x="21008" y="11423"/>
                      <a:pt x="21008" y="10800"/>
                      <a:pt x="21304" y="10385"/>
                    </a:cubicBezTo>
                    <a:cubicBezTo>
                      <a:pt x="21304" y="9554"/>
                      <a:pt x="21304" y="9554"/>
                      <a:pt x="21304" y="9554"/>
                    </a:cubicBezTo>
                    <a:cubicBezTo>
                      <a:pt x="21600" y="8931"/>
                      <a:pt x="21600" y="8931"/>
                      <a:pt x="21600" y="8931"/>
                    </a:cubicBezTo>
                    <a:cubicBezTo>
                      <a:pt x="21304" y="8931"/>
                      <a:pt x="21304" y="8931"/>
                      <a:pt x="21304" y="8931"/>
                    </a:cubicBezTo>
                    <a:cubicBezTo>
                      <a:pt x="21304" y="8515"/>
                      <a:pt x="21600" y="7892"/>
                      <a:pt x="21600" y="7477"/>
                    </a:cubicBezTo>
                    <a:cubicBezTo>
                      <a:pt x="21600" y="3323"/>
                      <a:pt x="16570" y="0"/>
                      <a:pt x="10652" y="0"/>
                    </a:cubicBezTo>
                    <a:cubicBezTo>
                      <a:pt x="4734" y="0"/>
                      <a:pt x="0" y="3323"/>
                      <a:pt x="0" y="7477"/>
                    </a:cubicBezTo>
                    <a:cubicBezTo>
                      <a:pt x="0" y="11631"/>
                      <a:pt x="4734" y="14954"/>
                      <a:pt x="10652" y="14954"/>
                    </a:cubicBezTo>
                    <a:cubicBezTo>
                      <a:pt x="10948" y="14954"/>
                      <a:pt x="11244" y="14954"/>
                      <a:pt x="11540" y="14954"/>
                    </a:cubicBezTo>
                    <a:cubicBezTo>
                      <a:pt x="11244" y="15369"/>
                      <a:pt x="10948" y="15785"/>
                      <a:pt x="10356" y="16200"/>
                    </a:cubicBezTo>
                    <a:cubicBezTo>
                      <a:pt x="8285" y="18485"/>
                      <a:pt x="4438" y="20354"/>
                      <a:pt x="0" y="20977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/>
              </a:p>
            </p:txBody>
          </p:sp>
        </p:grpSp>
      </p:grpSp>
      <p:grpSp>
        <p:nvGrpSpPr>
          <p:cNvPr id="37" name="组合 36"/>
          <p:cNvGrpSpPr/>
          <p:nvPr>
            <p:custDataLst>
              <p:tags r:id="rId21"/>
            </p:custDataLst>
          </p:nvPr>
        </p:nvGrpSpPr>
        <p:grpSpPr>
          <a:xfrm>
            <a:off x="1947186" y="2811092"/>
            <a:ext cx="4816471" cy="964322"/>
            <a:chOff x="307636" y="2109612"/>
            <a:chExt cx="4816471" cy="964322"/>
          </a:xfrm>
        </p:grpSpPr>
        <p:sp>
          <p:nvSpPr>
            <p:cNvPr id="38" name="矩形 37"/>
            <p:cNvSpPr/>
            <p:nvPr>
              <p:custDataLst>
                <p:tags r:id="rId22"/>
              </p:custDataLst>
            </p:nvPr>
          </p:nvSpPr>
          <p:spPr>
            <a:xfrm>
              <a:off x="320764" y="2428774"/>
              <a:ext cx="480334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在实施的过程中我们发现，计划使用的</a:t>
              </a:r>
              <a:r>
                <a:rPr lang="en-US" altLang="zh-CN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LDC1614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芯片在立创商城中没有现货，且五个起售过于昂贵和</a:t>
              </a: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sym typeface="+mn-ea"/>
                </a:rPr>
                <a:t>浪费。</a:t>
              </a:r>
              <a:endPara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23"/>
              </p:custDataLst>
            </p:nvPr>
          </p:nvSpPr>
          <p:spPr>
            <a:xfrm>
              <a:off x="307636" y="2109612"/>
              <a:ext cx="3032760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变量：自制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板条件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不具备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pic>
        <p:nvPicPr>
          <p:cNvPr id="40" name="图片 39" descr="621500029f90ae05b685686c2653e6d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06620" y="4436745"/>
            <a:ext cx="1891030" cy="18910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图片 40" descr="unnamed (1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程序设计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架构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15" name="图片 14" descr="执行流程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1204595"/>
            <a:ext cx="10730865" cy="4598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程序开发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过程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753943" y="1307950"/>
            <a:ext cx="10667917" cy="2002646"/>
            <a:chOff x="753691" y="2353523"/>
            <a:chExt cx="10667917" cy="2002646"/>
          </a:xfrm>
        </p:grpSpPr>
        <p:sp>
          <p:nvSpPr>
            <p:cNvPr id="16" name="Chevron 13"/>
            <p:cNvSpPr/>
            <p:nvPr>
              <p:custDataLst>
                <p:tags r:id="rId3"/>
              </p:custDataLst>
            </p:nvPr>
          </p:nvSpPr>
          <p:spPr>
            <a:xfrm>
              <a:off x="9204442" y="2353523"/>
              <a:ext cx="2217166" cy="421631"/>
            </a:xfrm>
            <a:prstGeom prst="chevron">
              <a:avLst>
                <a:gd name="adj" fmla="val 32323"/>
              </a:avLst>
            </a:prstGeom>
            <a:solidFill>
              <a:srgbClr val="FDE1D8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17" name="Chevron 12"/>
            <p:cNvSpPr/>
            <p:nvPr>
              <p:custDataLst>
                <p:tags r:id="rId4"/>
              </p:custDataLst>
            </p:nvPr>
          </p:nvSpPr>
          <p:spPr>
            <a:xfrm>
              <a:off x="7091754" y="2353523"/>
              <a:ext cx="2217166" cy="421631"/>
            </a:xfrm>
            <a:prstGeom prst="chevron">
              <a:avLst>
                <a:gd name="adj" fmla="val 32323"/>
              </a:avLst>
            </a:prstGeom>
            <a:solidFill>
              <a:srgbClr val="FCE0E7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18" name="Chevron 11"/>
            <p:cNvSpPr/>
            <p:nvPr>
              <p:custDataLst>
                <p:tags r:id="rId5"/>
              </p:custDataLst>
            </p:nvPr>
          </p:nvSpPr>
          <p:spPr>
            <a:xfrm>
              <a:off x="4979067" y="2353523"/>
              <a:ext cx="2217166" cy="421631"/>
            </a:xfrm>
            <a:prstGeom prst="chevron">
              <a:avLst>
                <a:gd name="adj" fmla="val 32323"/>
              </a:avLst>
            </a:prstGeom>
            <a:solidFill>
              <a:srgbClr val="FCDBCC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19" name="Chevron 10"/>
            <p:cNvSpPr/>
            <p:nvPr>
              <p:custDataLst>
                <p:tags r:id="rId6"/>
              </p:custDataLst>
            </p:nvPr>
          </p:nvSpPr>
          <p:spPr>
            <a:xfrm>
              <a:off x="2866378" y="2353523"/>
              <a:ext cx="2217166" cy="421631"/>
            </a:xfrm>
            <a:prstGeom prst="chevron">
              <a:avLst>
                <a:gd name="adj" fmla="val 32323"/>
              </a:avLst>
            </a:prstGeom>
            <a:solidFill>
              <a:srgbClr val="F8B3C3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20" name="Oval 15"/>
            <p:cNvSpPr/>
            <p:nvPr>
              <p:custDataLst>
                <p:tags r:id="rId7"/>
              </p:custDataLst>
            </p:nvPr>
          </p:nvSpPr>
          <p:spPr>
            <a:xfrm>
              <a:off x="1493281" y="3621510"/>
              <a:ext cx="737987" cy="734659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21" name="Oval 16"/>
            <p:cNvSpPr/>
            <p:nvPr>
              <p:custDataLst>
                <p:tags r:id="rId8"/>
              </p:custDataLst>
            </p:nvPr>
          </p:nvSpPr>
          <p:spPr>
            <a:xfrm>
              <a:off x="3605967" y="3302195"/>
              <a:ext cx="737987" cy="734659"/>
            </a:xfrm>
            <a:prstGeom prst="ellipse">
              <a:avLst/>
            </a:prstGeom>
            <a:solidFill>
              <a:srgbClr val="F8B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22" name="Oval 17"/>
            <p:cNvSpPr/>
            <p:nvPr>
              <p:custDataLst>
                <p:tags r:id="rId9"/>
              </p:custDataLst>
            </p:nvPr>
          </p:nvSpPr>
          <p:spPr>
            <a:xfrm>
              <a:off x="5718655" y="3621510"/>
              <a:ext cx="737987" cy="734659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23" name="Oval 18"/>
            <p:cNvSpPr/>
            <p:nvPr>
              <p:custDataLst>
                <p:tags r:id="rId10"/>
              </p:custDataLst>
            </p:nvPr>
          </p:nvSpPr>
          <p:spPr>
            <a:xfrm>
              <a:off x="7831343" y="3302195"/>
              <a:ext cx="737987" cy="734659"/>
            </a:xfrm>
            <a:prstGeom prst="ellipse">
              <a:avLst/>
            </a:prstGeom>
            <a:solidFill>
              <a:srgbClr val="FCE0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sp>
          <p:nvSpPr>
            <p:cNvPr id="24" name="Oval 19"/>
            <p:cNvSpPr/>
            <p:nvPr>
              <p:custDataLst>
                <p:tags r:id="rId11"/>
              </p:custDataLst>
            </p:nvPr>
          </p:nvSpPr>
          <p:spPr>
            <a:xfrm>
              <a:off x="9944031" y="3621510"/>
              <a:ext cx="737987" cy="734659"/>
            </a:xfrm>
            <a:prstGeom prst="ellipse">
              <a:avLst/>
            </a:prstGeom>
            <a:solidFill>
              <a:srgbClr val="FDE1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  <p:cxnSp>
          <p:nvCxnSpPr>
            <p:cNvPr id="25" name="Straight Connector 26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1862275" y="2775154"/>
              <a:ext cx="0" cy="864000"/>
            </a:xfrm>
            <a:prstGeom prst="line">
              <a:avLst/>
            </a:prstGeom>
            <a:ln w="19050" cmpd="sng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3974960" y="2775154"/>
              <a:ext cx="0" cy="527040"/>
            </a:xfrm>
            <a:prstGeom prst="line">
              <a:avLst/>
            </a:prstGeom>
            <a:ln w="19050" cmpd="sng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8"/>
            <p:cNvCxnSpPr/>
            <p:nvPr>
              <p:custDataLst>
                <p:tags r:id="rId14"/>
              </p:custDataLst>
            </p:nvPr>
          </p:nvCxnSpPr>
          <p:spPr>
            <a:xfrm flipH="1" flipV="1">
              <a:off x="6087649" y="2775154"/>
              <a:ext cx="0" cy="864000"/>
            </a:xfrm>
            <a:prstGeom prst="line">
              <a:avLst/>
            </a:prstGeom>
            <a:ln w="19050" cmpd="sng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9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8200336" y="2775154"/>
              <a:ext cx="0" cy="527040"/>
            </a:xfrm>
            <a:prstGeom prst="line">
              <a:avLst/>
            </a:prstGeom>
            <a:ln w="19050" cmpd="sng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30"/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10313024" y="2775154"/>
              <a:ext cx="0" cy="864000"/>
            </a:xfrm>
            <a:prstGeom prst="line">
              <a:avLst/>
            </a:prstGeom>
            <a:ln w="19050" cmpd="sng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hevron 4"/>
            <p:cNvSpPr/>
            <p:nvPr>
              <p:custDataLst>
                <p:tags r:id="rId17"/>
              </p:custDataLst>
            </p:nvPr>
          </p:nvSpPr>
          <p:spPr>
            <a:xfrm>
              <a:off x="753691" y="2353523"/>
              <a:ext cx="2217166" cy="421631"/>
            </a:xfrm>
            <a:prstGeom prst="chevron">
              <a:avLst>
                <a:gd name="adj" fmla="val 32323"/>
              </a:avLst>
            </a:prstGeom>
            <a:solidFill>
              <a:srgbClr val="BEAAB9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391" tIns="33696" rIns="67391" bIns="33696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华文细黑" panose="02010600040101010101" charset="-122"/>
                <a:ea typeface="思源黑体 CN Normal"/>
                <a:sym typeface="华文细黑" panose="02010600040101010101" charset="-122"/>
              </a:endParaRPr>
            </a:p>
          </p:txBody>
        </p:sp>
      </p:grpSp>
      <p:sp>
        <p:nvSpPr>
          <p:cNvPr id="31" name="矩形 30"/>
          <p:cNvSpPr/>
          <p:nvPr>
            <p:custDataLst>
              <p:tags r:id="rId18"/>
            </p:custDataLst>
          </p:nvPr>
        </p:nvSpPr>
        <p:spPr>
          <a:xfrm>
            <a:off x="1184895" y="1225762"/>
            <a:ext cx="1344374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前期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探索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矩形 31"/>
          <p:cNvSpPr/>
          <p:nvPr>
            <p:custDataLst>
              <p:tags r:id="rId19"/>
            </p:custDataLst>
          </p:nvPr>
        </p:nvSpPr>
        <p:spPr>
          <a:xfrm>
            <a:off x="3093085" y="1225550"/>
            <a:ext cx="17735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解决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接口问题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矩形 32"/>
          <p:cNvSpPr/>
          <p:nvPr>
            <p:custDataLst>
              <p:tags r:id="rId20"/>
            </p:custDataLst>
          </p:nvPr>
        </p:nvSpPr>
        <p:spPr>
          <a:xfrm>
            <a:off x="5156835" y="1225550"/>
            <a:ext cx="18567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完成基础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函数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>
            <p:custDataLst>
              <p:tags r:id="rId21"/>
            </p:custDataLst>
          </p:nvPr>
        </p:nvSpPr>
        <p:spPr>
          <a:xfrm>
            <a:off x="7249160" y="1225550"/>
            <a:ext cx="19107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实现预期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功能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矩形 34"/>
          <p:cNvSpPr/>
          <p:nvPr>
            <p:custDataLst>
              <p:tags r:id="rId22"/>
            </p:custDataLst>
          </p:nvPr>
        </p:nvSpPr>
        <p:spPr>
          <a:xfrm>
            <a:off x="9376410" y="1225550"/>
            <a:ext cx="19062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设计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交互界面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77" name="组合 76"/>
          <p:cNvGrpSpPr/>
          <p:nvPr>
            <p:custDataLst>
              <p:tags r:id="rId23"/>
            </p:custDataLst>
          </p:nvPr>
        </p:nvGrpSpPr>
        <p:grpSpPr>
          <a:xfrm>
            <a:off x="10143673" y="2815059"/>
            <a:ext cx="362058" cy="221059"/>
            <a:chOff x="11061986" y="2235383"/>
            <a:chExt cx="276293" cy="168694"/>
          </a:xfrm>
          <a:solidFill>
            <a:schemeClr val="bg1"/>
          </a:solidFill>
        </p:grpSpPr>
        <p:sp>
          <p:nvSpPr>
            <p:cNvPr id="78" name="Freeform 125"/>
            <p:cNvSpPr/>
            <p:nvPr>
              <p:custDataLst>
                <p:tags r:id="rId24"/>
              </p:custDataLst>
            </p:nvPr>
          </p:nvSpPr>
          <p:spPr>
            <a:xfrm>
              <a:off x="11061986" y="2235383"/>
              <a:ext cx="276293" cy="105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614"/>
                  </a:moveTo>
                  <a:lnTo>
                    <a:pt x="10836" y="0"/>
                  </a:lnTo>
                  <a:lnTo>
                    <a:pt x="0" y="10614"/>
                  </a:lnTo>
                  <a:lnTo>
                    <a:pt x="10836" y="21600"/>
                  </a:lnTo>
                  <a:lnTo>
                    <a:pt x="21600" y="10614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79" name="Freeform 126"/>
            <p:cNvSpPr/>
            <p:nvPr>
              <p:custDataLst>
                <p:tags r:id="rId25"/>
              </p:custDataLst>
            </p:nvPr>
          </p:nvSpPr>
          <p:spPr>
            <a:xfrm>
              <a:off x="11115785" y="2330216"/>
              <a:ext cx="168694" cy="73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95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706"/>
                    <a:pt x="0" y="12706"/>
                    <a:pt x="0" y="12706"/>
                  </a:cubicBezTo>
                  <a:cubicBezTo>
                    <a:pt x="0" y="17788"/>
                    <a:pt x="4708" y="21600"/>
                    <a:pt x="10800" y="21600"/>
                  </a:cubicBezTo>
                  <a:cubicBezTo>
                    <a:pt x="16892" y="21600"/>
                    <a:pt x="21600" y="17788"/>
                    <a:pt x="21600" y="12706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10800" y="9529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26"/>
            </p:custDataLst>
          </p:nvPr>
        </p:nvGrpSpPr>
        <p:grpSpPr>
          <a:xfrm>
            <a:off x="3839860" y="2522295"/>
            <a:ext cx="276994" cy="202947"/>
            <a:chOff x="5403758" y="2773540"/>
            <a:chExt cx="276994" cy="202947"/>
          </a:xfrm>
          <a:solidFill>
            <a:schemeClr val="bg1"/>
          </a:solidFill>
        </p:grpSpPr>
        <p:sp>
          <p:nvSpPr>
            <p:cNvPr id="92" name="Freeform 144"/>
            <p:cNvSpPr/>
            <p:nvPr>
              <p:custDataLst>
                <p:tags r:id="rId27"/>
              </p:custDataLst>
            </p:nvPr>
          </p:nvSpPr>
          <p:spPr>
            <a:xfrm>
              <a:off x="5466835" y="2829305"/>
              <a:ext cx="213917" cy="147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27" y="6035"/>
                  </a:moveTo>
                  <a:cubicBezTo>
                    <a:pt x="17673" y="2541"/>
                    <a:pt x="15273" y="0"/>
                    <a:pt x="12655" y="0"/>
                  </a:cubicBezTo>
                  <a:cubicBezTo>
                    <a:pt x="10691" y="0"/>
                    <a:pt x="8727" y="1271"/>
                    <a:pt x="7636" y="3812"/>
                  </a:cubicBezTo>
                  <a:cubicBezTo>
                    <a:pt x="7200" y="3176"/>
                    <a:pt x="6545" y="2541"/>
                    <a:pt x="5673" y="2541"/>
                  </a:cubicBezTo>
                  <a:cubicBezTo>
                    <a:pt x="3927" y="2541"/>
                    <a:pt x="2618" y="4765"/>
                    <a:pt x="2618" y="7306"/>
                  </a:cubicBezTo>
                  <a:cubicBezTo>
                    <a:pt x="2618" y="7624"/>
                    <a:pt x="2618" y="8259"/>
                    <a:pt x="2618" y="8576"/>
                  </a:cubicBezTo>
                  <a:cubicBezTo>
                    <a:pt x="1091" y="9529"/>
                    <a:pt x="0" y="12071"/>
                    <a:pt x="0" y="14612"/>
                  </a:cubicBezTo>
                  <a:cubicBezTo>
                    <a:pt x="0" y="18424"/>
                    <a:pt x="1964" y="21600"/>
                    <a:pt x="4582" y="21600"/>
                  </a:cubicBezTo>
                  <a:cubicBezTo>
                    <a:pt x="16145" y="21600"/>
                    <a:pt x="16145" y="21600"/>
                    <a:pt x="16145" y="21600"/>
                  </a:cubicBezTo>
                  <a:cubicBezTo>
                    <a:pt x="19200" y="21600"/>
                    <a:pt x="21600" y="18106"/>
                    <a:pt x="21600" y="13659"/>
                  </a:cubicBezTo>
                  <a:cubicBezTo>
                    <a:pt x="21600" y="10165"/>
                    <a:pt x="20291" y="7306"/>
                    <a:pt x="18327" y="603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93" name="Freeform 145"/>
            <p:cNvSpPr/>
            <p:nvPr>
              <p:custDataLst>
                <p:tags r:id="rId28"/>
              </p:custDataLst>
            </p:nvPr>
          </p:nvSpPr>
          <p:spPr>
            <a:xfrm>
              <a:off x="5403758" y="2773540"/>
              <a:ext cx="202946" cy="177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13" y="6059"/>
                  </a:moveTo>
                  <a:cubicBezTo>
                    <a:pt x="8272" y="6059"/>
                    <a:pt x="8502" y="6322"/>
                    <a:pt x="8732" y="6585"/>
                  </a:cubicBezTo>
                  <a:cubicBezTo>
                    <a:pt x="9651" y="7376"/>
                    <a:pt x="9651" y="7376"/>
                    <a:pt x="9651" y="7376"/>
                  </a:cubicBezTo>
                  <a:cubicBezTo>
                    <a:pt x="9881" y="7376"/>
                    <a:pt x="10340" y="7112"/>
                    <a:pt x="10570" y="6849"/>
                  </a:cubicBezTo>
                  <a:cubicBezTo>
                    <a:pt x="10570" y="6849"/>
                    <a:pt x="10800" y="6849"/>
                    <a:pt x="10800" y="6849"/>
                  </a:cubicBezTo>
                  <a:cubicBezTo>
                    <a:pt x="11260" y="6322"/>
                    <a:pt x="11260" y="6322"/>
                    <a:pt x="11260" y="6322"/>
                  </a:cubicBezTo>
                  <a:cubicBezTo>
                    <a:pt x="11949" y="4741"/>
                    <a:pt x="13557" y="3951"/>
                    <a:pt x="14936" y="3951"/>
                  </a:cubicBezTo>
                  <a:cubicBezTo>
                    <a:pt x="15855" y="3951"/>
                    <a:pt x="16545" y="4215"/>
                    <a:pt x="17234" y="4741"/>
                  </a:cubicBezTo>
                  <a:cubicBezTo>
                    <a:pt x="18153" y="4215"/>
                    <a:pt x="19072" y="4215"/>
                    <a:pt x="19991" y="4215"/>
                  </a:cubicBezTo>
                  <a:cubicBezTo>
                    <a:pt x="20451" y="4215"/>
                    <a:pt x="21140" y="4215"/>
                    <a:pt x="21600" y="4478"/>
                  </a:cubicBezTo>
                  <a:cubicBezTo>
                    <a:pt x="21140" y="3424"/>
                    <a:pt x="20451" y="2634"/>
                    <a:pt x="19762" y="1844"/>
                  </a:cubicBezTo>
                  <a:cubicBezTo>
                    <a:pt x="18383" y="790"/>
                    <a:pt x="16774" y="0"/>
                    <a:pt x="14936" y="0"/>
                  </a:cubicBezTo>
                  <a:cubicBezTo>
                    <a:pt x="12868" y="0"/>
                    <a:pt x="10800" y="1054"/>
                    <a:pt x="9421" y="2634"/>
                  </a:cubicBezTo>
                  <a:cubicBezTo>
                    <a:pt x="8962" y="2371"/>
                    <a:pt x="8272" y="2371"/>
                    <a:pt x="7813" y="2371"/>
                  </a:cubicBezTo>
                  <a:cubicBezTo>
                    <a:pt x="5055" y="2371"/>
                    <a:pt x="2757" y="5005"/>
                    <a:pt x="2757" y="8166"/>
                  </a:cubicBezTo>
                  <a:cubicBezTo>
                    <a:pt x="2757" y="8166"/>
                    <a:pt x="2757" y="8166"/>
                    <a:pt x="2757" y="8166"/>
                  </a:cubicBezTo>
                  <a:cubicBezTo>
                    <a:pt x="1149" y="9483"/>
                    <a:pt x="0" y="11854"/>
                    <a:pt x="0" y="14224"/>
                  </a:cubicBezTo>
                  <a:cubicBezTo>
                    <a:pt x="0" y="17649"/>
                    <a:pt x="2068" y="20810"/>
                    <a:pt x="4826" y="21600"/>
                  </a:cubicBezTo>
                  <a:cubicBezTo>
                    <a:pt x="4596" y="20810"/>
                    <a:pt x="4366" y="20020"/>
                    <a:pt x="4366" y="18966"/>
                  </a:cubicBezTo>
                  <a:cubicBezTo>
                    <a:pt x="4366" y="18439"/>
                    <a:pt x="4366" y="17912"/>
                    <a:pt x="4596" y="17385"/>
                  </a:cubicBezTo>
                  <a:cubicBezTo>
                    <a:pt x="3906" y="16595"/>
                    <a:pt x="3217" y="15541"/>
                    <a:pt x="3217" y="14224"/>
                  </a:cubicBezTo>
                  <a:cubicBezTo>
                    <a:pt x="3217" y="12907"/>
                    <a:pt x="4136" y="11590"/>
                    <a:pt x="5285" y="10800"/>
                  </a:cubicBezTo>
                  <a:cubicBezTo>
                    <a:pt x="6434" y="10273"/>
                    <a:pt x="6434" y="10273"/>
                    <a:pt x="6434" y="10273"/>
                  </a:cubicBezTo>
                  <a:cubicBezTo>
                    <a:pt x="6204" y="8693"/>
                    <a:pt x="6204" y="8693"/>
                    <a:pt x="6204" y="8693"/>
                  </a:cubicBezTo>
                  <a:cubicBezTo>
                    <a:pt x="5974" y="8429"/>
                    <a:pt x="5974" y="8429"/>
                    <a:pt x="5974" y="8166"/>
                  </a:cubicBezTo>
                  <a:cubicBezTo>
                    <a:pt x="5974" y="7112"/>
                    <a:pt x="6894" y="6059"/>
                    <a:pt x="7813" y="6059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sp>
        <p:nvSpPr>
          <p:cNvPr id="94" name="Freeform 181"/>
          <p:cNvSpPr/>
          <p:nvPr>
            <p:custDataLst>
              <p:tags r:id="rId29"/>
            </p:custDataLst>
          </p:nvPr>
        </p:nvSpPr>
        <p:spPr>
          <a:xfrm>
            <a:off x="1732655" y="2845614"/>
            <a:ext cx="276382" cy="234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1" h="21600" extrusionOk="0">
                <a:moveTo>
                  <a:pt x="21270" y="6800"/>
                </a:moveTo>
                <a:cubicBezTo>
                  <a:pt x="21104" y="3000"/>
                  <a:pt x="18778" y="0"/>
                  <a:pt x="15621" y="0"/>
                </a:cubicBezTo>
                <a:cubicBezTo>
                  <a:pt x="13461" y="0"/>
                  <a:pt x="11633" y="1400"/>
                  <a:pt x="10636" y="3400"/>
                </a:cubicBezTo>
                <a:cubicBezTo>
                  <a:pt x="9639" y="1400"/>
                  <a:pt x="7811" y="0"/>
                  <a:pt x="5651" y="0"/>
                </a:cubicBezTo>
                <a:cubicBezTo>
                  <a:pt x="2494" y="0"/>
                  <a:pt x="168" y="3000"/>
                  <a:pt x="2" y="6800"/>
                </a:cubicBezTo>
                <a:cubicBezTo>
                  <a:pt x="-164" y="15400"/>
                  <a:pt x="10636" y="21600"/>
                  <a:pt x="10636" y="21600"/>
                </a:cubicBezTo>
                <a:cubicBezTo>
                  <a:pt x="10636" y="21600"/>
                  <a:pt x="21436" y="15400"/>
                  <a:pt x="21270" y="680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>
              <a:latin typeface="汉仪中圆简" panose="02010600000101010101" pitchFamily="49" charset="-122"/>
              <a:ea typeface="汉仪中圆简" panose="02010600000101010101" pitchFamily="49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-600502" y="101001"/>
            <a:ext cx="368490" cy="1822984"/>
            <a:chOff x="-600502" y="-87685"/>
            <a:chExt cx="368490" cy="1822984"/>
          </a:xfrm>
        </p:grpSpPr>
        <p:sp>
          <p:nvSpPr>
            <p:cNvPr id="96" name="椭圆 95"/>
            <p:cNvSpPr/>
            <p:nvPr/>
          </p:nvSpPr>
          <p:spPr>
            <a:xfrm>
              <a:off x="-600502" y="409432"/>
              <a:ext cx="368490" cy="368490"/>
            </a:xfrm>
            <a:prstGeom prst="ellipse">
              <a:avLst/>
            </a:prstGeom>
            <a:solidFill>
              <a:srgbClr val="F8B3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-600502" y="-87685"/>
              <a:ext cx="368490" cy="36849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-600502" y="906549"/>
              <a:ext cx="368490" cy="368490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-600502" y="1366809"/>
              <a:ext cx="368490" cy="368490"/>
            </a:xfrm>
            <a:prstGeom prst="ellipse">
              <a:avLst/>
            </a:prstGeom>
            <a:solidFill>
              <a:srgbClr val="FCE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组合 99"/>
          <p:cNvGrpSpPr/>
          <p:nvPr>
            <p:custDataLst>
              <p:tags r:id="rId30"/>
            </p:custDataLst>
          </p:nvPr>
        </p:nvGrpSpPr>
        <p:grpSpPr>
          <a:xfrm>
            <a:off x="769497" y="3439937"/>
            <a:ext cx="2136577" cy="1425486"/>
            <a:chOff x="180800" y="2038338"/>
            <a:chExt cx="2136577" cy="1425486"/>
          </a:xfrm>
        </p:grpSpPr>
        <p:sp>
          <p:nvSpPr>
            <p:cNvPr id="101" name="矩形 100"/>
            <p:cNvSpPr/>
            <p:nvPr>
              <p:custDataLst>
                <p:tags r:id="rId31"/>
              </p:custDataLst>
            </p:nvPr>
          </p:nvSpPr>
          <p:spPr>
            <a:xfrm>
              <a:off x="320765" y="2403374"/>
              <a:ext cx="1856649" cy="1060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对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LDC1614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、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STM32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开发板和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LCD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屏幕的出厂例程进行研究学习，理解其封装函数的使用方法，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rPr>
                <a:t>并尝试利用。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32"/>
              </p:custDataLst>
            </p:nvPr>
          </p:nvSpPr>
          <p:spPr>
            <a:xfrm>
              <a:off x="180800" y="2038338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利用出厂例程试验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103" name="组合 102"/>
          <p:cNvGrpSpPr/>
          <p:nvPr>
            <p:custDataLst>
              <p:tags r:id="rId33"/>
            </p:custDataLst>
          </p:nvPr>
        </p:nvGrpSpPr>
        <p:grpSpPr>
          <a:xfrm>
            <a:off x="2904730" y="3080470"/>
            <a:ext cx="2136577" cy="2152561"/>
            <a:chOff x="180800" y="2038338"/>
            <a:chExt cx="2136577" cy="2152561"/>
          </a:xfrm>
        </p:grpSpPr>
        <p:sp>
          <p:nvSpPr>
            <p:cNvPr id="104" name="矩形 103"/>
            <p:cNvSpPr/>
            <p:nvPr>
              <p:custDataLst>
                <p:tags r:id="rId34"/>
              </p:custDataLst>
            </p:nvPr>
          </p:nvSpPr>
          <p:spPr>
            <a:xfrm>
              <a:off x="320765" y="2403374"/>
              <a:ext cx="1856649" cy="1787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在研究时我们发现屏幕和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LDC1614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的出厂例程配置的引脚存在冲突，需要手动重新配置。此外编写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I2C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测试程序发现识别到的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LDC1614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引脚地址与例程不一致，需要进一步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修改。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35"/>
              </p:custDataLst>
            </p:nvPr>
          </p:nvSpPr>
          <p:spPr>
            <a:xfrm>
              <a:off x="180800" y="2038338"/>
              <a:ext cx="213657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屏幕与</a:t>
              </a:r>
              <a:r>
                <a:rPr lang="en-US" altLang="zh-CN" sz="12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LDC1614</a:t>
              </a:r>
              <a:r>
                <a:rPr lang="zh-CN" altLang="en-US" sz="12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接线问题</a:t>
              </a:r>
              <a:endParaRPr lang="zh-CN" altLang="en-US" sz="12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>
            <p:custDataLst>
              <p:tags r:id="rId36"/>
            </p:custDataLst>
          </p:nvPr>
        </p:nvGrpSpPr>
        <p:grpSpPr>
          <a:xfrm>
            <a:off x="4990211" y="3406810"/>
            <a:ext cx="2205990" cy="1671231"/>
            <a:chOff x="154130" y="2035163"/>
            <a:chExt cx="2205990" cy="1671231"/>
          </a:xfrm>
        </p:grpSpPr>
        <p:sp>
          <p:nvSpPr>
            <p:cNvPr id="107" name="矩形 106"/>
            <p:cNvSpPr/>
            <p:nvPr>
              <p:custDataLst>
                <p:tags r:id="rId37"/>
              </p:custDataLst>
            </p:nvPr>
          </p:nvSpPr>
          <p:spPr>
            <a:xfrm>
              <a:off x="320765" y="2403374"/>
              <a:ext cx="1856649" cy="1303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利用出场例程中的相关函数，编写实现设备基础功能的函数，如初始化、测量、显示函数，便于后期调用。同时测试各硬件的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可用情况。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</p:txBody>
        </p:sp>
        <p:sp>
          <p:nvSpPr>
            <p:cNvPr id="108" name="矩形 107"/>
            <p:cNvSpPr/>
            <p:nvPr>
              <p:custDataLst>
                <p:tags r:id="rId38"/>
              </p:custDataLst>
            </p:nvPr>
          </p:nvSpPr>
          <p:spPr>
            <a:xfrm>
              <a:off x="154130" y="2035163"/>
              <a:ext cx="220599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编写封装初始化、测量等函数</a:t>
              </a:r>
              <a:endParaRPr lang="zh-CN" altLang="en-US" sz="12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109" name="组合 108"/>
          <p:cNvGrpSpPr/>
          <p:nvPr>
            <p:custDataLst>
              <p:tags r:id="rId39"/>
            </p:custDataLst>
          </p:nvPr>
        </p:nvGrpSpPr>
        <p:grpSpPr>
          <a:xfrm>
            <a:off x="7163840" y="3042588"/>
            <a:ext cx="2136577" cy="1910626"/>
            <a:chOff x="180800" y="2038338"/>
            <a:chExt cx="2136577" cy="1910626"/>
          </a:xfrm>
        </p:grpSpPr>
        <p:sp>
          <p:nvSpPr>
            <p:cNvPr id="110" name="矩形 109"/>
            <p:cNvSpPr/>
            <p:nvPr>
              <p:custDataLst>
                <p:tags r:id="rId40"/>
              </p:custDataLst>
            </p:nvPr>
          </p:nvSpPr>
          <p:spPr>
            <a:xfrm>
              <a:off x="320765" y="2403374"/>
              <a:ext cx="1856649" cy="154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利用封装好的基础函数，逐渐发展功能：反馈测量电感值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→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数据降噪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→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可视化金属与线圈距离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→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添加基准测量功能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→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判断是否合格</a:t>
              </a:r>
              <a:r>
                <a:rPr lang="en-US" altLang="zh-CN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→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优化误差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计算。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</p:txBody>
        </p:sp>
        <p:sp>
          <p:nvSpPr>
            <p:cNvPr id="111" name="矩形 110"/>
            <p:cNvSpPr/>
            <p:nvPr>
              <p:custDataLst>
                <p:tags r:id="rId41"/>
              </p:custDataLst>
            </p:nvPr>
          </p:nvSpPr>
          <p:spPr>
            <a:xfrm>
              <a:off x="180800" y="2038338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不断添加功能实现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预期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grpSp>
        <p:nvGrpSpPr>
          <p:cNvPr id="112" name="组合 111"/>
          <p:cNvGrpSpPr/>
          <p:nvPr>
            <p:custDataLst>
              <p:tags r:id="rId42"/>
            </p:custDataLst>
          </p:nvPr>
        </p:nvGrpSpPr>
        <p:grpSpPr>
          <a:xfrm>
            <a:off x="9286055" y="3409985"/>
            <a:ext cx="2136577" cy="940981"/>
            <a:chOff x="180800" y="2038338"/>
            <a:chExt cx="2136577" cy="940981"/>
          </a:xfrm>
        </p:grpSpPr>
        <p:sp>
          <p:nvSpPr>
            <p:cNvPr id="113" name="矩形 112"/>
            <p:cNvSpPr/>
            <p:nvPr>
              <p:custDataLst>
                <p:tags r:id="rId43"/>
              </p:custDataLst>
            </p:nvPr>
          </p:nvSpPr>
          <p:spPr>
            <a:xfrm>
              <a:off x="320765" y="2403374"/>
              <a:ext cx="1856649" cy="575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不断调整显示程序的布局，使设备显示</a:t>
              </a:r>
              <a:r>
                <a:rPr lang="zh-CN" altLang="en-US" sz="1050" b="1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rPr>
                <a:t>易于理解。</a:t>
              </a:r>
              <a:endParaRPr lang="zh-CN" altLang="en-US" sz="105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cs typeface="汉仪细中圆简" panose="02010600000101010101" charset="-122"/>
                <a:sym typeface="+mn-ea"/>
              </a:endParaRPr>
            </a:p>
          </p:txBody>
        </p:sp>
        <p:sp>
          <p:nvSpPr>
            <p:cNvPr id="114" name="矩形 113"/>
            <p:cNvSpPr/>
            <p:nvPr>
              <p:custDataLst>
                <p:tags r:id="rId44"/>
              </p:custDataLst>
            </p:nvPr>
          </p:nvSpPr>
          <p:spPr>
            <a:xfrm>
              <a:off x="180800" y="2038338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优化显示</a:t>
              </a:r>
              <a:r>
                <a:rPr lang="en-US" altLang="zh-CN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UI</a:t>
              </a:r>
              <a:r>
                <a: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sym typeface="+mn-ea"/>
                </a:rPr>
                <a:t>界面</a:t>
              </a:r>
              <a:endPara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sym typeface="+mn-ea"/>
              </a:endParaRPr>
            </a:p>
          </p:txBody>
        </p:sp>
      </p:grpSp>
      <p:sp>
        <p:nvSpPr>
          <p:cNvPr id="73" name="Freeform 233"/>
          <p:cNvSpPr/>
          <p:nvPr>
            <p:custDataLst>
              <p:tags r:id="rId45"/>
            </p:custDataLst>
          </p:nvPr>
        </p:nvSpPr>
        <p:spPr>
          <a:xfrm>
            <a:off x="5946178" y="2815059"/>
            <a:ext cx="277981" cy="2335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36" y="8014"/>
                </a:moveTo>
                <a:cubicBezTo>
                  <a:pt x="18315" y="3421"/>
                  <a:pt x="14865" y="0"/>
                  <a:pt x="10759" y="0"/>
                </a:cubicBezTo>
                <a:cubicBezTo>
                  <a:pt x="6735" y="0"/>
                  <a:pt x="3285" y="3421"/>
                  <a:pt x="2464" y="8014"/>
                </a:cubicBezTo>
                <a:cubicBezTo>
                  <a:pt x="1068" y="8308"/>
                  <a:pt x="0" y="9774"/>
                  <a:pt x="0" y="11533"/>
                </a:cubicBezTo>
                <a:cubicBezTo>
                  <a:pt x="0" y="17984"/>
                  <a:pt x="0" y="17984"/>
                  <a:pt x="0" y="17984"/>
                </a:cubicBezTo>
                <a:cubicBezTo>
                  <a:pt x="0" y="19938"/>
                  <a:pt x="1314" y="21600"/>
                  <a:pt x="2957" y="21600"/>
                </a:cubicBezTo>
                <a:cubicBezTo>
                  <a:pt x="4189" y="21600"/>
                  <a:pt x="4189" y="21600"/>
                  <a:pt x="4189" y="21600"/>
                </a:cubicBezTo>
                <a:cubicBezTo>
                  <a:pt x="5831" y="21600"/>
                  <a:pt x="7145" y="19938"/>
                  <a:pt x="7145" y="17984"/>
                </a:cubicBezTo>
                <a:cubicBezTo>
                  <a:pt x="7145" y="11533"/>
                  <a:pt x="7145" y="11533"/>
                  <a:pt x="7145" y="11533"/>
                </a:cubicBezTo>
                <a:cubicBezTo>
                  <a:pt x="7145" y="9871"/>
                  <a:pt x="6242" y="8503"/>
                  <a:pt x="4928" y="8112"/>
                </a:cubicBezTo>
                <a:cubicBezTo>
                  <a:pt x="5667" y="4985"/>
                  <a:pt x="7967" y="2932"/>
                  <a:pt x="10759" y="2932"/>
                </a:cubicBezTo>
                <a:cubicBezTo>
                  <a:pt x="13551" y="2932"/>
                  <a:pt x="15933" y="4985"/>
                  <a:pt x="16672" y="8112"/>
                </a:cubicBezTo>
                <a:cubicBezTo>
                  <a:pt x="15358" y="8503"/>
                  <a:pt x="14373" y="9871"/>
                  <a:pt x="14373" y="11533"/>
                </a:cubicBezTo>
                <a:cubicBezTo>
                  <a:pt x="14373" y="17984"/>
                  <a:pt x="14373" y="17984"/>
                  <a:pt x="14373" y="17984"/>
                </a:cubicBezTo>
                <a:cubicBezTo>
                  <a:pt x="14373" y="19938"/>
                  <a:pt x="15769" y="21600"/>
                  <a:pt x="17411" y="21600"/>
                </a:cubicBezTo>
                <a:cubicBezTo>
                  <a:pt x="18643" y="21600"/>
                  <a:pt x="18643" y="21600"/>
                  <a:pt x="18643" y="21600"/>
                </a:cubicBezTo>
                <a:cubicBezTo>
                  <a:pt x="20286" y="21600"/>
                  <a:pt x="21600" y="19938"/>
                  <a:pt x="21600" y="17984"/>
                </a:cubicBezTo>
                <a:cubicBezTo>
                  <a:pt x="21600" y="11533"/>
                  <a:pt x="21600" y="11533"/>
                  <a:pt x="21600" y="11533"/>
                </a:cubicBezTo>
                <a:cubicBezTo>
                  <a:pt x="21600" y="9774"/>
                  <a:pt x="20532" y="8308"/>
                  <a:pt x="19136" y="8014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sp>
        <p:nvSpPr>
          <p:cNvPr id="74" name="Freeform 232"/>
          <p:cNvSpPr/>
          <p:nvPr>
            <p:custDataLst>
              <p:tags r:id="rId46"/>
            </p:custDataLst>
          </p:nvPr>
        </p:nvSpPr>
        <p:spPr>
          <a:xfrm>
            <a:off x="8067243" y="2494649"/>
            <a:ext cx="266690" cy="254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45" extrusionOk="0">
                <a:moveTo>
                  <a:pt x="18573" y="0"/>
                </a:moveTo>
                <a:cubicBezTo>
                  <a:pt x="3027" y="0"/>
                  <a:pt x="3027" y="0"/>
                  <a:pt x="3027" y="0"/>
                </a:cubicBezTo>
                <a:cubicBezTo>
                  <a:pt x="1391" y="0"/>
                  <a:pt x="0" y="1361"/>
                  <a:pt x="0" y="3061"/>
                </a:cubicBezTo>
                <a:cubicBezTo>
                  <a:pt x="0" y="14287"/>
                  <a:pt x="0" y="14287"/>
                  <a:pt x="0" y="14287"/>
                </a:cubicBezTo>
                <a:cubicBezTo>
                  <a:pt x="0" y="15987"/>
                  <a:pt x="1064" y="17433"/>
                  <a:pt x="2373" y="17433"/>
                </a:cubicBezTo>
                <a:cubicBezTo>
                  <a:pt x="3682" y="17433"/>
                  <a:pt x="5236" y="17433"/>
                  <a:pt x="5727" y="17433"/>
                </a:cubicBezTo>
                <a:cubicBezTo>
                  <a:pt x="6218" y="17433"/>
                  <a:pt x="6791" y="17688"/>
                  <a:pt x="7036" y="18028"/>
                </a:cubicBezTo>
                <a:cubicBezTo>
                  <a:pt x="7282" y="18369"/>
                  <a:pt x="8182" y="19474"/>
                  <a:pt x="9082" y="20580"/>
                </a:cubicBezTo>
                <a:cubicBezTo>
                  <a:pt x="10064" y="21600"/>
                  <a:pt x="11536" y="21600"/>
                  <a:pt x="12436" y="20580"/>
                </a:cubicBezTo>
                <a:cubicBezTo>
                  <a:pt x="13418" y="19474"/>
                  <a:pt x="14318" y="18369"/>
                  <a:pt x="14564" y="18028"/>
                </a:cubicBezTo>
                <a:cubicBezTo>
                  <a:pt x="14809" y="17688"/>
                  <a:pt x="15300" y="17433"/>
                  <a:pt x="15627" y="17433"/>
                </a:cubicBezTo>
                <a:cubicBezTo>
                  <a:pt x="15955" y="17433"/>
                  <a:pt x="17427" y="17433"/>
                  <a:pt x="18900" y="17433"/>
                </a:cubicBezTo>
                <a:cubicBezTo>
                  <a:pt x="20373" y="17433"/>
                  <a:pt x="21600" y="15987"/>
                  <a:pt x="21600" y="14287"/>
                </a:cubicBezTo>
                <a:cubicBezTo>
                  <a:pt x="21600" y="3061"/>
                  <a:pt x="21600" y="3061"/>
                  <a:pt x="21600" y="3061"/>
                </a:cubicBezTo>
                <a:cubicBezTo>
                  <a:pt x="21600" y="1361"/>
                  <a:pt x="20209" y="0"/>
                  <a:pt x="18573" y="0"/>
                </a:cubicBezTo>
                <a:close/>
                <a:moveTo>
                  <a:pt x="15627" y="10545"/>
                </a:moveTo>
                <a:cubicBezTo>
                  <a:pt x="5973" y="10545"/>
                  <a:pt x="5973" y="10545"/>
                  <a:pt x="5973" y="10545"/>
                </a:cubicBezTo>
                <a:cubicBezTo>
                  <a:pt x="5973" y="9354"/>
                  <a:pt x="5973" y="9354"/>
                  <a:pt x="5973" y="9354"/>
                </a:cubicBezTo>
                <a:cubicBezTo>
                  <a:pt x="15627" y="9354"/>
                  <a:pt x="15627" y="9354"/>
                  <a:pt x="15627" y="9354"/>
                </a:cubicBezTo>
                <a:lnTo>
                  <a:pt x="15627" y="10545"/>
                </a:lnTo>
                <a:close/>
                <a:moveTo>
                  <a:pt x="15627" y="7483"/>
                </a:moveTo>
                <a:cubicBezTo>
                  <a:pt x="5973" y="7483"/>
                  <a:pt x="5973" y="7483"/>
                  <a:pt x="5973" y="7483"/>
                </a:cubicBezTo>
                <a:cubicBezTo>
                  <a:pt x="5973" y="6208"/>
                  <a:pt x="5973" y="6208"/>
                  <a:pt x="5973" y="6208"/>
                </a:cubicBezTo>
                <a:cubicBezTo>
                  <a:pt x="15627" y="6208"/>
                  <a:pt x="15627" y="6208"/>
                  <a:pt x="15627" y="6208"/>
                </a:cubicBezTo>
                <a:lnTo>
                  <a:pt x="15627" y="748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pic>
        <p:nvPicPr>
          <p:cNvPr id="2" name="图片 1" descr="unnamed (1)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46150" y="4865370"/>
            <a:ext cx="1551940" cy="1500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253105" y="5174615"/>
            <a:ext cx="1376680" cy="12928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041265" y="5174615"/>
            <a:ext cx="2051050" cy="11474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133590" y="4999990"/>
            <a:ext cx="2292350" cy="13220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595485" y="4361815"/>
            <a:ext cx="1517015" cy="2004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核心算法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696492" y="1043337"/>
            <a:ext cx="5299178" cy="2903612"/>
            <a:chOff x="688872" y="1880267"/>
            <a:chExt cx="5299178" cy="2903612"/>
          </a:xfrm>
        </p:grpSpPr>
        <p:sp>
          <p:nvSpPr>
            <p:cNvPr id="50" name="椭圆 49"/>
            <p:cNvSpPr/>
            <p:nvPr>
              <p:custDataLst>
                <p:tags r:id="rId3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33456" y="1880267"/>
              <a:ext cx="5054594" cy="2903612"/>
              <a:chOff x="307636" y="2109612"/>
              <a:chExt cx="5054594" cy="2903612"/>
            </a:xfrm>
          </p:grpSpPr>
          <p:sp>
            <p:nvSpPr>
              <p:cNvPr id="57" name="矩形 56"/>
              <p:cNvSpPr/>
              <p:nvPr>
                <p:custDataLst>
                  <p:tags r:id="rId4"/>
                </p:custDataLst>
              </p:nvPr>
            </p:nvSpPr>
            <p:spPr>
              <a:xfrm>
                <a:off x="320764" y="2428774"/>
                <a:ext cx="5041466" cy="2584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在实际测量过程中，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LDC1614 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输出的原始数据会受到电磁噪声、环境干扰以及微小机械振动的影响，直接使用原始数据会导致显示数值抖动，不利于稳定判定。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本系统采用</a:t>
                </a:r>
                <a:r>
                  <a:rPr lang="en-US" altLang="zh-CN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4</a:t>
                </a:r>
                <a:r>
                  <a:rPr lang="zh-CN" altLang="en-US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点滑动平均滤波算法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。其基本思想是：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用最近若干次采样的平均值，代替当前的单次测量值，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从而削弱随机噪声对结果的影响。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原始数据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:  12345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12400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12380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12420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12350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滤波结果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:  12345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12373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12375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12386 </a:t>
                </a:r>
                <a:r>
                  <a:rPr lang="en-US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→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12388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          (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第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1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点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) (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前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2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点平均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) ... (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前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4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点平均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)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</p:txBody>
          </p:sp>
          <p:sp>
            <p:nvSpPr>
              <p:cNvPr id="58" name="矩形 57"/>
              <p:cNvSpPr/>
              <p:nvPr>
                <p:custDataLst>
                  <p:tags r:id="rId5"/>
                </p:custDataLst>
              </p:nvPr>
            </p:nvSpPr>
            <p:spPr>
              <a:xfrm>
                <a:off x="307636" y="2109612"/>
                <a:ext cx="3780155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</a:rPr>
                  <a:t>滑动平均滤波（</a:t>
                </a:r>
                <a:r>
                  <a:rPr lang="en-US" altLang="zh-CN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</a:rPr>
                  <a:t>Moving Average Filter</a:t>
                </a: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</a:rPr>
                  <a:t>）</a:t>
                </a:r>
                <a:endPara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6"/>
            </p:custDataLst>
          </p:nvPr>
        </p:nvGrpSpPr>
        <p:grpSpPr>
          <a:xfrm>
            <a:off x="696492" y="4171076"/>
            <a:ext cx="5299178" cy="1908146"/>
            <a:chOff x="688872" y="1767658"/>
            <a:chExt cx="5299178" cy="1908146"/>
          </a:xfrm>
        </p:grpSpPr>
        <p:cxnSp>
          <p:nvCxnSpPr>
            <p:cNvPr id="80" name="直接连接符 79"/>
            <p:cNvCxnSpPr/>
            <p:nvPr>
              <p:custDataLst>
                <p:tags r:id="rId7"/>
              </p:custDataLst>
            </p:nvPr>
          </p:nvCxnSpPr>
          <p:spPr>
            <a:xfrm>
              <a:off x="760461" y="1767658"/>
              <a:ext cx="5105400" cy="0"/>
            </a:xfrm>
            <a:prstGeom prst="line">
              <a:avLst/>
            </a:prstGeom>
            <a:ln>
              <a:solidFill>
                <a:srgbClr val="7F7F7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>
              <p:custDataLst>
                <p:tags r:id="rId8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933456" y="1880267"/>
              <a:ext cx="5054594" cy="1795537"/>
              <a:chOff x="307636" y="2109612"/>
              <a:chExt cx="5054594" cy="1795537"/>
            </a:xfrm>
          </p:grpSpPr>
          <p:sp>
            <p:nvSpPr>
              <p:cNvPr id="83" name="矩形 82"/>
              <p:cNvSpPr/>
              <p:nvPr>
                <p:custDataLst>
                  <p:tags r:id="rId9"/>
                </p:custDataLst>
              </p:nvPr>
            </p:nvSpPr>
            <p:spPr>
              <a:xfrm>
                <a:off x="320764" y="2428774"/>
                <a:ext cx="5041466" cy="147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在滑动平均之后，数据仍可能在小范围内波动，尤其是在合格判定临界点附近，容易造成界面数值频繁跳变。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为此，系统引入了变化阈值门限机制：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只有当当前滤波值与上一次显示值之间的差值超过设定阈值时，才更新显示，当变化幅度较小时，保持原有显示不变。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</p:txBody>
          </p:sp>
          <p:sp>
            <p:nvSpPr>
              <p:cNvPr id="84" name="矩形 83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7636" y="2109612"/>
                <a:ext cx="4126230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  <a:sym typeface="+mn-ea"/>
                  </a:rPr>
                  <a:t>变化阈值门限处理（</a:t>
                </a:r>
                <a:r>
                  <a:rPr lang="en-US" altLang="zh-CN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  <a:sym typeface="+mn-ea"/>
                  </a:rPr>
                  <a:t>Change Threshold</a:t>
                </a: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  <a:sym typeface="+mn-ea"/>
                  </a:rPr>
                  <a:t>）</a:t>
                </a:r>
                <a:endPara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6400" y="744220"/>
            <a:ext cx="4234180" cy="5461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核心算法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688237" y="980472"/>
            <a:ext cx="5299178" cy="2903612"/>
            <a:chOff x="688872" y="1880267"/>
            <a:chExt cx="5299178" cy="2903612"/>
          </a:xfrm>
        </p:grpSpPr>
        <p:sp>
          <p:nvSpPr>
            <p:cNvPr id="50" name="椭圆 49"/>
            <p:cNvSpPr/>
            <p:nvPr>
              <p:custDataLst>
                <p:tags r:id="rId3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33456" y="1880267"/>
              <a:ext cx="5054594" cy="2903612"/>
              <a:chOff x="307636" y="2109612"/>
              <a:chExt cx="5054594" cy="2903612"/>
            </a:xfrm>
          </p:grpSpPr>
          <p:sp>
            <p:nvSpPr>
              <p:cNvPr id="57" name="矩形 56"/>
              <p:cNvSpPr/>
              <p:nvPr>
                <p:custDataLst>
                  <p:tags r:id="rId4"/>
                </p:custDataLst>
              </p:nvPr>
            </p:nvSpPr>
            <p:spPr>
              <a:xfrm>
                <a:off x="320764" y="2428774"/>
                <a:ext cx="5041466" cy="2584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由于电感值与金属距离之间并非直接可读的物理量，本系统采用两点校准法，将原始电感数据转换为工程可理解的相对距离百分比。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校准过程包括两个关键基准点：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空载点：探头前无金属，定义为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100%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；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合格件点：标准拧紧状态下的螺帽位置，定义为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50%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在此基础上，假设在小范围内电感变化与距离变化近似线性，并对更近的区域进行线性外推，得到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 0% 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端点。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这种方法不追求绝对物理距离，而是</a:t>
                </a:r>
                <a:r>
                  <a:rPr lang="zh-CN" altLang="en-US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围绕</a:t>
                </a:r>
                <a:r>
                  <a:rPr lang="en-US" altLang="zh-CN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“</a:t>
                </a:r>
                <a:r>
                  <a:rPr lang="zh-CN" altLang="en-US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是否拧紧到位</a:t>
                </a:r>
                <a:r>
                  <a:rPr lang="en-US" altLang="zh-CN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”</a:t>
                </a:r>
                <a:r>
                  <a:rPr lang="zh-CN" altLang="en-US" sz="1200" b="1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这一工程需求进行标定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</a:rPr>
                  <a:t>，更加贴合实际应用。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</a:endParaRPr>
              </a:p>
            </p:txBody>
          </p:sp>
          <p:sp>
            <p:nvSpPr>
              <p:cNvPr id="58" name="矩形 57"/>
              <p:cNvSpPr/>
              <p:nvPr>
                <p:custDataLst>
                  <p:tags r:id="rId5"/>
                </p:custDataLst>
              </p:nvPr>
            </p:nvSpPr>
            <p:spPr>
              <a:xfrm>
                <a:off x="307636" y="2109612"/>
                <a:ext cx="3780155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</a:rPr>
                  <a:t>两点校准法的设计思想</a:t>
                </a:r>
                <a:endPara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6"/>
            </p:custDataLst>
          </p:nvPr>
        </p:nvGrpSpPr>
        <p:grpSpPr>
          <a:xfrm>
            <a:off x="688237" y="4108211"/>
            <a:ext cx="5299178" cy="2185006"/>
            <a:chOff x="688872" y="1767658"/>
            <a:chExt cx="5299178" cy="2185006"/>
          </a:xfrm>
        </p:grpSpPr>
        <p:cxnSp>
          <p:nvCxnSpPr>
            <p:cNvPr id="80" name="直接连接符 79"/>
            <p:cNvCxnSpPr/>
            <p:nvPr>
              <p:custDataLst>
                <p:tags r:id="rId7"/>
              </p:custDataLst>
            </p:nvPr>
          </p:nvCxnSpPr>
          <p:spPr>
            <a:xfrm>
              <a:off x="760461" y="1767658"/>
              <a:ext cx="5105400" cy="0"/>
            </a:xfrm>
            <a:prstGeom prst="line">
              <a:avLst/>
            </a:prstGeom>
            <a:ln>
              <a:solidFill>
                <a:srgbClr val="7F7F7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>
              <p:custDataLst>
                <p:tags r:id="rId8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933456" y="1880267"/>
              <a:ext cx="5054594" cy="2072397"/>
              <a:chOff x="307636" y="2109612"/>
              <a:chExt cx="5054594" cy="2072397"/>
            </a:xfrm>
          </p:grpSpPr>
          <p:sp>
            <p:nvSpPr>
              <p:cNvPr id="83" name="矩形 82"/>
              <p:cNvSpPr/>
              <p:nvPr>
                <p:custDataLst>
                  <p:tags r:id="rId9"/>
                </p:custDataLst>
              </p:nvPr>
            </p:nvSpPr>
            <p:spPr>
              <a:xfrm>
                <a:off x="320764" y="2428774"/>
                <a:ext cx="5041466" cy="1753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然后将当前差值映射到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 0–100% 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的相对区间，使：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marL="171450" lvl="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空载状态对应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 100%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；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marL="171450" lvl="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合格状态对应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 50%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；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marL="171450" lvl="0" indent="-1714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越靠近传感器，数值越接近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 0%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细中圆简" panose="02010600000101010101" charset="-122"/>
                    <a:ea typeface="汉仪细中圆简" panose="02010600000101010101" charset="-122"/>
                    <a:cs typeface="汉仪细中圆简" panose="02010600000101010101" charset="-122"/>
                    <a:sym typeface="+mn-ea"/>
                  </a:rPr>
                  <a:t>最终输出的是一个直观、可比较的百分比指标，而非难以理解的原始电感数值。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细中圆简" panose="02010600000101010101" charset="-122"/>
                  <a:ea typeface="汉仪细中圆简" panose="02010600000101010101" charset="-122"/>
                  <a:cs typeface="汉仪细中圆简" panose="02010600000101010101" charset="-122"/>
                  <a:sym typeface="+mn-ea"/>
                </a:endParaRPr>
              </a:p>
            </p:txBody>
          </p:sp>
          <p:sp>
            <p:nvSpPr>
              <p:cNvPr id="84" name="矩形 83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7636" y="2109612"/>
                <a:ext cx="4126230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繁" panose="02010600000101010101" charset="-122"/>
                    <a:ea typeface="汉仪中圆繁" panose="02010600000101010101" charset="-122"/>
                    <a:cs typeface="汉仪中圆繁" panose="02010600000101010101" charset="-122"/>
                    <a:sym typeface="+mn-ea"/>
                  </a:rPr>
                  <a:t>距离百分比的计算逻辑</a:t>
                </a:r>
                <a:endParaRPr lang="zh-CN" altLang="en-US" sz="1400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  <a:cs typeface="汉仪中圆繁" panose="02010600000101010101" charset="-122"/>
                  <a:sym typeface="+mn-ea"/>
                </a:endParaRPr>
              </a:p>
            </p:txBody>
          </p:sp>
        </p:grp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2050" y="1478280"/>
            <a:ext cx="5342890" cy="3994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可视化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82320" y="170815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Inductive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SWU XUEXING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392749" y="2266187"/>
            <a:ext cx="48033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展示设备名称，制作团队：学行班第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三组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47" name="矩形 46"/>
          <p:cNvSpPr/>
          <p:nvPr>
            <p:custDataLst>
              <p:tags r:id="rId4"/>
            </p:custDataLst>
          </p:nvPr>
        </p:nvSpPr>
        <p:spPr>
          <a:xfrm>
            <a:off x="2379621" y="1947025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启动界面（开机后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3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s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2320" y="374142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Init...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25065" y="374142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067810" y="374142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5796984" y="4432807"/>
            <a:ext cx="48033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初始化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LDC1614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，成功连接显示</a:t>
            </a:r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Ready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，未连接成功显示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FAIL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5783856" y="4113645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初始化界面（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2s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内）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300" y="1372870"/>
            <a:ext cx="1841500" cy="21551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可视化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28040" y="1198245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70C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Chck List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K3:Empty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K4:Valid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K2:Confirm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38469" y="1661667"/>
            <a:ext cx="480334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给予用户操作提示，按下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K3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键进入测量空载模式，按下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K4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进入测量便准键模式，按下在进入测量模式后按下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K2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键确认当前数据，同时记录数据，用于后续测量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校准。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47" name="矩形 46"/>
          <p:cNvSpPr/>
          <p:nvPr>
            <p:custDataLst>
              <p:tags r:id="rId4"/>
            </p:custDataLst>
          </p:nvPr>
        </p:nvSpPr>
        <p:spPr>
          <a:xfrm>
            <a:off x="2425341" y="1342505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使用检查单（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说明书）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8355" y="292481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Empty Cal</a:t>
            </a:r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Kepp Empty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Value: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15234       K</a:t>
            </a:r>
            <a:endParaRPr lang="zh-CN" altLang="en-US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K2:Confirm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38400" y="292481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Valid Cal</a:t>
            </a:r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 Std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Value: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18291       K</a:t>
            </a:r>
            <a:endParaRPr lang="zh-CN" altLang="en-US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K2:Confirm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4081780" y="3230880"/>
            <a:ext cx="60769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标题显示当前测量模式：空载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/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标准件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第二行给予操作提示：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Kepp Empty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（保持空载）、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Put Std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（放入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标准件）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第三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四行显示当前电感值：便于判断数值是否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稳定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五行操作提示：当稳定时按下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K2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键确认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数值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4068721" y="2911590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空载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/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标准件测量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模式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355" y="4651375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70C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Chck List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 OK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K4:Valid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K2:Confirm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51100" y="4651375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70C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Chck List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K3:Empty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OK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K2:Confirm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4093845" y="5178425"/>
            <a:ext cx="5252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当完成任意一项测试模式任务后，返回至检查单界面时，对应完成的一项将会显示为绿色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OK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，可视化显示当前任务进行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进度。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4080786" y="4859135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测量模式中途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显示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9545" y="1198245"/>
            <a:ext cx="1505585" cy="1731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9150" y="4651375"/>
            <a:ext cx="1482725" cy="172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2960" y="2802255"/>
            <a:ext cx="1478915" cy="17005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可视化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828040" y="1198245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Measuring</a:t>
            </a:r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  0   %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17278 K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  <a:endParaRPr lang="en-US" altLang="zh-CN" sz="120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/>
          <p:cNvSpPr/>
          <p:nvPr>
            <p:custDataLst>
              <p:tags r:id="rId4"/>
            </p:custDataLst>
          </p:nvPr>
        </p:nvSpPr>
        <p:spPr>
          <a:xfrm>
            <a:off x="2438400" y="1517650"/>
            <a:ext cx="51327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标题：显示当前状态，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测量中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第二行：显示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Dist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相对误差值，当误差在±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5%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时为合格（可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自定义）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第三行：显示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RAW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当前测量出的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电感值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进度条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/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状态：当合格时进度条位于中间，显示</a:t>
            </a:r>
            <a:r>
              <a:rPr lang="en-US" altLang="zh-CN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PASS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（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合格）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2425341" y="1198360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测量模式（合格件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时）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906145" y="2133600"/>
            <a:ext cx="1344295" cy="210185"/>
          </a:xfrm>
          <a:prstGeom prst="rect">
            <a:avLst/>
          </a:prstGeom>
          <a:solidFill>
            <a:srgbClr val="FDFDFD"/>
          </a:soli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920750" y="2146300"/>
            <a:ext cx="651510" cy="1885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808355" y="2843530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Measuring</a:t>
            </a:r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19  %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18128 K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</a:t>
            </a:r>
            <a:endParaRPr lang="en-US" altLang="zh-CN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2418715" y="3162935"/>
            <a:ext cx="6644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标题：显示当前状态，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测量中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第二行：显示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Dist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相对误差值，当计算出的值小于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45%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时，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50%-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当前值的误差值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第三行：显示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RAW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当前测量出的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电感值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进度条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/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状态：当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过近时进度条位于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左侧，显示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NEAR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（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过近）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2405656" y="2843645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测量模式（不合格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-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过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近时）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886460" y="3778885"/>
            <a:ext cx="1344295" cy="210185"/>
          </a:xfrm>
          <a:prstGeom prst="rect">
            <a:avLst/>
          </a:prstGeom>
          <a:solidFill>
            <a:srgbClr val="FDFDFD"/>
          </a:soli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12"/>
            </p:custDataLst>
          </p:nvPr>
        </p:nvSpPr>
        <p:spPr>
          <a:xfrm>
            <a:off x="901065" y="3791585"/>
            <a:ext cx="385445" cy="1885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13"/>
            </p:custDataLst>
          </p:nvPr>
        </p:nvSpPr>
        <p:spPr>
          <a:xfrm>
            <a:off x="808355" y="4488815"/>
            <a:ext cx="1515745" cy="15157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Measuring</a:t>
            </a:r>
            <a:endParaRPr lang="en-US" altLang="zh-CN" sz="12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44  %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15114 K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</a:t>
            </a:r>
            <a:endParaRPr lang="en-US" altLang="zh-CN" sz="12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4"/>
            </p:custDataLst>
          </p:nvPr>
        </p:nvSpPr>
        <p:spPr>
          <a:xfrm>
            <a:off x="2418715" y="4808220"/>
            <a:ext cx="7184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标题：显示当前状态，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测量中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第二行：显示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Dist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相对误差值，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当计算出的值大于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55%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时，显示当前值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-50%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  <a:sym typeface="+mn-ea"/>
              </a:rPr>
              <a:t>的误差值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第三行：显示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RAW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当前测量出的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电感值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进度条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/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状态：当过近时进度条位于左侧，显示</a:t>
            </a:r>
            <a:r>
              <a:rPr lang="en-US" altLang="zh-CN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FAR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（过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汉仪细中圆简" panose="02010600000101010101" charset="-122"/>
                <a:ea typeface="汉仪细中圆简" panose="02010600000101010101" charset="-122"/>
              </a:rPr>
              <a:t>远）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汉仪细中圆简" panose="02010600000101010101" charset="-122"/>
              <a:ea typeface="汉仪细中圆简" panose="02010600000101010101" charset="-122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2405656" y="4488930"/>
            <a:ext cx="40747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测量模式（不合格</a:t>
            </a:r>
            <a:r>
              <a:rPr lang="en-US" altLang="zh-CN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-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过</a:t>
            </a:r>
            <a:r>
              <a:rPr lang="zh-CN" altLang="en-US" sz="1400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</a:rPr>
              <a:t>近时）</a:t>
            </a:r>
            <a:endParaRPr lang="zh-CN" altLang="en-US" sz="1400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</a:endParaRPr>
          </a:p>
        </p:txBody>
      </p:sp>
      <p:sp>
        <p:nvSpPr>
          <p:cNvPr id="33" name="矩形 32"/>
          <p:cNvSpPr/>
          <p:nvPr>
            <p:custDataLst>
              <p:tags r:id="rId16"/>
            </p:custDataLst>
          </p:nvPr>
        </p:nvSpPr>
        <p:spPr>
          <a:xfrm>
            <a:off x="886460" y="5424170"/>
            <a:ext cx="1344295" cy="210185"/>
          </a:xfrm>
          <a:prstGeom prst="rect">
            <a:avLst/>
          </a:prstGeom>
          <a:solidFill>
            <a:srgbClr val="FDFDFD"/>
          </a:solidFill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901065" y="5436870"/>
            <a:ext cx="1077595" cy="1885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8140" y="1102995"/>
            <a:ext cx="1419860" cy="16109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31630" y="2778760"/>
            <a:ext cx="1436370" cy="1644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97340" y="4580890"/>
            <a:ext cx="1470660" cy="165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产品工作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流程图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2" name="图片 1" descr="最终成品使用流程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940" y="991235"/>
            <a:ext cx="8833485" cy="5513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3D</a:t>
              </a:r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打印外壳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设计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3" name="图片 2" descr="44cec8502351bcaf4f2dd7ad7646044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" y="1123950"/>
            <a:ext cx="6067425" cy="4827270"/>
          </a:xfrm>
          <a:prstGeom prst="rect">
            <a:avLst/>
          </a:prstGeom>
          <a:effectLst>
            <a:outerShdw blurRad="50800" dist="5207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直接箭头连接符 3"/>
          <p:cNvCxnSpPr/>
          <p:nvPr/>
        </p:nvCxnSpPr>
        <p:spPr>
          <a:xfrm>
            <a:off x="3063875" y="2712085"/>
            <a:ext cx="3787775" cy="808990"/>
          </a:xfrm>
          <a:prstGeom prst="straightConnector1">
            <a:avLst/>
          </a:prstGeom>
          <a:ln w="38100">
            <a:solidFill>
              <a:srgbClr val="F8B3C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3400425" y="4347210"/>
            <a:ext cx="3385185" cy="314960"/>
          </a:xfrm>
          <a:prstGeom prst="straightConnector1">
            <a:avLst/>
          </a:prstGeom>
          <a:ln w="38100">
            <a:solidFill>
              <a:srgbClr val="F8B3C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946525" y="2340610"/>
            <a:ext cx="2666365" cy="73025"/>
          </a:xfrm>
          <a:prstGeom prst="straightConnector1">
            <a:avLst/>
          </a:prstGeom>
          <a:ln w="38100">
            <a:solidFill>
              <a:srgbClr val="F8B3C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2593975" y="1398270"/>
            <a:ext cx="3335655" cy="1069340"/>
          </a:xfrm>
          <a:prstGeom prst="straightConnector1">
            <a:avLst/>
          </a:prstGeom>
          <a:ln w="38100">
            <a:solidFill>
              <a:srgbClr val="F8B3C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 descr="837f424b1d4befbb079d8158533e85a2"/>
          <p:cNvPicPr>
            <a:picLocks noChangeAspect="1"/>
          </p:cNvPicPr>
          <p:nvPr/>
        </p:nvPicPr>
        <p:blipFill>
          <a:blip r:embed="rId4"/>
          <a:srcRect l="56328" t="1974" r="1122" b="48916"/>
          <a:stretch>
            <a:fillRect/>
          </a:stretch>
        </p:blipFill>
        <p:spPr>
          <a:xfrm>
            <a:off x="8334375" y="802005"/>
            <a:ext cx="3567430" cy="2211070"/>
          </a:xfrm>
          <a:prstGeom prst="rect">
            <a:avLst/>
          </a:prstGeom>
        </p:spPr>
      </p:pic>
      <p:pic>
        <p:nvPicPr>
          <p:cNvPr id="18" name="图片 17" descr="837f424b1d4befbb079d8158533e85a2"/>
          <p:cNvPicPr>
            <a:picLocks noChangeAspect="1"/>
          </p:cNvPicPr>
          <p:nvPr/>
        </p:nvPicPr>
        <p:blipFill>
          <a:blip r:embed="rId4"/>
          <a:srcRect r="49402" b="48954"/>
          <a:stretch>
            <a:fillRect/>
          </a:stretch>
        </p:blipFill>
        <p:spPr>
          <a:xfrm>
            <a:off x="8606155" y="2887345"/>
            <a:ext cx="3114675" cy="1688465"/>
          </a:xfrm>
          <a:prstGeom prst="rect">
            <a:avLst/>
          </a:prstGeom>
        </p:spPr>
      </p:pic>
      <p:pic>
        <p:nvPicPr>
          <p:cNvPr id="19" name="图片 18" descr="837f424b1d4befbb079d8158533e85a2"/>
          <p:cNvPicPr>
            <a:picLocks noChangeAspect="1"/>
          </p:cNvPicPr>
          <p:nvPr/>
        </p:nvPicPr>
        <p:blipFill>
          <a:blip r:embed="rId4"/>
          <a:srcRect t="49222" r="55498"/>
          <a:stretch>
            <a:fillRect/>
          </a:stretch>
        </p:blipFill>
        <p:spPr>
          <a:xfrm>
            <a:off x="8606155" y="4476115"/>
            <a:ext cx="2739390" cy="1679575"/>
          </a:xfrm>
          <a:prstGeom prst="rect">
            <a:avLst/>
          </a:prstGeom>
        </p:spPr>
      </p:pic>
      <p:sp>
        <p:nvSpPr>
          <p:cNvPr id="58" name="矩形 57"/>
          <p:cNvSpPr/>
          <p:nvPr>
            <p:custDataLst>
              <p:tags r:id="rId5"/>
            </p:custDataLst>
          </p:nvPr>
        </p:nvSpPr>
        <p:spPr>
          <a:xfrm>
            <a:off x="6035675" y="1123950"/>
            <a:ext cx="196977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显示屏区域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  <a:cs typeface="汉仪中圆繁" panose="0201060000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6612890" y="2068195"/>
            <a:ext cx="196977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测试</a:t>
            </a: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平台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  <a:cs typeface="汉仪中圆繁" panose="0201060000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6892290" y="3315970"/>
            <a:ext cx="196977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操作</a:t>
            </a: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按钮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  <a:cs typeface="汉仪中圆繁" panose="02010600000101010101" charset="-122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6892290" y="4389755"/>
            <a:ext cx="196977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存放</a:t>
            </a:r>
            <a:r>
              <a:rPr lang="zh-CN" altLang="en-US" b="1" dirty="0">
                <a:solidFill>
                  <a:srgbClr val="95748D"/>
                </a:solidFill>
                <a:latin typeface="汉仪中圆繁" panose="02010600000101010101" charset="-122"/>
                <a:ea typeface="汉仪中圆繁" panose="02010600000101010101" charset="-122"/>
                <a:cs typeface="汉仪中圆繁" panose="02010600000101010101" charset="-122"/>
              </a:rPr>
              <a:t>空间</a:t>
            </a:r>
            <a:endParaRPr lang="zh-CN" altLang="en-US" b="1" dirty="0">
              <a:solidFill>
                <a:srgbClr val="95748D"/>
              </a:solidFill>
              <a:latin typeface="汉仪中圆繁" panose="02010600000101010101" charset="-122"/>
              <a:ea typeface="汉仪中圆繁" panose="02010600000101010101" charset="-122"/>
              <a:cs typeface="汉仪中圆繁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成品</a:t>
              </a:r>
              <a:r>
                <a:rPr lang="zh-CN" altLang="en-US" b="1" dirty="0">
                  <a:solidFill>
                    <a:srgbClr val="F8B3C3"/>
                  </a:solidFill>
                  <a:latin typeface="汉仪中圆繁" panose="02010600000101010101" charset="-122"/>
                  <a:ea typeface="汉仪中圆繁" panose="02010600000101010101" charset="-122"/>
                </a:rPr>
                <a:t>展示</a:t>
              </a:r>
              <a:endParaRPr lang="zh-CN" altLang="en-US" b="1" dirty="0">
                <a:solidFill>
                  <a:srgbClr val="F8B3C3"/>
                </a:solidFill>
                <a:latin typeface="汉仪中圆繁" panose="02010600000101010101" charset="-122"/>
                <a:ea typeface="汉仪中圆繁" panose="02010600000101010101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  <p:pic>
        <p:nvPicPr>
          <p:cNvPr id="2" name="图片 1" descr="cef521f38658b4229cedc2b88873be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042035"/>
            <a:ext cx="7162165" cy="5369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10682" y="1298789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Part 04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834516" y="1448947"/>
            <a:ext cx="131444" cy="131444"/>
          </a:xfrm>
          <a:prstGeom prst="ellipse">
            <a:avLst/>
          </a:prstGeom>
          <a:solidFill>
            <a:srgbClr val="F8B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1834516" y="1646571"/>
            <a:ext cx="131444" cy="131444"/>
          </a:xfrm>
          <a:prstGeom prst="ellipse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1834516" y="1844195"/>
            <a:ext cx="131444" cy="131444"/>
          </a:xfrm>
          <a:prstGeom prst="ellipse">
            <a:avLst/>
          </a:prstGeom>
          <a:solidFill>
            <a:srgbClr val="FB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1834516" y="2041819"/>
            <a:ext cx="131444" cy="131444"/>
          </a:xfrm>
          <a:prstGeom prst="ellipse">
            <a:avLst/>
          </a:prstGeom>
          <a:solidFill>
            <a:srgbClr val="FCE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834516" y="2239443"/>
            <a:ext cx="131444" cy="131444"/>
          </a:xfrm>
          <a:prstGeom prst="ellipse">
            <a:avLst/>
          </a:prstGeom>
          <a:solidFill>
            <a:srgbClr val="FDE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9872757" y="1421706"/>
            <a:ext cx="469805" cy="130682"/>
            <a:chOff x="9936257" y="1383606"/>
            <a:chExt cx="469805" cy="130682"/>
          </a:xfrm>
        </p:grpSpPr>
        <p:grpSp>
          <p:nvGrpSpPr>
            <p:cNvPr id="40" name="组合 39"/>
            <p:cNvGrpSpPr/>
            <p:nvPr/>
          </p:nvGrpSpPr>
          <p:grpSpPr>
            <a:xfrm rot="10800000">
              <a:off x="9936257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41" name="燕尾形 40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燕尾形 41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燕尾形 42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10800000">
              <a:off x="10160094" y="1383606"/>
              <a:ext cx="245968" cy="130682"/>
              <a:chOff x="-14468885" y="-125990"/>
              <a:chExt cx="924334" cy="468890"/>
            </a:xfrm>
            <a:solidFill>
              <a:srgbClr val="F9CACB"/>
            </a:solidFill>
          </p:grpSpPr>
          <p:sp>
            <p:nvSpPr>
              <p:cNvPr id="64" name="燕尾形 63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燕尾形 64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燕尾形 65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7" name="文本框 66"/>
          <p:cNvSpPr txBox="1"/>
          <p:nvPr/>
        </p:nvSpPr>
        <p:spPr>
          <a:xfrm>
            <a:off x="5069139" y="2424161"/>
            <a:ext cx="448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FBD5DE"/>
                </a:solidFill>
              </a:rPr>
              <a:t>PART FOUR</a:t>
            </a:r>
            <a:endParaRPr lang="zh-CN" altLang="en-US" sz="7200" dirty="0">
              <a:solidFill>
                <a:srgbClr val="FBD5D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52713" y="2353437"/>
            <a:ext cx="6899046" cy="2051254"/>
            <a:chOff x="2652713" y="2524887"/>
            <a:chExt cx="6899046" cy="2051254"/>
          </a:xfrm>
        </p:grpSpPr>
        <p:sp>
          <p:nvSpPr>
            <p:cNvPr id="2" name="文本框 1"/>
            <p:cNvSpPr txBox="1"/>
            <p:nvPr/>
          </p:nvSpPr>
          <p:spPr>
            <a:xfrm>
              <a:off x="5069139" y="2524887"/>
              <a:ext cx="44826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dirty="0">
                  <a:solidFill>
                    <a:srgbClr val="95748D"/>
                  </a:solidFill>
                </a:rPr>
                <a:t>PART FOUR</a:t>
              </a:r>
              <a:endParaRPr lang="zh-CN" altLang="en-US" sz="7200" dirty="0">
                <a:solidFill>
                  <a:srgbClr val="95748D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652713" y="2801096"/>
              <a:ext cx="1636808" cy="1636808"/>
              <a:chOff x="2405063" y="2610596"/>
              <a:chExt cx="1636808" cy="163680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405063" y="2610596"/>
                <a:ext cx="1636808" cy="1636808"/>
                <a:chOff x="2405063" y="2610596"/>
                <a:chExt cx="1636808" cy="1636808"/>
              </a:xfrm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235" t="34499" r="49339" b="43592"/>
                <a:stretch>
                  <a:fillRect/>
                </a:stretch>
              </p:blipFill>
              <p:spPr>
                <a:xfrm>
                  <a:off x="2405063" y="2610596"/>
                  <a:ext cx="1636808" cy="1636808"/>
                </a:xfrm>
                <a:custGeom>
                  <a:avLst/>
                  <a:gdLst>
                    <a:gd name="connsiteX0" fmla="*/ 818404 w 1636808"/>
                    <a:gd name="connsiteY0" fmla="*/ 0 h 1636808"/>
                    <a:gd name="connsiteX1" fmla="*/ 1636808 w 1636808"/>
                    <a:gd name="connsiteY1" fmla="*/ 818404 h 1636808"/>
                    <a:gd name="connsiteX2" fmla="*/ 818404 w 1636808"/>
                    <a:gd name="connsiteY2" fmla="*/ 1636808 h 1636808"/>
                    <a:gd name="connsiteX3" fmla="*/ 0 w 1636808"/>
                    <a:gd name="connsiteY3" fmla="*/ 818404 h 1636808"/>
                    <a:gd name="connsiteX4" fmla="*/ 818404 w 1636808"/>
                    <a:gd name="connsiteY4" fmla="*/ 0 h 163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808" h="1636808">
                      <a:moveTo>
                        <a:pt x="818404" y="0"/>
                      </a:moveTo>
                      <a:cubicBezTo>
                        <a:pt x="1270396" y="0"/>
                        <a:pt x="1636808" y="366412"/>
                        <a:pt x="1636808" y="818404"/>
                      </a:cubicBezTo>
                      <a:cubicBezTo>
                        <a:pt x="1636808" y="1270396"/>
                        <a:pt x="1270396" y="1636808"/>
                        <a:pt x="818404" y="1636808"/>
                      </a:cubicBezTo>
                      <a:cubicBezTo>
                        <a:pt x="366412" y="1636808"/>
                        <a:pt x="0" y="1270396"/>
                        <a:pt x="0" y="818404"/>
                      </a:cubicBezTo>
                      <a:cubicBezTo>
                        <a:pt x="0" y="366412"/>
                        <a:pt x="366412" y="0"/>
                        <a:pt x="818404" y="0"/>
                      </a:cubicBezTo>
                      <a:close/>
                    </a:path>
                  </a:pathLst>
                </a:custGeom>
              </p:spPr>
            </p:pic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5602" t="10129" r="6898" b="77632"/>
                <a:stretch>
                  <a:fillRect/>
                </a:stretch>
              </p:blipFill>
              <p:spPr>
                <a:xfrm>
                  <a:off x="3665061" y="2627664"/>
                  <a:ext cx="376810" cy="376810"/>
                </a:xfrm>
                <a:custGeom>
                  <a:avLst/>
                  <a:gdLst>
                    <a:gd name="connsiteX0" fmla="*/ 457200 w 914400"/>
                    <a:gd name="connsiteY0" fmla="*/ 0 h 914400"/>
                    <a:gd name="connsiteX1" fmla="*/ 914400 w 914400"/>
                    <a:gd name="connsiteY1" fmla="*/ 457200 h 914400"/>
                    <a:gd name="connsiteX2" fmla="*/ 457200 w 914400"/>
                    <a:gd name="connsiteY2" fmla="*/ 914400 h 914400"/>
                    <a:gd name="connsiteX3" fmla="*/ 0 w 914400"/>
                    <a:gd name="connsiteY3" fmla="*/ 457200 h 914400"/>
                    <a:gd name="connsiteX4" fmla="*/ 457200 w 914400"/>
                    <a:gd name="connsiteY4" fmla="*/ 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400" h="914400">
                      <a:moveTo>
                        <a:pt x="457200" y="0"/>
                      </a:moveTo>
                      <a:cubicBezTo>
                        <a:pt x="709705" y="0"/>
                        <a:pt x="914400" y="204695"/>
                        <a:pt x="914400" y="457200"/>
                      </a:cubicBezTo>
                      <a:cubicBezTo>
                        <a:pt x="914400" y="709705"/>
                        <a:pt x="709705" y="914400"/>
                        <a:pt x="457200" y="914400"/>
                      </a:cubicBezTo>
                      <a:cubicBezTo>
                        <a:pt x="204695" y="914400"/>
                        <a:pt x="0" y="709705"/>
                        <a:pt x="0" y="457200"/>
                      </a:cubicBezTo>
                      <a:cubicBezTo>
                        <a:pt x="0" y="204695"/>
                        <a:pt x="204695" y="0"/>
                        <a:pt x="457200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39" name="文本框 38"/>
              <p:cNvSpPr txBox="1"/>
              <p:nvPr/>
            </p:nvSpPr>
            <p:spPr>
              <a:xfrm>
                <a:off x="2557810" y="2981235"/>
                <a:ext cx="13697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solidFill>
                      <a:srgbClr val="FAF7F8"/>
                    </a:solidFill>
                    <a:latin typeface="胡晓波男神体" panose="02010600030101010101" pitchFamily="2" charset="-122"/>
                    <a:ea typeface="胡晓波男神体" panose="02010600030101010101" pitchFamily="2" charset="-122"/>
                    <a:cs typeface="胡晓波男神体" panose="02010600030101010101" pitchFamily="2" charset="-122"/>
                  </a:rPr>
                  <a:t>04</a:t>
                </a:r>
                <a:endParaRPr lang="zh-CN" altLang="en-US" sz="5400" dirty="0">
                  <a:solidFill>
                    <a:srgbClr val="FAF7F8"/>
                  </a:solidFill>
                  <a:latin typeface="胡晓波男神体" panose="02010600030101010101" pitchFamily="2" charset="-122"/>
                  <a:ea typeface="胡晓波男神体" panose="02010600030101010101" pitchFamily="2" charset="-122"/>
                  <a:cs typeface="胡晓波男神体" panose="02010600030101010101" pitchFamily="2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5069139" y="3746196"/>
              <a:ext cx="448262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4800" dirty="0">
                  <a:solidFill>
                    <a:srgbClr val="95748D"/>
                  </a:solidFill>
                  <a:latin typeface="汉仪粗圆简" panose="02010600000101010101" charset="-122"/>
                  <a:ea typeface="汉仪粗圆简" panose="02010600000101010101" charset="-122"/>
                  <a:sym typeface="+mn-ea"/>
                </a:rPr>
                <a:t>不足与</a:t>
              </a:r>
              <a:r>
                <a:rPr lang="zh-CN" altLang="en-US" sz="4800" dirty="0">
                  <a:solidFill>
                    <a:srgbClr val="F8B3C3"/>
                  </a:solidFill>
                  <a:latin typeface="汉仪粗圆简" panose="02010600000101010101" charset="-122"/>
                  <a:ea typeface="汉仪粗圆简" panose="02010600000101010101" charset="-122"/>
                  <a:sym typeface="+mn-ea"/>
                </a:rPr>
                <a:t>改进</a:t>
              </a:r>
              <a:r>
                <a:rPr lang="zh-CN" altLang="en-US" sz="4800" dirty="0">
                  <a:solidFill>
                    <a:srgbClr val="F8B3C3"/>
                  </a:solidFill>
                  <a:latin typeface="汉仪粗圆简" panose="02010600000101010101" charset="-122"/>
                  <a:ea typeface="汉仪粗圆简" panose="02010600000101010101" charset="-122"/>
                  <a:sym typeface="+mn-ea"/>
                </a:rPr>
                <a:t>方向</a:t>
              </a:r>
              <a:endParaRPr lang="zh-CN" altLang="en-US" sz="4800" dirty="0">
                <a:solidFill>
                  <a:srgbClr val="F8B3C3"/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endParaRPr>
            </a:p>
          </p:txBody>
        </p:sp>
      </p:grp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9" name="组合 8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10" name="燕尾形 9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燕尾形 10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燕尾形 11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不足与</a:t>
              </a:r>
              <a:r>
                <a:rPr lang="zh-CN" altLang="en-US" b="1" dirty="0">
                  <a:solidFill>
                    <a:srgbClr val="F8B3C3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改进方向</a:t>
              </a:r>
              <a:endParaRPr lang="zh-CN" altLang="en-US" b="1" dirty="0">
                <a:solidFill>
                  <a:srgbClr val="F8B3C3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1081767" y="1763618"/>
            <a:ext cx="900000" cy="900000"/>
          </a:xfrm>
          <a:prstGeom prst="roundRect">
            <a:avLst/>
          </a:prstGeom>
          <a:solidFill>
            <a:srgbClr val="BEA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1081767" y="3144279"/>
            <a:ext cx="900000" cy="900000"/>
          </a:xfrm>
          <a:prstGeom prst="roundRect">
            <a:avLst/>
          </a:prstGeom>
          <a:solidFill>
            <a:srgbClr val="F8B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4"/>
            </p:custDataLst>
          </p:nvPr>
        </p:nvSpPr>
        <p:spPr>
          <a:xfrm>
            <a:off x="1081767" y="4703375"/>
            <a:ext cx="900000" cy="900000"/>
          </a:xfrm>
          <a:prstGeom prst="roundRect">
            <a:avLst/>
          </a:prstGeom>
          <a:solidFill>
            <a:srgbClr val="FCD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 70"/>
          <p:cNvSpPr/>
          <p:nvPr>
            <p:custDataLst>
              <p:tags r:id="rId5"/>
            </p:custDataLst>
          </p:nvPr>
        </p:nvSpPr>
        <p:spPr>
          <a:xfrm>
            <a:off x="1394934" y="4950347"/>
            <a:ext cx="273666" cy="365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950" y="0"/>
                  <a:pt x="0" y="3544"/>
                  <a:pt x="0" y="8100"/>
                </a:cubicBezTo>
                <a:cubicBezTo>
                  <a:pt x="0" y="13669"/>
                  <a:pt x="10800" y="21600"/>
                  <a:pt x="10800" y="21600"/>
                </a:cubicBezTo>
                <a:cubicBezTo>
                  <a:pt x="10800" y="21600"/>
                  <a:pt x="21600" y="13669"/>
                  <a:pt x="21600" y="8100"/>
                </a:cubicBezTo>
                <a:cubicBezTo>
                  <a:pt x="21600" y="3544"/>
                  <a:pt x="16650" y="0"/>
                  <a:pt x="10800" y="0"/>
                </a:cubicBezTo>
                <a:close/>
                <a:moveTo>
                  <a:pt x="10800" y="12150"/>
                </a:moveTo>
                <a:cubicBezTo>
                  <a:pt x="7650" y="12150"/>
                  <a:pt x="5175" y="10294"/>
                  <a:pt x="5175" y="7931"/>
                </a:cubicBezTo>
                <a:cubicBezTo>
                  <a:pt x="5175" y="5737"/>
                  <a:pt x="7650" y="3881"/>
                  <a:pt x="10800" y="3881"/>
                </a:cubicBezTo>
                <a:cubicBezTo>
                  <a:pt x="13950" y="3881"/>
                  <a:pt x="16425" y="5737"/>
                  <a:pt x="16425" y="7931"/>
                </a:cubicBezTo>
                <a:cubicBezTo>
                  <a:pt x="16425" y="10294"/>
                  <a:pt x="13950" y="12150"/>
                  <a:pt x="10800" y="1215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grpSp>
        <p:nvGrpSpPr>
          <p:cNvPr id="34" name="组合 33"/>
          <p:cNvGrpSpPr/>
          <p:nvPr>
            <p:custDataLst>
              <p:tags r:id="rId6"/>
            </p:custDataLst>
          </p:nvPr>
        </p:nvGrpSpPr>
        <p:grpSpPr>
          <a:xfrm>
            <a:off x="1330369" y="3432368"/>
            <a:ext cx="395542" cy="289804"/>
            <a:chOff x="5403758" y="2773540"/>
            <a:chExt cx="276994" cy="202947"/>
          </a:xfrm>
        </p:grpSpPr>
        <p:sp>
          <p:nvSpPr>
            <p:cNvPr id="35" name="Freeform 144"/>
            <p:cNvSpPr/>
            <p:nvPr>
              <p:custDataLst>
                <p:tags r:id="rId7"/>
              </p:custDataLst>
            </p:nvPr>
          </p:nvSpPr>
          <p:spPr>
            <a:xfrm>
              <a:off x="5466835" y="2829305"/>
              <a:ext cx="213917" cy="147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27" y="6035"/>
                  </a:moveTo>
                  <a:cubicBezTo>
                    <a:pt x="17673" y="2541"/>
                    <a:pt x="15273" y="0"/>
                    <a:pt x="12655" y="0"/>
                  </a:cubicBezTo>
                  <a:cubicBezTo>
                    <a:pt x="10691" y="0"/>
                    <a:pt x="8727" y="1271"/>
                    <a:pt x="7636" y="3812"/>
                  </a:cubicBezTo>
                  <a:cubicBezTo>
                    <a:pt x="7200" y="3176"/>
                    <a:pt x="6545" y="2541"/>
                    <a:pt x="5673" y="2541"/>
                  </a:cubicBezTo>
                  <a:cubicBezTo>
                    <a:pt x="3927" y="2541"/>
                    <a:pt x="2618" y="4765"/>
                    <a:pt x="2618" y="7306"/>
                  </a:cubicBezTo>
                  <a:cubicBezTo>
                    <a:pt x="2618" y="7624"/>
                    <a:pt x="2618" y="8259"/>
                    <a:pt x="2618" y="8576"/>
                  </a:cubicBezTo>
                  <a:cubicBezTo>
                    <a:pt x="1091" y="9529"/>
                    <a:pt x="0" y="12071"/>
                    <a:pt x="0" y="14612"/>
                  </a:cubicBezTo>
                  <a:cubicBezTo>
                    <a:pt x="0" y="18424"/>
                    <a:pt x="1964" y="21600"/>
                    <a:pt x="4582" y="21600"/>
                  </a:cubicBezTo>
                  <a:cubicBezTo>
                    <a:pt x="16145" y="21600"/>
                    <a:pt x="16145" y="21600"/>
                    <a:pt x="16145" y="21600"/>
                  </a:cubicBezTo>
                  <a:cubicBezTo>
                    <a:pt x="19200" y="21600"/>
                    <a:pt x="21600" y="18106"/>
                    <a:pt x="21600" y="13659"/>
                  </a:cubicBezTo>
                  <a:cubicBezTo>
                    <a:pt x="21600" y="10165"/>
                    <a:pt x="20291" y="7306"/>
                    <a:pt x="18327" y="603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36" name="Freeform 145"/>
            <p:cNvSpPr/>
            <p:nvPr>
              <p:custDataLst>
                <p:tags r:id="rId8"/>
              </p:custDataLst>
            </p:nvPr>
          </p:nvSpPr>
          <p:spPr>
            <a:xfrm>
              <a:off x="5403758" y="2773540"/>
              <a:ext cx="202946" cy="177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13" y="6059"/>
                  </a:moveTo>
                  <a:cubicBezTo>
                    <a:pt x="8272" y="6059"/>
                    <a:pt x="8502" y="6322"/>
                    <a:pt x="8732" y="6585"/>
                  </a:cubicBezTo>
                  <a:cubicBezTo>
                    <a:pt x="9651" y="7376"/>
                    <a:pt x="9651" y="7376"/>
                    <a:pt x="9651" y="7376"/>
                  </a:cubicBezTo>
                  <a:cubicBezTo>
                    <a:pt x="9881" y="7376"/>
                    <a:pt x="10340" y="7112"/>
                    <a:pt x="10570" y="6849"/>
                  </a:cubicBezTo>
                  <a:cubicBezTo>
                    <a:pt x="10570" y="6849"/>
                    <a:pt x="10800" y="6849"/>
                    <a:pt x="10800" y="6849"/>
                  </a:cubicBezTo>
                  <a:cubicBezTo>
                    <a:pt x="11260" y="6322"/>
                    <a:pt x="11260" y="6322"/>
                    <a:pt x="11260" y="6322"/>
                  </a:cubicBezTo>
                  <a:cubicBezTo>
                    <a:pt x="11949" y="4741"/>
                    <a:pt x="13557" y="3951"/>
                    <a:pt x="14936" y="3951"/>
                  </a:cubicBezTo>
                  <a:cubicBezTo>
                    <a:pt x="15855" y="3951"/>
                    <a:pt x="16545" y="4215"/>
                    <a:pt x="17234" y="4741"/>
                  </a:cubicBezTo>
                  <a:cubicBezTo>
                    <a:pt x="18153" y="4215"/>
                    <a:pt x="19072" y="4215"/>
                    <a:pt x="19991" y="4215"/>
                  </a:cubicBezTo>
                  <a:cubicBezTo>
                    <a:pt x="20451" y="4215"/>
                    <a:pt x="21140" y="4215"/>
                    <a:pt x="21600" y="4478"/>
                  </a:cubicBezTo>
                  <a:cubicBezTo>
                    <a:pt x="21140" y="3424"/>
                    <a:pt x="20451" y="2634"/>
                    <a:pt x="19762" y="1844"/>
                  </a:cubicBezTo>
                  <a:cubicBezTo>
                    <a:pt x="18383" y="790"/>
                    <a:pt x="16774" y="0"/>
                    <a:pt x="14936" y="0"/>
                  </a:cubicBezTo>
                  <a:cubicBezTo>
                    <a:pt x="12868" y="0"/>
                    <a:pt x="10800" y="1054"/>
                    <a:pt x="9421" y="2634"/>
                  </a:cubicBezTo>
                  <a:cubicBezTo>
                    <a:pt x="8962" y="2371"/>
                    <a:pt x="8272" y="2371"/>
                    <a:pt x="7813" y="2371"/>
                  </a:cubicBezTo>
                  <a:cubicBezTo>
                    <a:pt x="5055" y="2371"/>
                    <a:pt x="2757" y="5005"/>
                    <a:pt x="2757" y="8166"/>
                  </a:cubicBezTo>
                  <a:cubicBezTo>
                    <a:pt x="2757" y="8166"/>
                    <a:pt x="2757" y="8166"/>
                    <a:pt x="2757" y="8166"/>
                  </a:cubicBezTo>
                  <a:cubicBezTo>
                    <a:pt x="1149" y="9483"/>
                    <a:pt x="0" y="11854"/>
                    <a:pt x="0" y="14224"/>
                  </a:cubicBezTo>
                  <a:cubicBezTo>
                    <a:pt x="0" y="17649"/>
                    <a:pt x="2068" y="20810"/>
                    <a:pt x="4826" y="21600"/>
                  </a:cubicBezTo>
                  <a:cubicBezTo>
                    <a:pt x="4596" y="20810"/>
                    <a:pt x="4366" y="20020"/>
                    <a:pt x="4366" y="18966"/>
                  </a:cubicBezTo>
                  <a:cubicBezTo>
                    <a:pt x="4366" y="18439"/>
                    <a:pt x="4366" y="17912"/>
                    <a:pt x="4596" y="17385"/>
                  </a:cubicBezTo>
                  <a:cubicBezTo>
                    <a:pt x="3906" y="16595"/>
                    <a:pt x="3217" y="15541"/>
                    <a:pt x="3217" y="14224"/>
                  </a:cubicBezTo>
                  <a:cubicBezTo>
                    <a:pt x="3217" y="12907"/>
                    <a:pt x="4136" y="11590"/>
                    <a:pt x="5285" y="10800"/>
                  </a:cubicBezTo>
                  <a:cubicBezTo>
                    <a:pt x="6434" y="10273"/>
                    <a:pt x="6434" y="10273"/>
                    <a:pt x="6434" y="10273"/>
                  </a:cubicBezTo>
                  <a:cubicBezTo>
                    <a:pt x="6204" y="8693"/>
                    <a:pt x="6204" y="8693"/>
                    <a:pt x="6204" y="8693"/>
                  </a:cubicBezTo>
                  <a:cubicBezTo>
                    <a:pt x="5974" y="8429"/>
                    <a:pt x="5974" y="8429"/>
                    <a:pt x="5974" y="8166"/>
                  </a:cubicBezTo>
                  <a:cubicBezTo>
                    <a:pt x="5974" y="7112"/>
                    <a:pt x="6894" y="6059"/>
                    <a:pt x="7813" y="605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40" name="组合 39"/>
          <p:cNvGrpSpPr/>
          <p:nvPr>
            <p:custDataLst>
              <p:tags r:id="rId9"/>
            </p:custDataLst>
          </p:nvPr>
        </p:nvGrpSpPr>
        <p:grpSpPr>
          <a:xfrm>
            <a:off x="1292269" y="2038154"/>
            <a:ext cx="473907" cy="325324"/>
            <a:chOff x="10385069" y="1671966"/>
            <a:chExt cx="276993" cy="190148"/>
          </a:xfrm>
        </p:grpSpPr>
        <p:sp>
          <p:nvSpPr>
            <p:cNvPr id="41" name="Freeform 171"/>
            <p:cNvSpPr/>
            <p:nvPr>
              <p:custDataLst>
                <p:tags r:id="rId10"/>
              </p:custDataLst>
            </p:nvPr>
          </p:nvSpPr>
          <p:spPr>
            <a:xfrm>
              <a:off x="10385069" y="1671966"/>
              <a:ext cx="190148" cy="190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82" y="16936"/>
                  </a:moveTo>
                  <a:cubicBezTo>
                    <a:pt x="19882" y="16936"/>
                    <a:pt x="14727" y="15709"/>
                    <a:pt x="13991" y="14236"/>
                  </a:cubicBezTo>
                  <a:cubicBezTo>
                    <a:pt x="13745" y="13500"/>
                    <a:pt x="13991" y="12764"/>
                    <a:pt x="14482" y="12027"/>
                  </a:cubicBezTo>
                  <a:cubicBezTo>
                    <a:pt x="14482" y="12027"/>
                    <a:pt x="14727" y="11782"/>
                    <a:pt x="14727" y="11536"/>
                  </a:cubicBezTo>
                  <a:cubicBezTo>
                    <a:pt x="14727" y="11536"/>
                    <a:pt x="14727" y="11536"/>
                    <a:pt x="14727" y="11536"/>
                  </a:cubicBezTo>
                  <a:cubicBezTo>
                    <a:pt x="15709" y="10064"/>
                    <a:pt x="16445" y="8345"/>
                    <a:pt x="16445" y="6136"/>
                  </a:cubicBezTo>
                  <a:cubicBezTo>
                    <a:pt x="16445" y="2700"/>
                    <a:pt x="13991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7609" y="0"/>
                    <a:pt x="5155" y="2700"/>
                    <a:pt x="5155" y="6136"/>
                  </a:cubicBezTo>
                  <a:cubicBezTo>
                    <a:pt x="5400" y="8345"/>
                    <a:pt x="5891" y="10064"/>
                    <a:pt x="6873" y="11536"/>
                  </a:cubicBezTo>
                  <a:cubicBezTo>
                    <a:pt x="6873" y="11536"/>
                    <a:pt x="6873" y="11536"/>
                    <a:pt x="6873" y="11536"/>
                  </a:cubicBezTo>
                  <a:cubicBezTo>
                    <a:pt x="6873" y="11536"/>
                    <a:pt x="6873" y="11536"/>
                    <a:pt x="6873" y="11536"/>
                  </a:cubicBezTo>
                  <a:cubicBezTo>
                    <a:pt x="6873" y="11782"/>
                    <a:pt x="7118" y="12027"/>
                    <a:pt x="7118" y="12027"/>
                  </a:cubicBezTo>
                  <a:cubicBezTo>
                    <a:pt x="7609" y="12764"/>
                    <a:pt x="7855" y="13500"/>
                    <a:pt x="7609" y="14236"/>
                  </a:cubicBezTo>
                  <a:cubicBezTo>
                    <a:pt x="6873" y="15709"/>
                    <a:pt x="1718" y="16936"/>
                    <a:pt x="1718" y="16936"/>
                  </a:cubicBezTo>
                  <a:cubicBezTo>
                    <a:pt x="736" y="17182"/>
                    <a:pt x="0" y="18164"/>
                    <a:pt x="0" y="19391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19391"/>
                    <a:pt x="21600" y="19391"/>
                    <a:pt x="21600" y="19391"/>
                  </a:cubicBezTo>
                  <a:cubicBezTo>
                    <a:pt x="21600" y="18164"/>
                    <a:pt x="20864" y="17182"/>
                    <a:pt x="19882" y="1693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42" name="Freeform 172"/>
            <p:cNvSpPr/>
            <p:nvPr>
              <p:custDataLst>
                <p:tags r:id="rId11"/>
              </p:custDataLst>
            </p:nvPr>
          </p:nvSpPr>
          <p:spPr>
            <a:xfrm>
              <a:off x="10556018" y="1724074"/>
              <a:ext cx="106044" cy="138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96" y="16875"/>
                  </a:moveTo>
                  <a:cubicBezTo>
                    <a:pt x="19396" y="16875"/>
                    <a:pt x="19396" y="16875"/>
                    <a:pt x="19396" y="16875"/>
                  </a:cubicBezTo>
                  <a:cubicBezTo>
                    <a:pt x="19396" y="16875"/>
                    <a:pt x="12784" y="15525"/>
                    <a:pt x="11902" y="14175"/>
                  </a:cubicBezTo>
                  <a:cubicBezTo>
                    <a:pt x="11461" y="13500"/>
                    <a:pt x="11902" y="12825"/>
                    <a:pt x="12343" y="12150"/>
                  </a:cubicBezTo>
                  <a:cubicBezTo>
                    <a:pt x="12343" y="11813"/>
                    <a:pt x="12343" y="11813"/>
                    <a:pt x="12784" y="11475"/>
                  </a:cubicBezTo>
                  <a:cubicBezTo>
                    <a:pt x="12784" y="11475"/>
                    <a:pt x="12784" y="11475"/>
                    <a:pt x="12784" y="11475"/>
                  </a:cubicBezTo>
                  <a:cubicBezTo>
                    <a:pt x="13665" y="10125"/>
                    <a:pt x="14547" y="8437"/>
                    <a:pt x="14988" y="6075"/>
                  </a:cubicBezTo>
                  <a:cubicBezTo>
                    <a:pt x="14988" y="2700"/>
                    <a:pt x="11461" y="0"/>
                    <a:pt x="7494" y="0"/>
                  </a:cubicBezTo>
                  <a:cubicBezTo>
                    <a:pt x="7494" y="0"/>
                    <a:pt x="7494" y="0"/>
                    <a:pt x="7494" y="0"/>
                  </a:cubicBezTo>
                  <a:cubicBezTo>
                    <a:pt x="7494" y="0"/>
                    <a:pt x="7494" y="0"/>
                    <a:pt x="7494" y="0"/>
                  </a:cubicBezTo>
                  <a:cubicBezTo>
                    <a:pt x="7494" y="0"/>
                    <a:pt x="7494" y="0"/>
                    <a:pt x="7494" y="0"/>
                  </a:cubicBezTo>
                  <a:cubicBezTo>
                    <a:pt x="7494" y="0"/>
                    <a:pt x="7494" y="0"/>
                    <a:pt x="7494" y="0"/>
                  </a:cubicBezTo>
                  <a:cubicBezTo>
                    <a:pt x="3527" y="0"/>
                    <a:pt x="0" y="2700"/>
                    <a:pt x="0" y="6075"/>
                  </a:cubicBezTo>
                  <a:cubicBezTo>
                    <a:pt x="441" y="8437"/>
                    <a:pt x="1322" y="10125"/>
                    <a:pt x="2204" y="11475"/>
                  </a:cubicBezTo>
                  <a:cubicBezTo>
                    <a:pt x="2204" y="11475"/>
                    <a:pt x="2204" y="11475"/>
                    <a:pt x="2204" y="11475"/>
                  </a:cubicBezTo>
                  <a:cubicBezTo>
                    <a:pt x="2204" y="11475"/>
                    <a:pt x="2204" y="11475"/>
                    <a:pt x="2204" y="11475"/>
                  </a:cubicBezTo>
                  <a:cubicBezTo>
                    <a:pt x="2204" y="11813"/>
                    <a:pt x="2645" y="11813"/>
                    <a:pt x="2645" y="12150"/>
                  </a:cubicBezTo>
                  <a:cubicBezTo>
                    <a:pt x="2645" y="12150"/>
                    <a:pt x="3086" y="12150"/>
                    <a:pt x="3086" y="12150"/>
                  </a:cubicBezTo>
                  <a:cubicBezTo>
                    <a:pt x="6171" y="13163"/>
                    <a:pt x="8376" y="15863"/>
                    <a:pt x="8376" y="18563"/>
                  </a:cubicBezTo>
                  <a:cubicBezTo>
                    <a:pt x="8376" y="21600"/>
                    <a:pt x="8376" y="21600"/>
                    <a:pt x="83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19238"/>
                    <a:pt x="21600" y="19238"/>
                    <a:pt x="21600" y="19238"/>
                  </a:cubicBezTo>
                  <a:cubicBezTo>
                    <a:pt x="21600" y="18225"/>
                    <a:pt x="20718" y="17213"/>
                    <a:pt x="19396" y="168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45" name="组合 44"/>
          <p:cNvGrpSpPr/>
          <p:nvPr>
            <p:custDataLst>
              <p:tags r:id="rId12"/>
            </p:custDataLst>
          </p:nvPr>
        </p:nvGrpSpPr>
        <p:grpSpPr>
          <a:xfrm>
            <a:off x="2143598" y="1522250"/>
            <a:ext cx="3574249" cy="964322"/>
            <a:chOff x="307636" y="2109612"/>
            <a:chExt cx="3574249" cy="964322"/>
          </a:xfrm>
        </p:grpSpPr>
        <p:sp>
          <p:nvSpPr>
            <p:cNvPr id="46" name="矩形 45"/>
            <p:cNvSpPr/>
            <p:nvPr>
              <p:custDataLst>
                <p:tags r:id="rId13"/>
              </p:custDataLst>
            </p:nvPr>
          </p:nvSpPr>
          <p:spPr>
            <a:xfrm>
              <a:off x="320765" y="2428774"/>
              <a:ext cx="356112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当前电感线圈尺寸较小，电磁感应区域有限，对螺帽的有效耦合范围较窄。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4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不足一：线圈尺寸偏小</a:t>
              </a:r>
              <a:endParaRPr lang="zh-CN" altLang="en-US" sz="1400" b="1" dirty="0">
                <a:solidFill>
                  <a:srgbClr val="95748D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5"/>
            </p:custDataLst>
          </p:nvPr>
        </p:nvGrpSpPr>
        <p:grpSpPr>
          <a:xfrm>
            <a:off x="2143598" y="2974986"/>
            <a:ext cx="4657090" cy="1550035"/>
            <a:chOff x="307636" y="2109612"/>
            <a:chExt cx="4657090" cy="1550035"/>
          </a:xfrm>
        </p:grpSpPr>
        <p:sp>
          <p:nvSpPr>
            <p:cNvPr id="49" name="矩形 48"/>
            <p:cNvSpPr/>
            <p:nvPr>
              <p:custDataLst>
                <p:tags r:id="rId16"/>
              </p:custDataLst>
            </p:nvPr>
          </p:nvSpPr>
          <p:spPr>
            <a:xfrm>
              <a:off x="320336" y="2460767"/>
              <a:ext cx="4644390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测量距离短：仅在很小的高度范围内变化明显，安装与对位要求高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抗装配误差能力弱：螺帽偏心或倾斜会导致测量值波动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适配性不足：对不同规格螺帽通用性较差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信噪比下降：有效信号幅值变小，噪声占比上升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17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带来的功能缺陷</a:t>
              </a:r>
              <a:endParaRPr lang="zh-CN" altLang="en-US" sz="1400" b="1" dirty="0">
                <a:solidFill>
                  <a:srgbClr val="95748D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8"/>
            </p:custDataLst>
          </p:nvPr>
        </p:nvGrpSpPr>
        <p:grpSpPr>
          <a:xfrm>
            <a:off x="2143598" y="4562615"/>
            <a:ext cx="4097655" cy="1518285"/>
            <a:chOff x="307636" y="2109612"/>
            <a:chExt cx="4097655" cy="1518285"/>
          </a:xfrm>
        </p:grpSpPr>
        <p:sp>
          <p:nvSpPr>
            <p:cNvPr id="52" name="矩形 51"/>
            <p:cNvSpPr/>
            <p:nvPr>
              <p:custDataLst>
                <p:tags r:id="rId19"/>
              </p:custDataLst>
            </p:nvPr>
          </p:nvSpPr>
          <p:spPr>
            <a:xfrm>
              <a:off x="320971" y="2429017"/>
              <a:ext cx="4084320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增大线圈直径或匝数，扩大有效感应面积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设计多规格可更换线圈，适配不同螺帽尺寸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采用差分或双线圈结构，提升稳定性与抗干扰能力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结合线圈建模仿真，在灵敏度与测量范围之间取得平衡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  <p:sp>
          <p:nvSpPr>
            <p:cNvPr id="53" name="矩形 52"/>
            <p:cNvSpPr/>
            <p:nvPr>
              <p:custDataLst>
                <p:tags r:id="rId20"/>
              </p:custDataLst>
            </p:nvPr>
          </p:nvSpPr>
          <p:spPr>
            <a:xfrm>
              <a:off x="307636" y="2109612"/>
              <a:ext cx="2136577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改进方向</a:t>
              </a:r>
              <a:endParaRPr lang="zh-CN" altLang="en-US" sz="1400" b="1" dirty="0">
                <a:solidFill>
                  <a:srgbClr val="95748D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pic>
        <p:nvPicPr>
          <p:cNvPr id="2" name="图片 1" descr="a747e0be7d11ad7f6a0b76444e690e6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1485" y="640080"/>
            <a:ext cx="4240530" cy="5652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343258" y="301419"/>
            <a:ext cx="11558455" cy="627355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688872" y="1394492"/>
            <a:ext cx="5368124" cy="1018961"/>
            <a:chOff x="688872" y="1880267"/>
            <a:chExt cx="5368124" cy="1018961"/>
          </a:xfrm>
        </p:grpSpPr>
        <p:cxnSp>
          <p:nvCxnSpPr>
            <p:cNvPr id="15" name="直接连接符 14"/>
            <p:cNvCxnSpPr/>
            <p:nvPr>
              <p:custDataLst>
                <p:tags r:id="rId3"/>
              </p:custDataLst>
            </p:nvPr>
          </p:nvCxnSpPr>
          <p:spPr>
            <a:xfrm>
              <a:off x="951596" y="2899228"/>
              <a:ext cx="5105400" cy="0"/>
            </a:xfrm>
            <a:prstGeom prst="line">
              <a:avLst/>
            </a:prstGeom>
            <a:ln>
              <a:solidFill>
                <a:srgbClr val="7F7F7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>
              <p:custDataLst>
                <p:tags r:id="rId4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33456" y="1880267"/>
              <a:ext cx="5054594" cy="794477"/>
              <a:chOff x="307636" y="2109612"/>
              <a:chExt cx="5054594" cy="794477"/>
            </a:xfrm>
          </p:grpSpPr>
          <p:sp>
            <p:nvSpPr>
              <p:cNvPr id="57" name="矩形 56"/>
              <p:cNvSpPr/>
              <p:nvPr>
                <p:custDataLst>
                  <p:tags r:id="rId5"/>
                </p:custDataLst>
              </p:nvPr>
            </p:nvSpPr>
            <p:spPr>
              <a:xfrm>
                <a:off x="320764" y="2428774"/>
                <a:ext cx="5041466" cy="475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当前检测逻辑基于螺帽底面与传感器之间的轴向距离变化，信息维度单一。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  <p:sp>
            <p:nvSpPr>
              <p:cNvPr id="58" name="矩形 57"/>
              <p:cNvSpPr/>
              <p:nvPr>
                <p:custDataLst>
                  <p:tags r:id="rId6"/>
                </p:custDataLst>
              </p:nvPr>
            </p:nvSpPr>
            <p:spPr>
              <a:xfrm>
                <a:off x="307636" y="2109612"/>
                <a:ext cx="3264535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不足二：仅能测量螺帽底面距离</a:t>
                </a:r>
                <a:endPara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</p:grpSp>
      </p:grpSp>
      <p:grpSp>
        <p:nvGrpSpPr>
          <p:cNvPr id="67" name="组合 66"/>
          <p:cNvGrpSpPr/>
          <p:nvPr>
            <p:custDataLst>
              <p:tags r:id="rId7"/>
            </p:custDataLst>
          </p:nvPr>
        </p:nvGrpSpPr>
        <p:grpSpPr>
          <a:xfrm>
            <a:off x="736497" y="2505088"/>
            <a:ext cx="5299178" cy="1624116"/>
            <a:chOff x="688872" y="1880267"/>
            <a:chExt cx="5299178" cy="1624116"/>
          </a:xfrm>
        </p:grpSpPr>
        <p:cxnSp>
          <p:nvCxnSpPr>
            <p:cNvPr id="68" name="直接连接符 67"/>
            <p:cNvCxnSpPr/>
            <p:nvPr>
              <p:custDataLst>
                <p:tags r:id="rId8"/>
              </p:custDataLst>
            </p:nvPr>
          </p:nvCxnSpPr>
          <p:spPr>
            <a:xfrm>
              <a:off x="874761" y="3504383"/>
              <a:ext cx="5105400" cy="0"/>
            </a:xfrm>
            <a:prstGeom prst="line">
              <a:avLst/>
            </a:prstGeom>
            <a:ln>
              <a:solidFill>
                <a:srgbClr val="7F7F7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/>
            <p:cNvSpPr/>
            <p:nvPr>
              <p:custDataLst>
                <p:tags r:id="rId9"/>
              </p:custDataLst>
            </p:nvPr>
          </p:nvSpPr>
          <p:spPr>
            <a:xfrm>
              <a:off x="688872" y="209010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933456" y="1880267"/>
              <a:ext cx="5054594" cy="1518042"/>
              <a:chOff x="307636" y="2109612"/>
              <a:chExt cx="5054594" cy="1518042"/>
            </a:xfrm>
          </p:grpSpPr>
          <p:sp>
            <p:nvSpPr>
              <p:cNvPr id="71" name="矩形 70"/>
              <p:cNvSpPr/>
              <p:nvPr>
                <p:custDataLst>
                  <p:tags r:id="rId10"/>
                </p:custDataLst>
              </p:nvPr>
            </p:nvSpPr>
            <p:spPr>
              <a:xfrm>
                <a:off x="320764" y="2428774"/>
                <a:ext cx="5041466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无法判断扭矩是否达标，只能间接推断拧紧状态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难以识别假紧状态（螺纹滑牙、异物垫高）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不支持侧向偏移检测，对装配偏斜不敏感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结果依赖结构一致性，对不同工况鲁棒性不足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  <p:sp>
            <p:nvSpPr>
              <p:cNvPr id="72" name="矩形 71"/>
              <p:cNvSpPr/>
              <p:nvPr>
                <p:custDataLst>
                  <p:tags r:id="rId11"/>
                </p:custDataLst>
              </p:nvPr>
            </p:nvSpPr>
            <p:spPr>
              <a:xfrm>
                <a:off x="307636" y="2109612"/>
                <a:ext cx="2136577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带来的功能缺陷</a:t>
                </a:r>
                <a:endPara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12"/>
            </p:custDataLst>
          </p:nvPr>
        </p:nvGrpSpPr>
        <p:grpSpPr>
          <a:xfrm>
            <a:off x="693952" y="4197325"/>
            <a:ext cx="5370664" cy="1647611"/>
            <a:chOff x="693952" y="1442752"/>
            <a:chExt cx="5370664" cy="1647611"/>
          </a:xfrm>
        </p:grpSpPr>
        <p:cxnSp>
          <p:nvCxnSpPr>
            <p:cNvPr id="80" name="直接连接符 79"/>
            <p:cNvCxnSpPr/>
            <p:nvPr>
              <p:custDataLst>
                <p:tags r:id="rId13"/>
              </p:custDataLst>
            </p:nvPr>
          </p:nvCxnSpPr>
          <p:spPr>
            <a:xfrm>
              <a:off x="959216" y="3090363"/>
              <a:ext cx="5105400" cy="0"/>
            </a:xfrm>
            <a:prstGeom prst="line">
              <a:avLst/>
            </a:prstGeom>
            <a:ln>
              <a:solidFill>
                <a:srgbClr val="7F7F7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>
              <p:custDataLst>
                <p:tags r:id="rId14"/>
              </p:custDataLst>
            </p:nvPr>
          </p:nvSpPr>
          <p:spPr>
            <a:xfrm>
              <a:off x="693952" y="1762447"/>
              <a:ext cx="72000" cy="7200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938536" y="1442752"/>
              <a:ext cx="5054594" cy="1518042"/>
              <a:chOff x="312716" y="1672097"/>
              <a:chExt cx="5054594" cy="1518042"/>
            </a:xfrm>
          </p:grpSpPr>
          <p:sp>
            <p:nvSpPr>
              <p:cNvPr id="83" name="矩形 82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5844" y="1991259"/>
                <a:ext cx="5041466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引入多点测量结构，增加侧向或环形感应线圈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结合力学参数，如扭矩传感器或应变片进行融合判断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增加特征判定逻辑，通过曲线斜率、变化速率识别异常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向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“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状态识别</a:t>
                </a:r>
                <a:r>
                  <a:rPr lang="en-US" altLang="zh-CN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”</a:t>
                </a: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升级，由距离检测过渡到拧紧质量判断</a:t>
                </a:r>
                <a:endPara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  <p:sp>
            <p:nvSpPr>
              <p:cNvPr id="84" name="矩形 8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12716" y="1672097"/>
                <a:ext cx="2136577" cy="4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rgbClr val="95748D"/>
                    </a:solidFill>
                    <a:latin typeface="汉仪中圆简" panose="02010600000101010101" pitchFamily="49" charset="-122"/>
                    <a:ea typeface="汉仪中圆简" panose="02010600000101010101" pitchFamily="49" charset="-122"/>
                  </a:rPr>
                  <a:t>改进方向</a:t>
                </a:r>
                <a:endParaRPr lang="zh-CN" altLang="en-US" sz="1400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endParaRPr>
              </a:p>
            </p:txBody>
          </p:sp>
        </p:grpSp>
      </p:grpSp>
      <p:pic>
        <p:nvPicPr>
          <p:cNvPr id="3" name="图片 2" descr="2f17d198dec04d2a7a42ad937c1c9ca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9610" y="640080"/>
            <a:ext cx="4230370" cy="5638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4" name="组合 33"/>
          <p:cNvGrpSpPr/>
          <p:nvPr/>
        </p:nvGrpSpPr>
        <p:grpSpPr>
          <a:xfrm>
            <a:off x="630340" y="563081"/>
            <a:ext cx="2462467" cy="368300"/>
            <a:chOff x="630340" y="467831"/>
            <a:chExt cx="2462467" cy="368300"/>
          </a:xfrm>
        </p:grpSpPr>
        <p:grpSp>
          <p:nvGrpSpPr>
            <p:cNvPr id="35" name="组合 34"/>
            <p:cNvGrpSpPr/>
            <p:nvPr/>
          </p:nvGrpSpPr>
          <p:grpSpPr>
            <a:xfrm>
              <a:off x="630340" y="545100"/>
              <a:ext cx="453923" cy="241167"/>
              <a:chOff x="-14468885" y="-125990"/>
              <a:chExt cx="924334" cy="468890"/>
            </a:xfrm>
          </p:grpSpPr>
          <p:sp>
            <p:nvSpPr>
              <p:cNvPr id="36" name="燕尾形 35"/>
              <p:cNvSpPr/>
              <p:nvPr/>
            </p:nvSpPr>
            <p:spPr>
              <a:xfrm>
                <a:off x="-14468885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燕尾形 36"/>
              <p:cNvSpPr/>
              <p:nvPr/>
            </p:nvSpPr>
            <p:spPr>
              <a:xfrm>
                <a:off x="-14187898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燕尾形 40"/>
              <p:cNvSpPr/>
              <p:nvPr/>
            </p:nvSpPr>
            <p:spPr>
              <a:xfrm>
                <a:off x="-13906911" y="-125990"/>
                <a:ext cx="362360" cy="468890"/>
              </a:xfrm>
              <a:prstGeom prst="chevron">
                <a:avLst>
                  <a:gd name="adj" fmla="val 71166"/>
                </a:avLst>
              </a:prstGeom>
              <a:solidFill>
                <a:srgbClr val="F8BC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2" name="文本框 41"/>
            <p:cNvSpPr txBox="1"/>
            <p:nvPr/>
          </p:nvSpPr>
          <p:spPr>
            <a:xfrm>
              <a:off x="1151546" y="467831"/>
              <a:ext cx="194126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95748D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不足与</a:t>
              </a:r>
              <a:r>
                <a:rPr lang="zh-CN" altLang="en-US" b="1" dirty="0">
                  <a:solidFill>
                    <a:srgbClr val="F8B3C3"/>
                  </a:solidFill>
                  <a:latin typeface="汉仪中圆简" panose="02010600000101010101" pitchFamily="49" charset="-122"/>
                  <a:ea typeface="汉仪中圆简" panose="02010600000101010101" pitchFamily="49" charset="-122"/>
                </a:rPr>
                <a:t>改进方向</a:t>
              </a:r>
              <a:endParaRPr lang="zh-CN" altLang="en-US" b="1" dirty="0">
                <a:solidFill>
                  <a:srgbClr val="F8B3C3"/>
                </a:solidFill>
                <a:latin typeface="汉仪中圆简" panose="02010600000101010101" pitchFamily="49" charset="-122"/>
                <a:ea typeface="汉仪中圆简" panose="02010600000101010101" pitchFamily="49" charset="-122"/>
              </a:endParaRPr>
            </a:p>
          </p:txBody>
        </p:sp>
      </p:grpSp>
      <p:pic>
        <p:nvPicPr>
          <p:cNvPr id="5" name="图片 4" descr="unnamed (1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10570" y="385445"/>
            <a:ext cx="878205" cy="25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58" name="组合 57"/>
          <p:cNvGrpSpPr/>
          <p:nvPr/>
        </p:nvGrpSpPr>
        <p:grpSpPr>
          <a:xfrm>
            <a:off x="-600502" y="101001"/>
            <a:ext cx="368490" cy="1822984"/>
            <a:chOff x="-600502" y="-87685"/>
            <a:chExt cx="368490" cy="1822984"/>
          </a:xfrm>
        </p:grpSpPr>
        <p:sp>
          <p:nvSpPr>
            <p:cNvPr id="59" name="椭圆 58"/>
            <p:cNvSpPr/>
            <p:nvPr/>
          </p:nvSpPr>
          <p:spPr>
            <a:xfrm>
              <a:off x="-600502" y="409432"/>
              <a:ext cx="368490" cy="368490"/>
            </a:xfrm>
            <a:prstGeom prst="ellipse">
              <a:avLst/>
            </a:prstGeom>
            <a:solidFill>
              <a:srgbClr val="F8B3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-600502" y="-87685"/>
              <a:ext cx="368490" cy="368490"/>
            </a:xfrm>
            <a:prstGeom prst="ellipse">
              <a:avLst/>
            </a:prstGeom>
            <a:solidFill>
              <a:srgbClr val="BEAA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-600502" y="906549"/>
              <a:ext cx="368490" cy="368490"/>
            </a:xfrm>
            <a:prstGeom prst="ellipse">
              <a:avLst/>
            </a:prstGeom>
            <a:solidFill>
              <a:srgbClr val="FCD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-600502" y="1366809"/>
              <a:ext cx="368490" cy="368490"/>
            </a:xfrm>
            <a:prstGeom prst="ellipse">
              <a:avLst/>
            </a:prstGeom>
            <a:solidFill>
              <a:srgbClr val="FCE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4060190" y="2254250"/>
            <a:ext cx="4070985" cy="2348865"/>
          </a:xfrm>
          <a:prstGeom prst="roundRect">
            <a:avLst>
              <a:gd name="adj" fmla="val 5139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060190" y="614680"/>
            <a:ext cx="1598295" cy="1546860"/>
          </a:xfrm>
          <a:prstGeom prst="roundRect">
            <a:avLst>
              <a:gd name="adj" fmla="val 9770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744845" y="614680"/>
            <a:ext cx="1598295" cy="1546860"/>
          </a:xfrm>
          <a:prstGeom prst="roundRect">
            <a:avLst>
              <a:gd name="adj" fmla="val 9770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429500" y="614680"/>
            <a:ext cx="2756535" cy="1546860"/>
          </a:xfrm>
          <a:prstGeom prst="roundRect">
            <a:avLst>
              <a:gd name="adj" fmla="val 11247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0272395" y="614680"/>
            <a:ext cx="1598295" cy="1546860"/>
          </a:xfrm>
          <a:prstGeom prst="roundRect">
            <a:avLst>
              <a:gd name="adj" fmla="val 9770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433320" y="614680"/>
            <a:ext cx="1540510" cy="2138680"/>
          </a:xfrm>
          <a:prstGeom prst="roundRect">
            <a:avLst>
              <a:gd name="adj" fmla="val 1001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8217535" y="2254250"/>
            <a:ext cx="2523490" cy="1129665"/>
          </a:xfrm>
          <a:prstGeom prst="roundRect">
            <a:avLst>
              <a:gd name="adj" fmla="val 12422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217535" y="3476625"/>
            <a:ext cx="2523490" cy="1129665"/>
          </a:xfrm>
          <a:prstGeom prst="roundRect">
            <a:avLst>
              <a:gd name="adj" fmla="val 13603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827385" y="2254250"/>
            <a:ext cx="1042035" cy="2349500"/>
          </a:xfrm>
          <a:prstGeom prst="roundRect">
            <a:avLst>
              <a:gd name="adj" fmla="val 1273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08610" y="614680"/>
            <a:ext cx="2038350" cy="2138680"/>
          </a:xfrm>
          <a:prstGeom prst="roundRect">
            <a:avLst>
              <a:gd name="adj" fmla="val 719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08610" y="2829560"/>
            <a:ext cx="1258570" cy="1776730"/>
          </a:xfrm>
          <a:prstGeom prst="roundRect">
            <a:avLst>
              <a:gd name="adj" fmla="val 1180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656715" y="2826385"/>
            <a:ext cx="2308860" cy="1776730"/>
          </a:xfrm>
          <a:prstGeom prst="roundRect">
            <a:avLst>
              <a:gd name="adj" fmla="val 875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08610" y="4682490"/>
            <a:ext cx="2555240" cy="1776730"/>
          </a:xfrm>
          <a:prstGeom prst="roundRect">
            <a:avLst>
              <a:gd name="adj" fmla="val 10293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7711440" y="4699000"/>
            <a:ext cx="4159250" cy="1754505"/>
          </a:xfrm>
          <a:prstGeom prst="roundRect">
            <a:avLst>
              <a:gd name="adj" fmla="val 875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2935605" y="4676140"/>
            <a:ext cx="1694180" cy="1776730"/>
          </a:xfrm>
          <a:prstGeom prst="roundRect">
            <a:avLst>
              <a:gd name="adj" fmla="val 1135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701540" y="4696460"/>
            <a:ext cx="1734185" cy="855345"/>
          </a:xfrm>
          <a:prstGeom prst="roundRect">
            <a:avLst>
              <a:gd name="adj" fmla="val 21380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701540" y="5645150"/>
            <a:ext cx="1734185" cy="807720"/>
          </a:xfrm>
          <a:prstGeom prst="roundRect">
            <a:avLst>
              <a:gd name="adj" fmla="val 20843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507480" y="4696460"/>
            <a:ext cx="1132205" cy="1757680"/>
          </a:xfrm>
          <a:prstGeom prst="roundRect">
            <a:avLst>
              <a:gd name="adj" fmla="val 16096"/>
            </a:avLst>
          </a:prstGeom>
          <a:solidFill>
            <a:srgbClr val="FDE1D8">
              <a:alpha val="8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175760" y="2370455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rgbClr val="FBDBD5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 Bold" panose="00000800000000000000" charset="-122"/>
                <a:ea typeface="MiSans Bold" panose="00000800000000000000" charset="-122"/>
              </a:rPr>
              <a:t>电感检测</a:t>
            </a:r>
            <a:endParaRPr lang="zh-CN" altLang="en-US" sz="7200" b="1">
              <a:solidFill>
                <a:srgbClr val="FBDBD5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12" name="图片 111" descr="44cec8502351bcaf4f2dd7ad764604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45" y="2686685"/>
            <a:ext cx="2592705" cy="2063115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3" name="图片 112" descr="621500029f90ae05b685686c2653e6d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751840"/>
            <a:ext cx="1502410" cy="1502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0" stA="52000" endA="300" endPos="35000" dir="5400000" sy="-100000" algn="bl" rotWithShape="0"/>
          </a:effectLst>
        </p:spPr>
      </p:pic>
      <p:sp>
        <p:nvSpPr>
          <p:cNvPr id="114" name="矩形 113"/>
          <p:cNvSpPr/>
          <p:nvPr>
            <p:custDataLst>
              <p:tags r:id="rId4"/>
            </p:custDataLst>
          </p:nvPr>
        </p:nvSpPr>
        <p:spPr>
          <a:xfrm>
            <a:off x="840105" y="2254250"/>
            <a:ext cx="97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LDC1614</a:t>
            </a:r>
            <a:endParaRPr lang="en-US" altLang="zh-CN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75" y="4749800"/>
            <a:ext cx="2115820" cy="1410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0" stA="52000" endA="300" endPos="24000" dir="5400000" sy="-100000" algn="bl" rotWithShape="0"/>
          </a:effectLst>
        </p:spPr>
      </p:pic>
      <p:sp>
        <p:nvSpPr>
          <p:cNvPr id="116" name="矩形 115"/>
          <p:cNvSpPr/>
          <p:nvPr>
            <p:custDataLst>
              <p:tags r:id="rId6"/>
            </p:custDataLst>
          </p:nvPr>
        </p:nvSpPr>
        <p:spPr>
          <a:xfrm>
            <a:off x="1012190" y="6084570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STM32F103</a:t>
            </a:r>
            <a:endParaRPr lang="en-US" altLang="zh-CN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55890" y="5253990"/>
            <a:ext cx="4323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>
                <a:gradFill>
                  <a:gsLst>
                    <a:gs pos="0">
                      <a:srgbClr val="141E30"/>
                    </a:gs>
                    <a:gs pos="100000">
                      <a:srgbClr val="243B55"/>
                    </a:gs>
                  </a:gsLst>
                  <a:lin ang="0" scaled="0"/>
                </a:gradFill>
                <a:latin typeface="MiSans Bold" panose="00000800000000000000" charset="-122"/>
                <a:ea typeface="MiSans Bold" panose="00000800000000000000" charset="-122"/>
              </a:rPr>
              <a:t>LCD</a:t>
            </a:r>
            <a:r>
              <a:rPr lang="zh-CN" altLang="en-US" sz="3600">
                <a:gradFill>
                  <a:gsLst>
                    <a:gs pos="0">
                      <a:srgbClr val="141E30"/>
                    </a:gs>
                    <a:gs pos="100000">
                      <a:srgbClr val="243B55"/>
                    </a:gs>
                  </a:gsLst>
                  <a:lin ang="0" scaled="0"/>
                </a:gradFill>
                <a:latin typeface="MiSans Bold" panose="00000800000000000000" charset="-122"/>
                <a:ea typeface="MiSans Bold" panose="00000800000000000000" charset="-122"/>
              </a:rPr>
              <a:t>屏幕</a:t>
            </a:r>
            <a:r>
              <a:rPr lang="en-US" altLang="zh-CN" sz="3600">
                <a:gradFill>
                  <a:gsLst>
                    <a:gs pos="0">
                      <a:srgbClr val="141E30"/>
                    </a:gs>
                    <a:gs pos="100000">
                      <a:srgbClr val="243B55"/>
                    </a:gs>
                  </a:gsLst>
                  <a:lin ang="0" scaled="0"/>
                </a:gradFill>
                <a:latin typeface="MiSans Bold" panose="00000800000000000000" charset="-122"/>
                <a:ea typeface="MiSans Bold" panose="00000800000000000000" charset="-122"/>
              </a:rPr>
              <a:t>  </a:t>
            </a:r>
            <a:r>
              <a:rPr lang="zh-CN" altLang="en-US" sz="3600">
                <a:gradFill>
                  <a:gsLst>
                    <a:gs pos="0">
                      <a:srgbClr val="141E30"/>
                    </a:gs>
                    <a:gs pos="100000">
                      <a:srgbClr val="243B55"/>
                    </a:gs>
                  </a:gsLst>
                  <a:lin ang="0" scaled="0"/>
                </a:gradFill>
                <a:latin typeface="MiSans Bold" panose="00000800000000000000" charset="-122"/>
                <a:ea typeface="MiSans Bold" panose="00000800000000000000" charset="-122"/>
              </a:rPr>
              <a:t>多彩</a:t>
            </a:r>
            <a:r>
              <a:rPr lang="zh-CN" altLang="en-US" sz="3600">
                <a:gradFill>
                  <a:gsLst>
                    <a:gs pos="0">
                      <a:srgbClr val="141E30"/>
                    </a:gs>
                    <a:gs pos="100000">
                      <a:srgbClr val="243B55"/>
                    </a:gs>
                  </a:gsLst>
                  <a:lin ang="0" scaled="0"/>
                </a:gradFill>
                <a:latin typeface="MiSans Bold" panose="00000800000000000000" charset="-122"/>
                <a:ea typeface="MiSans Bold" panose="00000800000000000000" charset="-122"/>
              </a:rPr>
              <a:t>显示</a:t>
            </a:r>
            <a:endParaRPr lang="zh-CN" altLang="en-US" sz="3600">
              <a:gradFill>
                <a:gsLst>
                  <a:gs pos="0">
                    <a:srgbClr val="141E30"/>
                  </a:gs>
                  <a:gs pos="100000">
                    <a:srgbClr val="243B55"/>
                  </a:gs>
                </a:gsLst>
                <a:lin ang="0" scaled="0"/>
              </a:gra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7">
            <a:alphaModFix amt="76000"/>
          </a:blip>
          <a:srcRect t="26880" b="20160"/>
          <a:stretch>
            <a:fillRect/>
          </a:stretch>
        </p:blipFill>
        <p:spPr>
          <a:xfrm>
            <a:off x="8644890" y="4859655"/>
            <a:ext cx="2456815" cy="13011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1000" dir="5400000" sy="-100000" algn="bl" rotWithShape="0"/>
          </a:effectLst>
        </p:spPr>
      </p:pic>
      <p:pic>
        <p:nvPicPr>
          <p:cNvPr id="120" name="图片 119" descr="E:/用户/download/电子电路PPT/hUOsw2gjFYdDQy3F5iWAbQ.jpghUOsw2gjFYdDQy3F5iWAbQ"/>
          <p:cNvPicPr>
            <a:picLocks noChangeAspect="1"/>
          </p:cNvPicPr>
          <p:nvPr/>
        </p:nvPicPr>
        <p:blipFill>
          <a:blip r:embed="rId8"/>
          <a:srcRect l="16251" r="16251" b="14644"/>
          <a:stretch>
            <a:fillRect/>
          </a:stretch>
        </p:blipFill>
        <p:spPr>
          <a:xfrm>
            <a:off x="8260080" y="539750"/>
            <a:ext cx="1094740" cy="1384300"/>
          </a:xfrm>
          <a:custGeom>
            <a:avLst/>
            <a:gdLst>
              <a:gd name="connsiteX0" fmla="*/ 0 w 2947032"/>
              <a:gd name="connsiteY0" fmla="*/ 0 h 4365179"/>
              <a:gd name="connsiteX1" fmla="*/ 2947032 w 2947032"/>
              <a:gd name="connsiteY1" fmla="*/ 0 h 4365179"/>
              <a:gd name="connsiteX2" fmla="*/ 2947032 w 2947032"/>
              <a:gd name="connsiteY2" fmla="*/ 4365179 h 4365179"/>
              <a:gd name="connsiteX3" fmla="*/ 0 w 2947032"/>
              <a:gd name="connsiteY3" fmla="*/ 4365179 h 436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032" h="4365179">
                <a:moveTo>
                  <a:pt x="0" y="0"/>
                </a:moveTo>
                <a:lnTo>
                  <a:pt x="2947032" y="0"/>
                </a:lnTo>
                <a:lnTo>
                  <a:pt x="2947032" y="4365179"/>
                </a:lnTo>
                <a:lnTo>
                  <a:pt x="0" y="4365179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23000" dir="5400000" sy="-100000" algn="bl" rotWithShape="0"/>
          </a:effectLst>
        </p:spPr>
      </p:pic>
      <p:sp>
        <p:nvSpPr>
          <p:cNvPr id="121" name="文本框 120"/>
          <p:cNvSpPr txBox="1"/>
          <p:nvPr/>
        </p:nvSpPr>
        <p:spPr>
          <a:xfrm>
            <a:off x="7478395" y="1172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gradFill>
                  <a:gsLst>
                    <a:gs pos="0">
                      <a:srgbClr val="0F2027"/>
                    </a:gs>
                    <a:gs pos="50000">
                      <a:srgbClr val="203A43"/>
                    </a:gs>
                    <a:gs pos="100000">
                      <a:srgbClr val="2C5364"/>
                    </a:gs>
                  </a:gsLst>
                  <a:lin ang="16200000" scaled="0"/>
                </a:gradFill>
                <a:latin typeface="MiSans Bold" panose="00000800000000000000" charset="-122"/>
                <a:ea typeface="MiSans Bold" panose="00000800000000000000" charset="-122"/>
              </a:rPr>
              <a:t>螺</a:t>
            </a:r>
            <a:r>
              <a:rPr lang="zh-CN" altLang="en-US">
                <a:gradFill>
                  <a:gsLst>
                    <a:gs pos="0">
                      <a:srgbClr val="0F2027"/>
                    </a:gs>
                    <a:gs pos="50000">
                      <a:srgbClr val="203A43"/>
                    </a:gs>
                    <a:gs pos="100000">
                      <a:srgbClr val="2C5364"/>
                    </a:gs>
                  </a:gsLst>
                  <a:lin ang="16200000" scaled="0"/>
                </a:gradFill>
                <a:latin typeface="MiSans Bold" panose="00000800000000000000" charset="-122"/>
                <a:ea typeface="MiSans Bold" panose="00000800000000000000" charset="-122"/>
              </a:rPr>
              <a:t>帽</a:t>
            </a:r>
            <a:endParaRPr lang="zh-CN" altLang="en-US">
              <a:gradFill>
                <a:gsLst>
                  <a:gs pos="0">
                    <a:srgbClr val="0F2027"/>
                  </a:gs>
                  <a:gs pos="50000">
                    <a:srgbClr val="203A43"/>
                  </a:gs>
                  <a:gs pos="100000">
                    <a:srgbClr val="2C5364"/>
                  </a:gs>
                </a:gsLst>
                <a:lin ang="16200000" scaled="0"/>
              </a:gradFill>
              <a:latin typeface="MiSans Bold" panose="00000800000000000000" charset="-122"/>
              <a:ea typeface="MiSans Bold" panose="00000800000000000000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364345" y="1172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gradFill>
                  <a:gsLst>
                    <a:gs pos="0">
                      <a:srgbClr val="0F2027"/>
                    </a:gs>
                    <a:gs pos="50000">
                      <a:srgbClr val="203A43"/>
                    </a:gs>
                    <a:gs pos="100000">
                      <a:srgbClr val="2C5364"/>
                    </a:gs>
                  </a:gsLst>
                  <a:lin ang="16200000" scaled="0"/>
                </a:gradFill>
                <a:latin typeface="MiSans Bold" panose="00000800000000000000" charset="-122"/>
                <a:ea typeface="MiSans Bold" panose="00000800000000000000" charset="-122"/>
              </a:rPr>
              <a:t>检测</a:t>
            </a:r>
            <a:endParaRPr lang="zh-CN" altLang="en-US">
              <a:gradFill>
                <a:gsLst>
                  <a:gs pos="0">
                    <a:srgbClr val="0F2027"/>
                  </a:gs>
                  <a:gs pos="50000">
                    <a:srgbClr val="203A43"/>
                  </a:gs>
                  <a:gs pos="100000">
                    <a:srgbClr val="2C5364"/>
                  </a:gs>
                </a:gsLst>
                <a:lin ang="16200000" scaled="0"/>
              </a:gra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9"/>
          <a:srcRect l="29541" t="14281" r="28800" b="16178"/>
          <a:stretch>
            <a:fillRect/>
          </a:stretch>
        </p:blipFill>
        <p:spPr>
          <a:xfrm>
            <a:off x="10982960" y="2658110"/>
            <a:ext cx="730250" cy="121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4" name="矩形 123"/>
          <p:cNvSpPr/>
          <p:nvPr>
            <p:custDataLst>
              <p:tags r:id="rId10"/>
            </p:custDataLst>
          </p:nvPr>
        </p:nvSpPr>
        <p:spPr>
          <a:xfrm>
            <a:off x="11030585" y="4064000"/>
            <a:ext cx="682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长续航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8135" y="701675"/>
            <a:ext cx="1462405" cy="1089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0" stA="52000" endA="300" endPos="35000" dir="5400000" sy="-100000" algn="bl" rotWithShape="0"/>
          </a:effectLst>
        </p:spPr>
      </p:pic>
      <p:sp>
        <p:nvSpPr>
          <p:cNvPr id="126" name="矩形 125"/>
          <p:cNvSpPr/>
          <p:nvPr>
            <p:custDataLst>
              <p:tags r:id="rId12"/>
            </p:custDataLst>
          </p:nvPr>
        </p:nvSpPr>
        <p:spPr>
          <a:xfrm>
            <a:off x="4483100" y="1750695"/>
            <a:ext cx="75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高精度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13"/>
          <a:srcRect l="18588" t="23799" r="25129" b="35329"/>
          <a:stretch>
            <a:fillRect/>
          </a:stretch>
        </p:blipFill>
        <p:spPr>
          <a:xfrm>
            <a:off x="6662420" y="5408295"/>
            <a:ext cx="822325" cy="5975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0" stA="52000" endA="300" endPos="35000" dir="5400000" sy="-100000" algn="bl" rotWithShape="0"/>
          </a:effectLst>
        </p:spPr>
      </p:pic>
      <p:sp>
        <p:nvSpPr>
          <p:cNvPr id="128" name="矩形 127"/>
          <p:cNvSpPr/>
          <p:nvPr>
            <p:custDataLst>
              <p:tags r:id="rId14"/>
            </p:custDataLst>
          </p:nvPr>
        </p:nvSpPr>
        <p:spPr>
          <a:xfrm>
            <a:off x="6655435" y="4939665"/>
            <a:ext cx="868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高速测量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15"/>
          <a:srcRect l="1013" r="63"/>
          <a:stretch>
            <a:fillRect/>
          </a:stretch>
        </p:blipFill>
        <p:spPr>
          <a:xfrm>
            <a:off x="8484235" y="2331085"/>
            <a:ext cx="1906905" cy="752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0" name="矩形 129"/>
          <p:cNvSpPr/>
          <p:nvPr>
            <p:custDataLst>
              <p:tags r:id="rId16"/>
            </p:custDataLst>
          </p:nvPr>
        </p:nvSpPr>
        <p:spPr>
          <a:xfrm>
            <a:off x="8905240" y="3015615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31" name="矩形 130"/>
          <p:cNvSpPr/>
          <p:nvPr>
            <p:custDataLst>
              <p:tags r:id="rId17"/>
            </p:custDataLst>
          </p:nvPr>
        </p:nvSpPr>
        <p:spPr>
          <a:xfrm>
            <a:off x="8756015" y="3015615"/>
            <a:ext cx="1446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滑动平均滤波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算法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32" name="图片 1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4845" y="2918460"/>
            <a:ext cx="1761490" cy="1283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3" name="矩形 132"/>
          <p:cNvSpPr/>
          <p:nvPr>
            <p:custDataLst>
              <p:tags r:id="rId19"/>
            </p:custDataLst>
          </p:nvPr>
        </p:nvSpPr>
        <p:spPr>
          <a:xfrm>
            <a:off x="2092325" y="4234815"/>
            <a:ext cx="1446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两点校准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法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4701540" y="5789930"/>
            <a:ext cx="1738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4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中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国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 ·  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重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庆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+mn-ea"/>
            </a:endParaRPr>
          </a:p>
          <a:p>
            <a:pPr lvl="0" algn="ctr">
              <a:lnSpc>
                <a:spcPct val="14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2 0 2 5 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年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12 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月</a:t>
            </a: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 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701540" y="4859655"/>
            <a:ext cx="1738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  <a:sym typeface="+mn-ea"/>
              </a:rPr>
              <a:t>电子电路原理课程项目结题汇报答辩</a:t>
            </a:r>
            <a:r>
              <a:rPr lang="en-US" altLang="zh-CN" sz="1000">
                <a:solidFill>
                  <a:schemeClr val="tx1"/>
                </a:solidFill>
                <a:latin typeface="MiSans Normal" panose="00000500000000000000" charset="-122"/>
                <a:ea typeface="MiSans Normal" panose="00000500000000000000" charset="-122"/>
                <a:cs typeface="MiSans Light" panose="00000400000000000000" charset="-122"/>
              </a:rPr>
              <a:t> </a:t>
            </a:r>
            <a:endParaRPr lang="en-US" altLang="zh-CN" sz="1000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cs typeface="MiSans Light" panose="00000400000000000000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42235" y="804545"/>
            <a:ext cx="1122680" cy="1314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50800" stA="32000" endA="300" endPos="34000" dist="203200" dir="5400000" sy="-100000" algn="bl" rotWithShape="0"/>
          </a:effectLst>
        </p:spPr>
      </p:pic>
      <p:sp>
        <p:nvSpPr>
          <p:cNvPr id="137" name="矩形 136"/>
          <p:cNvSpPr/>
          <p:nvPr>
            <p:custDataLst>
              <p:tags r:id="rId21"/>
            </p:custDataLst>
          </p:nvPr>
        </p:nvSpPr>
        <p:spPr>
          <a:xfrm>
            <a:off x="2720975" y="2254250"/>
            <a:ext cx="97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可视化</a:t>
            </a: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UI</a:t>
            </a:r>
            <a:endParaRPr lang="en-US" altLang="zh-CN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60395" y="4911090"/>
            <a:ext cx="1243965" cy="1094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39" name="矩形 138"/>
          <p:cNvSpPr/>
          <p:nvPr>
            <p:custDataLst>
              <p:tags r:id="rId23"/>
            </p:custDataLst>
          </p:nvPr>
        </p:nvSpPr>
        <p:spPr>
          <a:xfrm>
            <a:off x="3294380" y="6084570"/>
            <a:ext cx="97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多模式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切换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10375900" y="770890"/>
            <a:ext cx="86042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sz="700">
                <a:solidFill>
                  <a:schemeClr val="tx1"/>
                </a:solidFill>
                <a:latin typeface="MiSans Light" panose="00000400000000000000" charset="-122"/>
                <a:ea typeface="MiSans Light" panose="00000400000000000000" charset="-122"/>
                <a:cs typeface="MiSans Light" panose="00000400000000000000" charset="-122"/>
              </a:rPr>
              <a:t>Designed by :</a:t>
            </a:r>
            <a:endParaRPr lang="en-US" sz="700">
              <a:solidFill>
                <a:schemeClr val="tx1"/>
              </a:solidFill>
              <a:latin typeface="MiSans Light" panose="00000400000000000000" charset="-122"/>
              <a:ea typeface="MiSans Light" panose="00000400000000000000" charset="-122"/>
              <a:cs typeface="MiSans Light" panose="00000400000000000000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0375583" y="1172845"/>
            <a:ext cx="1431925" cy="6756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iSans Heavy" panose="00000A00000000000000" charset="-122"/>
                <a:ea typeface="MiSans Heavy" panose="00000A00000000000000" charset="-122"/>
              </a:rPr>
              <a:t>学行班</a:t>
            </a:r>
            <a:endParaRPr lang="zh-CN" altLang="en-US" sz="2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MiSans Heavy" panose="00000A00000000000000" charset="-122"/>
              <a:ea typeface="MiSans Heavy" panose="00000A00000000000000" charset="-122"/>
            </a:endParaRPr>
          </a:p>
          <a:p>
            <a:pPr algn="ctr"/>
            <a:r>
              <a:rPr lang="zh-CN" altLang="en-US" sz="14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iSans Heavy" panose="00000A00000000000000" charset="-122"/>
                <a:ea typeface="MiSans Heavy" panose="00000A00000000000000" charset="-122"/>
              </a:rPr>
              <a:t>电子电路第三组</a:t>
            </a:r>
            <a:endParaRPr lang="zh-CN" altLang="en-US" sz="1400" b="1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MiSans Heavy" panose="00000A00000000000000" charset="-122"/>
              <a:ea typeface="MiSans Heavy" panose="00000A00000000000000" charset="-122"/>
            </a:endParaRPr>
          </a:p>
        </p:txBody>
      </p:sp>
      <p:pic>
        <p:nvPicPr>
          <p:cNvPr id="142" name="图片 141" descr="837f424b1d4befbb079d8158533e85a2"/>
          <p:cNvPicPr>
            <a:picLocks noChangeAspect="1"/>
          </p:cNvPicPr>
          <p:nvPr/>
        </p:nvPicPr>
        <p:blipFill>
          <a:blip r:embed="rId24"/>
          <a:srcRect l="57237" t="48124" r="761"/>
          <a:stretch>
            <a:fillRect/>
          </a:stretch>
        </p:blipFill>
        <p:spPr>
          <a:xfrm>
            <a:off x="5866130" y="850900"/>
            <a:ext cx="1355090" cy="899795"/>
          </a:xfrm>
          <a:prstGeom prst="rect">
            <a:avLst/>
          </a:prstGeom>
        </p:spPr>
      </p:pic>
      <p:sp>
        <p:nvSpPr>
          <p:cNvPr id="143" name="矩形 142"/>
          <p:cNvSpPr/>
          <p:nvPr>
            <p:custDataLst>
              <p:tags r:id="rId25"/>
            </p:custDataLst>
          </p:nvPr>
        </p:nvSpPr>
        <p:spPr>
          <a:xfrm>
            <a:off x="6015355" y="1750695"/>
            <a:ext cx="1056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3D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打印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外壳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44" name="图片 143" descr="unnamed (1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93730" y="118110"/>
            <a:ext cx="1214120" cy="351155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5620" y="2926715"/>
            <a:ext cx="971550" cy="12750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24000" dir="5400000" sy="-100000" algn="bl" rotWithShape="0"/>
          </a:effectLst>
        </p:spPr>
      </p:pic>
      <p:sp>
        <p:nvSpPr>
          <p:cNvPr id="146" name="矩形 145"/>
          <p:cNvSpPr/>
          <p:nvPr>
            <p:custDataLst>
              <p:tags r:id="rId28"/>
            </p:custDataLst>
          </p:nvPr>
        </p:nvSpPr>
        <p:spPr>
          <a:xfrm>
            <a:off x="576580" y="4201795"/>
            <a:ext cx="815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测量</a:t>
            </a:r>
            <a:r>
              <a:rPr lang="zh-CN" altLang="en-US" sz="1200" b="1" dirty="0">
                <a:solidFill>
                  <a:schemeClr val="bg2">
                    <a:lumMod val="50000"/>
                  </a:schemeClr>
                </a:solidFill>
                <a:latin typeface="MiSans Medium" panose="00000600000000000000" charset="-122"/>
                <a:ea typeface="MiSans Medium" panose="00000600000000000000" charset="-122"/>
              </a:rPr>
              <a:t>线圈</a:t>
            </a:r>
            <a:endParaRPr lang="zh-CN" altLang="en-US" sz="1200" b="1" dirty="0">
              <a:solidFill>
                <a:schemeClr val="bg2">
                  <a:lumMod val="50000"/>
                </a:schemeClr>
              </a:solidFill>
              <a:latin typeface="MiSans Medium" panose="00000600000000000000" charset="-122"/>
              <a:ea typeface="MiSans Medium" panose="00000600000000000000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29"/>
          <a:srcRect t="27587" b="21419"/>
          <a:stretch>
            <a:fillRect/>
          </a:stretch>
        </p:blipFill>
        <p:spPr>
          <a:xfrm>
            <a:off x="8016240" y="3476625"/>
            <a:ext cx="1852930" cy="9448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48" name="文本框 147"/>
          <p:cNvSpPr txBox="1"/>
          <p:nvPr>
            <p:custDataLst>
              <p:tags r:id="rId30"/>
            </p:custDataLst>
          </p:nvPr>
        </p:nvSpPr>
        <p:spPr>
          <a:xfrm>
            <a:off x="9737725" y="3796030"/>
            <a:ext cx="10560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tx2"/>
                </a:solidFill>
                <a:latin typeface="MiSans Bold" panose="00000800000000000000" charset="-122"/>
                <a:ea typeface="MiSans Bold" panose="00000800000000000000" charset="-122"/>
              </a:rPr>
              <a:t>多种</a:t>
            </a:r>
            <a:r>
              <a:rPr lang="zh-CN" altLang="en-US" sz="1000">
                <a:solidFill>
                  <a:schemeClr val="tx2"/>
                </a:solidFill>
                <a:latin typeface="MiSans Bold" panose="00000800000000000000" charset="-122"/>
                <a:ea typeface="MiSans Bold" panose="00000800000000000000" charset="-122"/>
              </a:rPr>
              <a:t>螺帽</a:t>
            </a:r>
            <a:endParaRPr lang="zh-CN" altLang="en-US" sz="1000">
              <a:solidFill>
                <a:schemeClr val="tx2"/>
              </a:solidFill>
              <a:latin typeface="MiSans Bold" panose="00000800000000000000" charset="-122"/>
              <a:ea typeface="MiSans Bold" panose="000008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tx2"/>
                </a:solidFill>
                <a:latin typeface="MiSans Bold" panose="00000800000000000000" charset="-122"/>
                <a:ea typeface="MiSans Bold" panose="00000800000000000000" charset="-122"/>
              </a:rPr>
              <a:t>无障碍</a:t>
            </a:r>
            <a:r>
              <a:rPr lang="zh-CN" altLang="en-US" sz="1000">
                <a:solidFill>
                  <a:schemeClr val="tx2"/>
                </a:solidFill>
                <a:latin typeface="MiSans Bold" panose="00000800000000000000" charset="-122"/>
                <a:ea typeface="MiSans Bold" panose="00000800000000000000" charset="-122"/>
              </a:rPr>
              <a:t>测量</a:t>
            </a:r>
            <a:endParaRPr lang="zh-CN" altLang="en-US" sz="1000">
              <a:solidFill>
                <a:schemeClr val="tx2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710682" y="1290205"/>
            <a:ext cx="8770636" cy="426042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951140" y="1430471"/>
            <a:ext cx="453923" cy="241167"/>
            <a:chOff x="-14468885" y="-125990"/>
            <a:chExt cx="924334" cy="468890"/>
          </a:xfrm>
        </p:grpSpPr>
        <p:sp>
          <p:nvSpPr>
            <p:cNvPr id="14" name="燕尾形 13"/>
            <p:cNvSpPr/>
            <p:nvPr/>
          </p:nvSpPr>
          <p:spPr>
            <a:xfrm>
              <a:off x="-14468885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-14187898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-13906911" y="-125990"/>
              <a:ext cx="362360" cy="468890"/>
            </a:xfrm>
            <a:prstGeom prst="chevron">
              <a:avLst>
                <a:gd name="adj" fmla="val 71166"/>
              </a:avLst>
            </a:prstGeom>
            <a:solidFill>
              <a:srgbClr val="F8BC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10201319" y="3870120"/>
            <a:ext cx="559997" cy="1617612"/>
          </a:xfrm>
          <a:prstGeom prst="rect">
            <a:avLst/>
          </a:prstGeom>
          <a:solidFill>
            <a:srgbClr val="FCD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245735" y="3954220"/>
            <a:ext cx="461665" cy="14727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SUMMARY</a:t>
            </a:r>
            <a:endParaRPr lang="zh-CN" altLang="en-US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75877" y="2216420"/>
            <a:ext cx="7043733" cy="1166172"/>
            <a:chOff x="2562229" y="2284660"/>
            <a:chExt cx="7043733" cy="1166172"/>
          </a:xfrm>
        </p:grpSpPr>
        <p:sp>
          <p:nvSpPr>
            <p:cNvPr id="2" name="文本框 1"/>
            <p:cNvSpPr txBox="1"/>
            <p:nvPr/>
          </p:nvSpPr>
          <p:spPr>
            <a:xfrm>
              <a:off x="2562229" y="2284660"/>
              <a:ext cx="70437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600" b="1" dirty="0">
                  <a:solidFill>
                    <a:srgbClr val="95748D"/>
                  </a:solidFill>
                </a:rPr>
                <a:t>THANKS FOR YOU</a:t>
              </a:r>
              <a:endParaRPr lang="zh-CN" altLang="en-US" sz="6600" b="1" dirty="0">
                <a:solidFill>
                  <a:srgbClr val="95748D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62229" y="2342836"/>
              <a:ext cx="70437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600" b="1" dirty="0">
                  <a:solidFill>
                    <a:srgbClr val="FBD5DE"/>
                  </a:solidFill>
                </a:rPr>
                <a:t>THANKS FOR YOU</a:t>
              </a:r>
              <a:endParaRPr lang="zh-CN" altLang="en-US" sz="6600" b="1" dirty="0">
                <a:solidFill>
                  <a:srgbClr val="FBD5DE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267296" y="1486919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技术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路线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1335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改进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方向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10" name="直接连接符 9"/>
          <p:cNvCxnSpPr>
            <a:stCxn id="9" idx="1"/>
            <a:endCxn id="9" idx="1"/>
          </p:cNvCxnSpPr>
          <p:nvPr/>
        </p:nvCxnSpPr>
        <p:spPr>
          <a:xfrm>
            <a:off x="9071335" y="162027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73906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496207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设计</a:t>
            </a:r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目标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8373806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35064" y="1489465"/>
            <a:ext cx="9859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项目背景</a:t>
            </a:r>
            <a:endParaRPr lang="zh-CN" altLang="en-US" sz="11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612663" y="1536199"/>
            <a:ext cx="0" cy="144000"/>
          </a:xfrm>
          <a:prstGeom prst="line">
            <a:avLst/>
          </a:prstGeom>
          <a:ln w="12700">
            <a:solidFill>
              <a:srgbClr val="957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405380" y="3767455"/>
            <a:ext cx="7200900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Intelligent detection device based on inductance for detecting the conformity of workpieces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76529" y="3341856"/>
            <a:ext cx="68586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</a:rPr>
              <a:t>电子电路原理课程项目结题汇报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汉仪粗圆简" panose="02010600000101010101" charset="-122"/>
                <a:ea typeface="汉仪粗圆简" panose="02010600000101010101" charset="-122"/>
              </a:rPr>
              <a:t>答辩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汉仪粗圆简" panose="02010600000101010101" charset="-122"/>
              <a:ea typeface="汉仪粗圆简" panose="0201060000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25620" y="5102860"/>
            <a:ext cx="359791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95748D"/>
                </a:solidFill>
                <a:latin typeface="华康俪圆 W8" panose="020F0809000000000000" charset="-122"/>
                <a:ea typeface="华康俪圆 W8" panose="020F0809000000000000" charset="-122"/>
              </a:rPr>
              <a:t>小组成员：胡荣杰、唐丽莎、张润涵、石周鹭、</a:t>
            </a:r>
            <a:r>
              <a:rPr lang="zh-CN" altLang="en-US" sz="1100" dirty="0">
                <a:solidFill>
                  <a:srgbClr val="95748D"/>
                </a:solidFill>
                <a:latin typeface="华康俪圆 W8" panose="020F0809000000000000" charset="-122"/>
                <a:ea typeface="华康俪圆 W8" panose="020F0809000000000000" charset="-122"/>
              </a:rPr>
              <a:t>董佳慧</a:t>
            </a:r>
            <a:endParaRPr lang="zh-CN" altLang="en-US" sz="1100" dirty="0">
              <a:solidFill>
                <a:srgbClr val="95748D"/>
              </a:solidFill>
              <a:latin typeface="华康俪圆 W8" panose="020F0809000000000000" charset="-122"/>
              <a:ea typeface="华康俪圆 W8" panose="020F0809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5" t="87722" r="19900" b="8454"/>
          <a:stretch>
            <a:fillRect/>
          </a:stretch>
        </p:blipFill>
        <p:spPr>
          <a:xfrm>
            <a:off x="6551035" y="4458063"/>
            <a:ext cx="1023528" cy="285750"/>
          </a:xfrm>
          <a:custGeom>
            <a:avLst/>
            <a:gdLst>
              <a:gd name="connsiteX0" fmla="*/ 119063 w 1023528"/>
              <a:gd name="connsiteY0" fmla="*/ 0 h 285750"/>
              <a:gd name="connsiteX1" fmla="*/ 904465 w 1023528"/>
              <a:gd name="connsiteY1" fmla="*/ 0 h 285750"/>
              <a:gd name="connsiteX2" fmla="*/ 1023528 w 1023528"/>
              <a:gd name="connsiteY2" fmla="*/ 119063 h 285750"/>
              <a:gd name="connsiteX3" fmla="*/ 1023528 w 1023528"/>
              <a:gd name="connsiteY3" fmla="*/ 166687 h 285750"/>
              <a:gd name="connsiteX4" fmla="*/ 904465 w 1023528"/>
              <a:gd name="connsiteY4" fmla="*/ 285750 h 285750"/>
              <a:gd name="connsiteX5" fmla="*/ 119063 w 1023528"/>
              <a:gd name="connsiteY5" fmla="*/ 285750 h 285750"/>
              <a:gd name="connsiteX6" fmla="*/ 0 w 1023528"/>
              <a:gd name="connsiteY6" fmla="*/ 166687 h 285750"/>
              <a:gd name="connsiteX7" fmla="*/ 0 w 1023528"/>
              <a:gd name="connsiteY7" fmla="*/ 119063 h 285750"/>
              <a:gd name="connsiteX8" fmla="*/ 119063 w 1023528"/>
              <a:gd name="connsiteY8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528" h="285750">
                <a:moveTo>
                  <a:pt x="119063" y="0"/>
                </a:moveTo>
                <a:lnTo>
                  <a:pt x="904465" y="0"/>
                </a:lnTo>
                <a:cubicBezTo>
                  <a:pt x="970222" y="0"/>
                  <a:pt x="1023528" y="53306"/>
                  <a:pt x="1023528" y="119063"/>
                </a:cubicBezTo>
                <a:lnTo>
                  <a:pt x="1023528" y="166687"/>
                </a:lnTo>
                <a:cubicBezTo>
                  <a:pt x="1023528" y="232444"/>
                  <a:pt x="970222" y="285750"/>
                  <a:pt x="904465" y="285750"/>
                </a:cubicBezTo>
                <a:lnTo>
                  <a:pt x="119063" y="285750"/>
                </a:lnTo>
                <a:cubicBezTo>
                  <a:pt x="53306" y="285750"/>
                  <a:pt x="0" y="232444"/>
                  <a:pt x="0" y="166687"/>
                </a:cubicBez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文本框 34"/>
          <p:cNvSpPr txBox="1"/>
          <p:nvPr/>
        </p:nvSpPr>
        <p:spPr>
          <a:xfrm>
            <a:off x="6551035" y="4480058"/>
            <a:ext cx="98598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2025.12</a:t>
            </a:r>
            <a:endParaRPr lang="en-US" altLang="zh-CN" sz="105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5" t="87722" r="19900" b="8454"/>
          <a:stretch>
            <a:fillRect/>
          </a:stretch>
        </p:blipFill>
        <p:spPr>
          <a:xfrm>
            <a:off x="4678035" y="4458063"/>
            <a:ext cx="1023528" cy="285750"/>
          </a:xfrm>
          <a:custGeom>
            <a:avLst/>
            <a:gdLst>
              <a:gd name="connsiteX0" fmla="*/ 119063 w 1023528"/>
              <a:gd name="connsiteY0" fmla="*/ 0 h 285750"/>
              <a:gd name="connsiteX1" fmla="*/ 904465 w 1023528"/>
              <a:gd name="connsiteY1" fmla="*/ 0 h 285750"/>
              <a:gd name="connsiteX2" fmla="*/ 1023528 w 1023528"/>
              <a:gd name="connsiteY2" fmla="*/ 119063 h 285750"/>
              <a:gd name="connsiteX3" fmla="*/ 1023528 w 1023528"/>
              <a:gd name="connsiteY3" fmla="*/ 166687 h 285750"/>
              <a:gd name="connsiteX4" fmla="*/ 904465 w 1023528"/>
              <a:gd name="connsiteY4" fmla="*/ 285750 h 285750"/>
              <a:gd name="connsiteX5" fmla="*/ 119063 w 1023528"/>
              <a:gd name="connsiteY5" fmla="*/ 285750 h 285750"/>
              <a:gd name="connsiteX6" fmla="*/ 0 w 1023528"/>
              <a:gd name="connsiteY6" fmla="*/ 166687 h 285750"/>
              <a:gd name="connsiteX7" fmla="*/ 0 w 1023528"/>
              <a:gd name="connsiteY7" fmla="*/ 119063 h 285750"/>
              <a:gd name="connsiteX8" fmla="*/ 119063 w 1023528"/>
              <a:gd name="connsiteY8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3528" h="285750">
                <a:moveTo>
                  <a:pt x="119063" y="0"/>
                </a:moveTo>
                <a:lnTo>
                  <a:pt x="904465" y="0"/>
                </a:lnTo>
                <a:cubicBezTo>
                  <a:pt x="970222" y="0"/>
                  <a:pt x="1023528" y="53306"/>
                  <a:pt x="1023528" y="119063"/>
                </a:cubicBezTo>
                <a:lnTo>
                  <a:pt x="1023528" y="166687"/>
                </a:lnTo>
                <a:cubicBezTo>
                  <a:pt x="1023528" y="232444"/>
                  <a:pt x="970222" y="285750"/>
                  <a:pt x="904465" y="285750"/>
                </a:cubicBezTo>
                <a:lnTo>
                  <a:pt x="119063" y="285750"/>
                </a:lnTo>
                <a:cubicBezTo>
                  <a:pt x="53306" y="285750"/>
                  <a:pt x="0" y="232444"/>
                  <a:pt x="0" y="166687"/>
                </a:cubicBez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文本框 37"/>
          <p:cNvSpPr txBox="1"/>
          <p:nvPr/>
        </p:nvSpPr>
        <p:spPr>
          <a:xfrm>
            <a:off x="4715500" y="4488948"/>
            <a:ext cx="9859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solidFill>
                  <a:srgbClr val="95748D"/>
                </a:solidFill>
                <a:latin typeface="幼圆" panose="02010509060101010101" charset="-122"/>
                <a:ea typeface="幼圆" panose="02010509060101010101" charset="-122"/>
              </a:rPr>
              <a:t>汇报组：第三组</a:t>
            </a:r>
            <a:endParaRPr lang="zh-CN" altLang="en-US" sz="800" b="1" dirty="0">
              <a:solidFill>
                <a:srgbClr val="95748D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3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4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5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6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7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8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9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0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1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2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3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4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5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6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7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8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19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0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1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2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3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4.xml><?xml version="1.0" encoding="utf-8"?>
<p:tagLst xmlns:p="http://schemas.openxmlformats.org/presentationml/2006/main">
  <p:tag name="KSO_WM_DIAGRAM_VIRTUALLY_FRAME" val="{&quot;height&quot;:227.74622047244088,&quot;left&quot;:198.2412598425197,&quot;top&quot;:205.96795275590551,&quot;width&quot;:559.9050393700788}"/>
</p:tagLst>
</file>

<file path=ppt/tags/tag25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26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27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28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29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0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1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2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3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4.xml><?xml version="1.0" encoding="utf-8"?>
<p:tagLst xmlns:p="http://schemas.openxmlformats.org/presentationml/2006/main">
  <p:tag name="KSO_WM_DIAGRAM_VIRTUALLY_FRAME" val="{&quot;height&quot;:230.09377952755904,&quot;left&quot;:58.244803149606284,&quot;top&quot;:147.62669291338582,&quot;width&quot;:591.3877165354331}"/>
</p:tagLst>
</file>

<file path=ppt/tags/tag35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6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7.xml><?xml version="1.0" encoding="utf-8"?>
<p:tagLst xmlns:p="http://schemas.openxmlformats.org/presentationml/2006/main">
  <p:tag name="KSO_WM_DIAGRAM_VIRTUALLY_FRAME" val="{&quot;height&quot;:230.09377952755904,&quot;left&quot;:58.244803149606284,&quot;top&quot;:147.62669291338582,&quot;width&quot;:591.3877165354331}"/>
</p:tagLst>
</file>

<file path=ppt/tags/tag38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39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40.xml><?xml version="1.0" encoding="utf-8"?>
<p:tagLst xmlns:p="http://schemas.openxmlformats.org/presentationml/2006/main">
  <p:tag name="KSO_WM_DIAGRAM_VIRTUALLY_FRAME" val="{&quot;height&quot;:230.09377952755904,&quot;left&quot;:58.244803149606284,&quot;top&quot;:147.62669291338582,&quot;width&quot;:591.3877165354331}"/>
</p:tagLst>
</file>

<file path=ppt/tags/tag41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42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43.xml><?xml version="1.0" encoding="utf-8"?>
<p:tagLst xmlns:p="http://schemas.openxmlformats.org/presentationml/2006/main">
  <p:tag name="KSO_WM_DIAGRAM_VIRTUALLY_FRAME" val="{&quot;height&quot;:230.09377952755904,&quot;left&quot;:58.244803149606284,&quot;top&quot;:147.62669291338582,&quot;width&quot;:591.3877165354331}"/>
</p:tagLst>
</file>

<file path=ppt/tags/tag44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45.xml><?xml version="1.0" encoding="utf-8"?>
<p:tagLst xmlns:p="http://schemas.openxmlformats.org/presentationml/2006/main">
  <p:tag name="KSO_WM_DIAGRAM_VIRTUALLY_FRAME" val="{&quot;height&quot;:234.89377952755905,&quot;left&quot;:58.244803149606284,&quot;top&quot;:142.8266929133858,&quot;width&quot;:591.3877165354331}"/>
</p:tagLst>
</file>

<file path=ppt/tags/tag46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47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48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49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0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1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2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3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4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5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6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7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8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59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0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1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2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3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4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5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6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7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8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69.xml><?xml version="1.0" encoding="utf-8"?>
<p:tagLst xmlns:p="http://schemas.openxmlformats.org/presentationml/2006/main">
  <p:tag name="KSO_WM_DIAGRAM_VIRTUALLY_FRAME" val="{&quot;height&quot;:329.677874015748,&quot;left&quot;:515.5485039370079,&quot;top&quot;:128.3967716535433,&quot;width&quot;:393.7407086614173}"/>
</p:tagLst>
</file>

<file path=ppt/tags/tag70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1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2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3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4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5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6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7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8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79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0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1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2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3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4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5.xml><?xml version="1.0" encoding="utf-8"?>
<p:tagLst xmlns:p="http://schemas.openxmlformats.org/presentationml/2006/main">
  <p:tag name="KSO_WM_DIAGRAM_VIRTUALLY_FRAME" val="{&quot;height&quot;:157.8293700787402,&quot;left&quot;:54.236456692913386,&quot;top&quot;:324.43826771653545,&quot;width&quot;:852.7777952755905}"/>
</p:tagLst>
</file>

<file path=ppt/tags/tag86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87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88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89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0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1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2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3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4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5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6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7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8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99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0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1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2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3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4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5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6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7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8.xml><?xml version="1.0" encoding="utf-8"?>
<p:tagLst xmlns:p="http://schemas.openxmlformats.org/presentationml/2006/main">
  <p:tag name="KSO_WM_DIAGRAM_VIRTUALLY_FRAME" val="{&quot;height&quot;:294.77259842519686,&quot;left&quot;:45.85,&quot;top&quot;:146.083937007874,&quot;width&quot;:870.0149606299212}"/>
</p:tagLst>
</file>

<file path=ppt/tags/tag109.xml><?xml version="1.0" encoding="utf-8"?>
<p:tagLst xmlns:p="http://schemas.openxmlformats.org/presentationml/2006/main">
  <p:tag name="TABLE_ENDDRAG_ORIGIN_RECT" val="683*355"/>
  <p:tag name="TABLE_ENDDRAG_RECT" val="117*87*683*355"/>
</p:tagLst>
</file>

<file path=ppt/tags/tag110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1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2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3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4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5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6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7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8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19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0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1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2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3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4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5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6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7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8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29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0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1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2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3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4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5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6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7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8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39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0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1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2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3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4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5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6.xml><?xml version="1.0" encoding="utf-8"?>
<p:tagLst xmlns:p="http://schemas.openxmlformats.org/presentationml/2006/main">
  <p:tag name="KSO_WM_DIAGRAM_VIRTUALLY_FRAME" val="{&quot;height&quot;:294.77259842519686,&quot;left&quot;:45.85291338582677,&quot;top&quot;:146.083937007874,&quot;width&quot;:870.0120472440943}"/>
</p:tagLst>
</file>

<file path=ppt/tags/tag147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48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49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0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1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2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3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4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5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6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7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8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59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0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1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2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3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4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5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6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167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68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69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0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1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2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3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4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5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6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7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8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79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0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1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2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3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4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5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6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7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8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89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0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1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2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3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4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5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6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7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8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199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0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1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2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3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4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5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6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7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8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09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10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11.xml><?xml version="1.0" encoding="utf-8"?>
<p:tagLst xmlns:p="http://schemas.openxmlformats.org/presentationml/2006/main">
  <p:tag name="KSO_WM_DIAGRAM_VIRTUALLY_FRAME" val="{&quot;height&quot;:315.54968503937,&quot;left&quot;:59.36559055118111,&quot;top&quot;:96.5,&quot;width&quot;:840.0542519685039}"/>
</p:tagLst>
</file>

<file path=ppt/tags/tag212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3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4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5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6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7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8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19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20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21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2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3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4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5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6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7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8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29.xml><?xml version="1.0" encoding="utf-8"?>
<p:tagLst xmlns:p="http://schemas.openxmlformats.org/presentationml/2006/main">
  <p:tag name="KSO_WM_DIAGRAM_VIRTUALLY_FRAME" val="{&quot;height&quot;:505.57637795275593,&quot;left&quot;:54.2418897637795,&quot;top&quot;:102.35251968503933,&quot;width&quot;:422.68692913385837}"/>
</p:tagLst>
</file>

<file path=ppt/tags/tag230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1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2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3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4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5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6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7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8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39.xml><?xml version="1.0" encoding="utf-8"?>
<p:tagLst xmlns:p="http://schemas.openxmlformats.org/presentationml/2006/main">
  <p:tag name="KSO_WM_DIAGRAM_VIRTUALLY_FRAME" val="{&quot;height&quot;:332.9552755905512,&quot;left&quot;:89.40338582677165,&quot;top&quot;:133.70905511811026,&quot;width&quot;:443.16803149606295}"/>
</p:tagLst>
</file>

<file path=ppt/tags/tag240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1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2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3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4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5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6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7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8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49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0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1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2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3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4.xml><?xml version="1.0" encoding="utf-8"?>
<p:tagLst xmlns:p="http://schemas.openxmlformats.org/presentationml/2006/main">
  <p:tag name="KSO_WM_DIAGRAM_VIRTUALLY_FRAME" val="{&quot;height&quot;:378.65,&quot;left&quot;:63.65,&quot;top&quot;:94.35,&quot;width&quot;:692.5}"/>
</p:tagLst>
</file>

<file path=ppt/tags/tag255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56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57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58.xml><?xml version="1.0" encoding="utf-8"?>
<p:tagLst xmlns:p="http://schemas.openxmlformats.org/presentationml/2006/main">
  <p:tag name="KSO_WM_DIAGRAM_VIRTUALLY_FRAME" val="{&quot;height&quot;:416.72637795275585,&quot;left&quot;:54.2418897637795,&quot;top&quot;:82.15251968503935,&quot;width&quot;:422.68692913385837}"/>
</p:tagLst>
</file>

<file path=ppt/tags/tag259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0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1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2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3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4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5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6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7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8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69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0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1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2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3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4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5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6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7.xml><?xml version="1.0" encoding="utf-8"?>
<p:tagLst xmlns:p="http://schemas.openxmlformats.org/presentationml/2006/main">
  <p:tag name="KSO_WM_DIAGRAM_VIRTUALLY_FRAME" val="{&quot;height&quot;:432.1296850393701,&quot;left&quot;:85.17850393700787,&quot;top&quot;:119.86220472440945,&quot;width&quot;:498.6087401574803}"/>
</p:tagLst>
</file>

<file path=ppt/tags/tag278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79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0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1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2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3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4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5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6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7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8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89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90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91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92.xml><?xml version="1.0" encoding="utf-8"?>
<p:tagLst xmlns:p="http://schemas.openxmlformats.org/presentationml/2006/main">
  <p:tag name="KSO_WM_DIAGRAM_VIRTUALLY_FRAME" val="{&quot;height&quot;:383.87637795275566,&quot;left&quot;:-38.1081102362205,&quot;top&quot;:139.05251968503939,&quot;width&quot;:521.0869291338582}"/>
</p:tagLst>
</file>

<file path=ppt/tags/tag293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4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5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6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7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8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299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0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1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2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3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4.xml><?xml version="1.0" encoding="utf-8"?>
<p:tagLst xmlns:p="http://schemas.openxmlformats.org/presentationml/2006/main">
  <p:tag name="KSO_WM_DIAGRAM_VIRTUALLY_FRAME" val="{&quot;height&quot;:383.8763779527557,&quot;left&quot;:-38.1081102362205,&quot;top&quot;:139.05251968503939,&quot;width&quot;:521.0869291338582}"/>
</p:tagLst>
</file>

<file path=ppt/tags/tag305.xml><?xml version="1.0" encoding="utf-8"?>
<p:tagLst xmlns:p="http://schemas.openxmlformats.org/presentationml/2006/main">
  <p:tag name="KSO_WM_DIAGRAM_VIRTUALLY_FRAME" val="{&quot;height&quot;:302,&quot;left&quot;:272.85,&quot;top&quot;:83.95,&quot;width&quot;:148.05}"/>
</p:tagLst>
</file>

<file path=ppt/tags/tag306.xml><?xml version="1.0" encoding="utf-8"?>
<p:tagLst xmlns:p="http://schemas.openxmlformats.org/presentationml/2006/main">
  <p:tag name="resource_record_key" val="{&quot;29&quot;:[50053056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5357</Words>
  <Application>WPS 演示</Application>
  <PresentationFormat>宽屏</PresentationFormat>
  <Paragraphs>659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5" baseType="lpstr">
      <vt:lpstr>Arial</vt:lpstr>
      <vt:lpstr>宋体</vt:lpstr>
      <vt:lpstr>Wingdings</vt:lpstr>
      <vt:lpstr>幼圆</vt:lpstr>
      <vt:lpstr>方正风雅宋简体</vt:lpstr>
      <vt:lpstr>汉仪粗圆简</vt:lpstr>
      <vt:lpstr>华康俪圆 W8</vt:lpstr>
      <vt:lpstr>胡晓波男神体</vt:lpstr>
      <vt:lpstr>汉仪中圆繁</vt:lpstr>
      <vt:lpstr>汉仪细中圆简</vt:lpstr>
      <vt:lpstr>汉仪中圆简</vt:lpstr>
      <vt:lpstr>Calibri</vt:lpstr>
      <vt:lpstr>微软雅黑</vt:lpstr>
      <vt:lpstr>Arial Unicode MS</vt:lpstr>
      <vt:lpstr>Calibri Light</vt:lpstr>
      <vt:lpstr>华文细黑</vt:lpstr>
      <vt:lpstr>思源黑体 CN Normal</vt:lpstr>
      <vt:lpstr>站酷快乐体2016修订版</vt:lpstr>
      <vt:lpstr>站酷小薇LOGO体</vt:lpstr>
      <vt:lpstr>汉仪中隶书简</vt:lpstr>
      <vt:lpstr>黑体</vt:lpstr>
      <vt:lpstr>MiSans Light</vt:lpstr>
      <vt:lpstr>MiSans Bold</vt:lpstr>
      <vt:lpstr>MiSans Normal</vt:lpstr>
      <vt:lpstr>MiSans Medium</vt:lpstr>
      <vt:lpstr>MiSans Heavy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CaiWu1</dc:creator>
  <cp:lastModifiedBy>HooCF</cp:lastModifiedBy>
  <cp:revision>32</cp:revision>
  <dcterms:created xsi:type="dcterms:W3CDTF">2020-08-24T02:01:00Z</dcterms:created>
  <dcterms:modified xsi:type="dcterms:W3CDTF">2025-12-19T14:51:51Z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C2C81BA9F9E647668EF52630B85C3595_11</vt:lpwstr>
  </property>
  <property fmtid="{D5CDD505-2E9C-101B-9397-08002B2CF9AE}" pid="4" name="KSOTemplateUUID">
    <vt:lpwstr>v1.0_mb_AfGAmHBmaJ7NR35HG9Pmtg==</vt:lpwstr>
  </property>
</Properties>
</file>